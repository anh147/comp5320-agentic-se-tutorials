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3" r:id="rId5"/>
    <p:sldMasterId id="2147483666" r:id="rId6"/>
  </p:sldMasterIdLst>
  <p:notesMasterIdLst>
    <p:notesMasterId r:id="rId7"/>
  </p:notesMasterIdLst>
  <p:sldIdLst>
    <p:sldId id="256" r:id="rId8"/>
    <p:sldId id="257" r:id="rId10"/>
    <p:sldId id="258" r:id="rId11"/>
    <p:sldId id="259" r:id="rId12"/>
    <p:sldId id="271" r:id="rId24"/>
    <p:sldId id="272" r:id="rId25"/>
    <p:sldId id="260" r:id="rId13"/>
    <p:sldId id="261" r:id="rId14"/>
    <p:sldId id="262" r:id="rId15"/>
    <p:sldId id="263" r:id="rId16"/>
    <p:sldId id="264" r:id="rId17"/>
    <p:sldId id="273" r:id="rId26"/>
    <p:sldId id="274" r:id="rId27"/>
    <p:sldId id="265" r:id="rId18"/>
    <p:sldId id="266" r:id="rId19"/>
    <p:sldId id="267" r:id="rId20"/>
    <p:sldId id="268" r:id="rId21"/>
    <p:sldId id="275" r:id="rId28"/>
    <p:sldId id="276" r:id="rId29"/>
    <p:sldId id="270"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h567QY8hgT/Hx2NyECEzdmze1+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74D1CA-E156-4543-99DB-21F710DE9C02}">
  <a:tblStyle styleId="{AB74D1CA-E156-4543-99DB-21F710DE9C0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6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notes"/>
          <p:cNvSpPr txBox="1"/>
          <p:nvPr>
            <p:ph idx="1" type="body"/>
          </p:nvPr>
        </p:nvSpPr>
        <p:spPr>
          <a:xfrm>
            <a:off x="1092200" y="3230563"/>
            <a:ext cx="8737600" cy="2643187"/>
          </a:xfrm>
          <a:prstGeom prst="rect">
            <a:avLst/>
          </a:prstGeom>
          <a:noFill/>
          <a:ln>
            <a:noFill/>
          </a:ln>
        </p:spPr>
        <p:txBody>
          <a:bodyPr anchorCtr="0" anchor="t" bIns="45700" lIns="91425" spcFirstLastPara="1" rIns="91425" wrap="square" tIns="45700">
            <a:noAutofit/>
          </a:bodyPr>
          <a:lstStyle/>
          <a:p>
            <a:r>
              <a:t>Hello everyone. Today I will introduce the first three sections of Chapter Two: Requirements Engineering and Specification. I will cover three questions. First, what is requirements engineering? Second, how do we discover what people need? And third, how can we write requirements that are clear enough to build and test? Throughout the presentation, I will use a task management app as a simple example. The main idea is that before building software, we must understand the problem we are solving.</a:t>
            </a:r>
          </a:p>
        </p:txBody>
      </p:sp>
      <p:sp>
        <p:nvSpPr>
          <p:cNvPr id="193" name="Google Shape;193;p1:notes"/>
          <p:cNvSpPr/>
          <p:nvPr>
            <p:ph idx="2" type="sldImg"/>
          </p:nvPr>
        </p:nvSpPr>
        <p:spPr>
          <a:xfrm>
            <a:off x="3449638" y="839788"/>
            <a:ext cx="4022725" cy="22637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Imagine a team spends three months building a beautiful task management app. It has colors, animations, and many features. But the project managers only needed an easy way to assign work and track deadlines. The team built a good-looking product, but not the right product. This is why requirements matter. Requirements help us agree on what to build before we spend time implementing it. Chapter Two begins with a real example: the FBI's Virtual Case File project was cancelled after major changes to its requirements. The lesson is simple. Technical skill alone cannot save a project when its goals keep changing or are poorly defined.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Requirements engineering, or RE, is the process of defining, documenting, and maintaining the requirements of a software system. The chapter describes four main activities. The first is elicitation. We learn what stakeholders need. The second is analysis. We resolve disagreements, decide priorities, and check if an idea is realistic. The third is specification. We write the agreed requirements clearly. Finally, we validate them. We check whether they actually represent stakeholder needs. Notice that these four activities are connected. We do not finish each activity once and never return to it. We often repeat them as we understand the system better.</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It is usually cheaper to correct a misunderstanding during requirements discussions than after the software is released. The chapter cites historical research with illustrative ranges: fixing a defect during requirements might cost one or two units, while finding it during testing or production may cost much more. These numbers are not a prediction for every project. They show the direction of the problem. For example, if we discover today that only managers can assign tasks, we can change one sentence. If we discover it after release, we might need to change the interface, database, permissions, tests, and documentation. Before continuing, I have a quick two-question check on the requirements process.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we move to section two point two: eliciting requirements. Before asking questions, we need to know whom to ask. Stakeholders are not only end users. They also include clients, who pay for the system; domain experts, who understand the work; regulators, who define important rules; and the developers and operators, who build and maintain the software. For our task management app, team members want simple task updates. Managers want visibility into deadlines. The IT team wants a secure, reliable system. These groups may want different things, so good elicitation includes different perspectives.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chapter introduces six useful techniques. Interviews let us ask people questions in depth. Workshops bring groups together to reach a shared understanding. Observation helps us see how people actually work. Personas summarize the goals and frustrations of important user groups. Document analysis uses existing manuals, support tickets, and regulations. Finally, prototyping lets users react to a simple version of the proposed system. We do not need to use every technique in every project. The important point is that one method may miss something that another method can reveal. Let me explain the techniques in a little more detail.</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Interviews are useful when we want to understand one person's experience. An interview can be structured, with fixed questions; semi-structured, with prepared questions and follow-up questions; or unstructured, like an open conversation. A useful question is: What is the most frustrating part of your current process? Workshops are different. They bring several stakeholders into one discussion. For example, a manager may want notifications for every change, while team members may find too many notifications distracting. A workshop helps them agree on a reasonable solution. Interviews uncover perspectives. Workshops help build agreement.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Observation means watching people perform real tasks in their normal environment. This can reveal habits and workarounds that they may forget to mention in an interview. For example, a project manager might copy task deadlines into a spreadsheet because the existing system is difficult to use. We would discover an important need by watching their workflow. After gathering evidence, we can create personas. The chapter gives an example called Jordan, an overwhelmed project manager who handles several projects and often switches between a laptop and a phone. Jordan needs quick task reassignment and fewer unnecessary notifications. A persona represents behavior and goals, not just age or demographics. It should be based on research, not guesses.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more techniques are document analysis and prototyping. In document analysis, we examine existing information, such as user manuals, system specifications, error logs, and support tickets. For example, many complaints about missed deadlines may suggest that reminders are important. Prototyping means showing a rough design before implementing the real system. It could be a paper sketch or a clickable screen. When users see a task assignment screen, they may notice that it takes too many steps. A simple prototype can reveal this problem early, when the design is still easy to change. Let us test which elicitation method we would choose for two real situations.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Section two point three divides requirements into functional and non-functional requirements. Let us start with functional requirements. These describe what the system must do: its actions, features, and behavior. The chapter suggests a clear sentence pattern: The system shall, followed by an action, an object, and any important condition. For our task management app, we can say: The system shall allow authenticated users to create tasks with a title and due date. Another example is: The system shall allow project managers to assign tasks to team members. These sentences describe specific behavior that we can check.</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Non-functional requirements, often shortened to NFRs, describe quality attributes and constraints. A system can have all the right features and still be a bad system. For example, it may be too slow, unreliable, or insecure. The chapter lists important categories such as performance, reliability, security, scalability, usability, maintainability, portability, and compliance. We do not have to memorize every example today. Just remember that functional requirements are about what the system does, while non-functional requirements describe how well the system must operate. Both are important for users to trust and use the software.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one very important lesson from the chapter. A statement like, The system should be fast, is too vague. Fast means different things to different people. Instead, the chapter gives a measurable example: The API shall respond to ninety-five percent of requests within two hundred milliseconds under a load of one thousand concurrent users. An API is a way for software components to communicate. The improved requirement tells us what to measure, the acceptable limit, and the conditions for testing. The exact numbers depend on the project. The principle is that a good quality requirement should be testable.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final concept in our assigned sections is the FURPS plus model. It is a checklist for checking requirements coverage. F stands for Functionality: the features and capabilities. U means Usability: how easy the system is to use. R means Reliability: whether it stays available and recovers from problems. P means Performance: speed and capacity. S means Supportability: how easy it is to test, maintain, and move the system. The plus sign represents additional constraints, such as design, technology, or interfaces. FURPS plus does not replace conversations with stakeholders. It simply helps us remember important areas that we might overlook. To finish this section, we will try two multiple-choice questions.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conclude, I want you to remember three ideas. First, requirements engineering helps us decide what to build before we build it, and its four activities are iterative. Second, we discover real requirements by talking with people, observing their work, and testing our assumptions. Third, we need both functional requirements, which describe what the system does, and non-functional requirements, which describe how well it should work. Clear requirements give developers and AI tools a better foundation for the next steps. That is the end of my part. Thank you for listening.</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us check Section 2.1. Vote with your fingers: 1 = A, 2 = B, 3 = C, 4 = D. Question one: Which activity confirms that written requirements reflect stakeholder needs? Question two: Validation reveals a missing business rule. What should the team do next? Please choose A, B, C, or D. Give the room a few seconds to vote. Do not show the answers yet; go to the next slide to reveal and explain them.</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answers are: Question 1: Validation, option C. Validation checks the documented requirements against what stakeholders actually need. Question 2: Return to elicitation and analysis, option B. The four activities repeat. New gaps call for more discussion, analysis, and an updated specification. Thank the audience for participating. Then continue to the next subsection.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us check Section 2.2. Think first, then compare answers with a neighbor. Question one: Users forget to mention workarounds. What is the best way to discover them? Question two: Two stakeholder groups disagree on priorities. Which method best builds agreement? Please choose A, B, C, or D. Give the room a few seconds to vote. Do not show the answers yet; go to the next slide to reveal and explain them.</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answers are: Question 1: Observation in their workplace, option C. Watching real work reveals tacit habits and workarounds people may not mention in interviews. Question 2: Facilitated requirements workshop, option B. Workshops bring stakeholders together to resolve conflicts and build shared understanding. Thank the audience for participating. Then continue to the next subsection.</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us check Section 2.3. Show your vote, then explain your choice in one sentence. Question one: Which statement is a functional requirement for a task-management app? Question two: Which non-functional requirement is objectively measurable? Please choose A, B, C, or D. Give the room a few seconds to vote. Do not show the answers yet; go to the next slide to reveal and explain them.</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answers are: Question 1: Managers can assign tasks to members, option A. Assigning tasks is a system feature. The other options describe quality attributes or constraints. Question 2: 95% of requests finish within 200 ms at 1,000 concurrent users, option D. A 95th-percentile response time under a specified load can be tested; vague adjectives cannot. Thank the audience for participating. Then continue to the next subsection.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5" name="Shape 15"/>
        <p:cNvGrpSpPr/>
        <p:nvPr/>
      </p:nvGrpSpPr>
      <p:grpSpPr>
        <a:xfrm>
          <a:off x="0" y="0"/>
          <a:ext cx="0" cy="0"/>
          <a:chOff x="0" y="0"/>
          <a:chExt cx="0" cy="0"/>
        </a:xfrm>
      </p:grpSpPr>
      <p:sp>
        <p:nvSpPr>
          <p:cNvPr id="16" name="Google Shape;16;p4"/>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7" name="Google Shape;17;p4"/>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8" name="Google Shape;18;p4"/>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7"/>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
          <p:cNvSpPr txBox="1"/>
          <p:nvPr>
            <p:ph idx="1" type="body"/>
          </p:nvPr>
        </p:nvSpPr>
        <p:spPr>
          <a:xfrm>
            <a:off x="609601" y="1577342"/>
            <a:ext cx="10972800" cy="28302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7"/>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3" name="Google Shape;23;p7"/>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4" name="Google Shape;24;p7"/>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8"/>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
          <p:cNvSpPr txBox="1"/>
          <p:nvPr>
            <p:ph idx="1" type="body"/>
          </p:nvPr>
        </p:nvSpPr>
        <p:spPr>
          <a:xfrm>
            <a:off x="609600" y="1577342"/>
            <a:ext cx="5303520" cy="28302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8"/>
          <p:cNvSpPr txBox="1"/>
          <p:nvPr>
            <p:ph idx="2" type="body"/>
          </p:nvPr>
        </p:nvSpPr>
        <p:spPr>
          <a:xfrm>
            <a:off x="6278880" y="1577342"/>
            <a:ext cx="5303520" cy="28302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8"/>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0" name="Google Shape;30;p8"/>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1" name="Google Shape;31;p8"/>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9"/>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5" name="Google Shape;35;p9"/>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6" name="Google Shape;36;p9"/>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6"/>
          <p:cNvSpPr txBox="1"/>
          <p:nvPr>
            <p:ph type="ctrTitle"/>
          </p:nvPr>
        </p:nvSpPr>
        <p:spPr>
          <a:xfrm>
            <a:off x="1524000" y="1122364"/>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916"/>
              </a:spcBef>
              <a:spcAft>
                <a:spcPts val="0"/>
              </a:spcAft>
              <a:buClr>
                <a:schemeClr val="dk1"/>
              </a:buClr>
              <a:buSzPts val="2197"/>
              <a:buNone/>
              <a:defRPr sz="2197"/>
            </a:lvl1pPr>
            <a:lvl2pPr lvl="1" algn="ctr">
              <a:lnSpc>
                <a:spcPct val="90000"/>
              </a:lnSpc>
              <a:spcBef>
                <a:spcPts val="458"/>
              </a:spcBef>
              <a:spcAft>
                <a:spcPts val="0"/>
              </a:spcAft>
              <a:buClr>
                <a:schemeClr val="dk1"/>
              </a:buClr>
              <a:buSzPts val="1831"/>
              <a:buNone/>
              <a:defRPr sz="1831"/>
            </a:lvl2pPr>
            <a:lvl3pPr lvl="2" algn="ctr">
              <a:lnSpc>
                <a:spcPct val="90000"/>
              </a:lnSpc>
              <a:spcBef>
                <a:spcPts val="458"/>
              </a:spcBef>
              <a:spcAft>
                <a:spcPts val="0"/>
              </a:spcAft>
              <a:buClr>
                <a:schemeClr val="dk1"/>
              </a:buClr>
              <a:buSzPts val="1647"/>
              <a:buNone/>
              <a:defRPr sz="1647"/>
            </a:lvl3pPr>
            <a:lvl4pPr lvl="3" algn="ctr">
              <a:lnSpc>
                <a:spcPct val="90000"/>
              </a:lnSpc>
              <a:spcBef>
                <a:spcPts val="458"/>
              </a:spcBef>
              <a:spcAft>
                <a:spcPts val="0"/>
              </a:spcAft>
              <a:buClr>
                <a:schemeClr val="dk1"/>
              </a:buClr>
              <a:buSzPts val="1464"/>
              <a:buNone/>
              <a:defRPr sz="1464"/>
            </a:lvl4pPr>
            <a:lvl5pPr lvl="4" algn="ctr">
              <a:lnSpc>
                <a:spcPct val="90000"/>
              </a:lnSpc>
              <a:spcBef>
                <a:spcPts val="458"/>
              </a:spcBef>
              <a:spcAft>
                <a:spcPts val="0"/>
              </a:spcAft>
              <a:buClr>
                <a:schemeClr val="dk1"/>
              </a:buClr>
              <a:buSzPts val="1464"/>
              <a:buNone/>
              <a:defRPr sz="1464"/>
            </a:lvl5pPr>
            <a:lvl6pPr lvl="5" algn="ctr">
              <a:lnSpc>
                <a:spcPct val="90000"/>
              </a:lnSpc>
              <a:spcBef>
                <a:spcPts val="458"/>
              </a:spcBef>
              <a:spcAft>
                <a:spcPts val="0"/>
              </a:spcAft>
              <a:buClr>
                <a:schemeClr val="dk1"/>
              </a:buClr>
              <a:buSzPts val="1464"/>
              <a:buNone/>
              <a:defRPr sz="1464"/>
            </a:lvl6pPr>
            <a:lvl7pPr lvl="6" algn="ctr">
              <a:lnSpc>
                <a:spcPct val="90000"/>
              </a:lnSpc>
              <a:spcBef>
                <a:spcPts val="458"/>
              </a:spcBef>
              <a:spcAft>
                <a:spcPts val="0"/>
              </a:spcAft>
              <a:buClr>
                <a:schemeClr val="dk1"/>
              </a:buClr>
              <a:buSzPts val="1464"/>
              <a:buNone/>
              <a:defRPr sz="1464"/>
            </a:lvl7pPr>
            <a:lvl8pPr lvl="7" algn="ctr">
              <a:lnSpc>
                <a:spcPct val="90000"/>
              </a:lnSpc>
              <a:spcBef>
                <a:spcPts val="458"/>
              </a:spcBef>
              <a:spcAft>
                <a:spcPts val="0"/>
              </a:spcAft>
              <a:buClr>
                <a:schemeClr val="dk1"/>
              </a:buClr>
              <a:buSzPts val="1464"/>
              <a:buNone/>
              <a:defRPr sz="1464"/>
            </a:lvl8pPr>
            <a:lvl9pPr lvl="8" algn="ctr">
              <a:lnSpc>
                <a:spcPct val="90000"/>
              </a:lnSpc>
              <a:spcBef>
                <a:spcPts val="458"/>
              </a:spcBef>
              <a:spcAft>
                <a:spcPts val="0"/>
              </a:spcAft>
              <a:buClr>
                <a:schemeClr val="dk1"/>
              </a:buClr>
              <a:buSzPts val="1464"/>
              <a:buNone/>
              <a:defRPr sz="1464"/>
            </a:lvl9pPr>
          </a:lstStyle>
          <a:p/>
        </p:txBody>
      </p:sp>
      <p:sp>
        <p:nvSpPr>
          <p:cNvPr id="46" name="Google Shape;46;p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10"/>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0"/>
          <p:cNvSpPr txBox="1"/>
          <p:nvPr>
            <p:ph idx="1" type="body"/>
          </p:nvPr>
        </p:nvSpPr>
        <p:spPr>
          <a:xfrm>
            <a:off x="838201" y="1825626"/>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52" name="Google Shape;52;p10"/>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0"/>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11"/>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1"/>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rgbClr val="888888"/>
              </a:buClr>
              <a:buSzPts val="2197"/>
              <a:buNone/>
              <a:defRPr sz="2197">
                <a:solidFill>
                  <a:srgbClr val="888888"/>
                </a:solidFill>
              </a:defRPr>
            </a:lvl1pPr>
            <a:lvl2pPr indent="-228600" lvl="1" marL="914400" algn="l">
              <a:lnSpc>
                <a:spcPct val="90000"/>
              </a:lnSpc>
              <a:spcBef>
                <a:spcPts val="458"/>
              </a:spcBef>
              <a:spcAft>
                <a:spcPts val="0"/>
              </a:spcAft>
              <a:buClr>
                <a:srgbClr val="888888"/>
              </a:buClr>
              <a:buSzPts val="1831"/>
              <a:buNone/>
              <a:defRPr sz="1831">
                <a:solidFill>
                  <a:srgbClr val="888888"/>
                </a:solidFill>
              </a:defRPr>
            </a:lvl2pPr>
            <a:lvl3pPr indent="-228600" lvl="2" marL="1371600" algn="l">
              <a:lnSpc>
                <a:spcPct val="90000"/>
              </a:lnSpc>
              <a:spcBef>
                <a:spcPts val="458"/>
              </a:spcBef>
              <a:spcAft>
                <a:spcPts val="0"/>
              </a:spcAft>
              <a:buClr>
                <a:srgbClr val="888888"/>
              </a:buClr>
              <a:buSzPts val="1647"/>
              <a:buNone/>
              <a:defRPr sz="1647">
                <a:solidFill>
                  <a:srgbClr val="888888"/>
                </a:solidFill>
              </a:defRPr>
            </a:lvl3pPr>
            <a:lvl4pPr indent="-228600" lvl="3" marL="1828800" algn="l">
              <a:lnSpc>
                <a:spcPct val="90000"/>
              </a:lnSpc>
              <a:spcBef>
                <a:spcPts val="458"/>
              </a:spcBef>
              <a:spcAft>
                <a:spcPts val="0"/>
              </a:spcAft>
              <a:buClr>
                <a:srgbClr val="888888"/>
              </a:buClr>
              <a:buSzPts val="1464"/>
              <a:buNone/>
              <a:defRPr sz="1464">
                <a:solidFill>
                  <a:srgbClr val="888888"/>
                </a:solidFill>
              </a:defRPr>
            </a:lvl4pPr>
            <a:lvl5pPr indent="-228600" lvl="4" marL="2286000" algn="l">
              <a:lnSpc>
                <a:spcPct val="90000"/>
              </a:lnSpc>
              <a:spcBef>
                <a:spcPts val="458"/>
              </a:spcBef>
              <a:spcAft>
                <a:spcPts val="0"/>
              </a:spcAft>
              <a:buClr>
                <a:srgbClr val="888888"/>
              </a:buClr>
              <a:buSzPts val="1464"/>
              <a:buNone/>
              <a:defRPr sz="1464">
                <a:solidFill>
                  <a:srgbClr val="888888"/>
                </a:solidFill>
              </a:defRPr>
            </a:lvl5pPr>
            <a:lvl6pPr indent="-228600" lvl="5" marL="2743200" algn="l">
              <a:lnSpc>
                <a:spcPct val="90000"/>
              </a:lnSpc>
              <a:spcBef>
                <a:spcPts val="458"/>
              </a:spcBef>
              <a:spcAft>
                <a:spcPts val="0"/>
              </a:spcAft>
              <a:buClr>
                <a:srgbClr val="888888"/>
              </a:buClr>
              <a:buSzPts val="1464"/>
              <a:buNone/>
              <a:defRPr sz="1464">
                <a:solidFill>
                  <a:srgbClr val="888888"/>
                </a:solidFill>
              </a:defRPr>
            </a:lvl6pPr>
            <a:lvl7pPr indent="-228600" lvl="6" marL="3200400" algn="l">
              <a:lnSpc>
                <a:spcPct val="90000"/>
              </a:lnSpc>
              <a:spcBef>
                <a:spcPts val="458"/>
              </a:spcBef>
              <a:spcAft>
                <a:spcPts val="0"/>
              </a:spcAft>
              <a:buClr>
                <a:srgbClr val="888888"/>
              </a:buClr>
              <a:buSzPts val="1464"/>
              <a:buNone/>
              <a:defRPr sz="1464">
                <a:solidFill>
                  <a:srgbClr val="888888"/>
                </a:solidFill>
              </a:defRPr>
            </a:lvl7pPr>
            <a:lvl8pPr indent="-228600" lvl="7" marL="3657600" algn="l">
              <a:lnSpc>
                <a:spcPct val="90000"/>
              </a:lnSpc>
              <a:spcBef>
                <a:spcPts val="458"/>
              </a:spcBef>
              <a:spcAft>
                <a:spcPts val="0"/>
              </a:spcAft>
              <a:buClr>
                <a:srgbClr val="888888"/>
              </a:buClr>
              <a:buSzPts val="1464"/>
              <a:buNone/>
              <a:defRPr sz="1464">
                <a:solidFill>
                  <a:srgbClr val="888888"/>
                </a:solidFill>
              </a:defRPr>
            </a:lvl8pPr>
            <a:lvl9pPr indent="-228600" lvl="8" marL="4114800" algn="l">
              <a:lnSpc>
                <a:spcPct val="90000"/>
              </a:lnSpc>
              <a:spcBef>
                <a:spcPts val="458"/>
              </a:spcBef>
              <a:spcAft>
                <a:spcPts val="0"/>
              </a:spcAft>
              <a:buClr>
                <a:srgbClr val="888888"/>
              </a:buClr>
              <a:buSzPts val="1464"/>
              <a:buNone/>
              <a:defRPr sz="1464">
                <a:solidFill>
                  <a:srgbClr val="888888"/>
                </a:solidFill>
              </a:defRPr>
            </a:lvl9pPr>
          </a:lstStyle>
          <a:p/>
        </p:txBody>
      </p:sp>
      <p:sp>
        <p:nvSpPr>
          <p:cNvPr id="58" name="Google Shape;58;p11"/>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12"/>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txBox="1"/>
          <p:nvPr>
            <p:ph idx="1" type="body"/>
          </p:nvPr>
        </p:nvSpPr>
        <p:spPr>
          <a:xfrm>
            <a:off x="838201" y="1825626"/>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64" name="Google Shape;64;p12"/>
          <p:cNvSpPr txBox="1"/>
          <p:nvPr>
            <p:ph idx="2" type="body"/>
          </p:nvPr>
        </p:nvSpPr>
        <p:spPr>
          <a:xfrm>
            <a:off x="6172201" y="1825626"/>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65" name="Google Shape;65;p12"/>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13"/>
          <p:cNvSpPr txBox="1"/>
          <p:nvPr>
            <p:ph type="title"/>
          </p:nvPr>
        </p:nvSpPr>
        <p:spPr>
          <a:xfrm>
            <a:off x="839788"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a:off x="839788" y="1681163"/>
            <a:ext cx="51577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71" name="Google Shape;71;p13"/>
          <p:cNvSpPr txBox="1"/>
          <p:nvPr>
            <p:ph idx="2" type="body"/>
          </p:nvPr>
        </p:nvSpPr>
        <p:spPr>
          <a:xfrm>
            <a:off x="839788" y="2505075"/>
            <a:ext cx="51577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72" name="Google Shape;72;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73" name="Google Shape;73;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74" name="Google Shape;74;p13"/>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3"/>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4"/>
          <p:cNvSpPr txBox="1"/>
          <p:nvPr>
            <p:ph type="title"/>
          </p:nvPr>
        </p:nvSpPr>
        <p:spPr>
          <a:xfrm>
            <a:off x="838201" y="365126"/>
            <a:ext cx="10515600" cy="5751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563"/>
              <a:buFont typeface="Arial"/>
              <a:buNone/>
              <a:defRPr sz="2563">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4"/>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4"/>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4"/>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2" name="Shape 82"/>
        <p:cNvGrpSpPr/>
        <p:nvPr/>
      </p:nvGrpSpPr>
      <p:grpSpPr>
        <a:xfrm>
          <a:off x="0" y="0"/>
          <a:ext cx="0" cy="0"/>
          <a:chOff x="0" y="0"/>
          <a:chExt cx="0" cy="0"/>
        </a:xfrm>
      </p:grpSpPr>
      <p:sp>
        <p:nvSpPr>
          <p:cNvPr id="83" name="Google Shape;83;p1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5"/>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16"/>
          <p:cNvSpPr txBox="1"/>
          <p:nvPr>
            <p:ph type="title"/>
          </p:nvPr>
        </p:nvSpPr>
        <p:spPr>
          <a:xfrm>
            <a:off x="839790"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6"/>
          <p:cNvSpPr txBox="1"/>
          <p:nvPr>
            <p:ph idx="1" type="body"/>
          </p:nvPr>
        </p:nvSpPr>
        <p:spPr>
          <a:xfrm>
            <a:off x="5183188" y="987426"/>
            <a:ext cx="6172201" cy="4873625"/>
          </a:xfrm>
          <a:prstGeom prst="rect">
            <a:avLst/>
          </a:prstGeom>
          <a:noFill/>
          <a:ln>
            <a:noFill/>
          </a:ln>
        </p:spPr>
        <p:txBody>
          <a:bodyPr anchorCtr="0" anchor="t" bIns="45700" lIns="91425" spcFirstLastPara="1" rIns="91425" wrap="square" tIns="45700">
            <a:normAutofit/>
          </a:bodyPr>
          <a:lstStyle>
            <a:lvl1pPr indent="-414655" lvl="0" marL="457200" algn="l">
              <a:lnSpc>
                <a:spcPct val="90000"/>
              </a:lnSpc>
              <a:spcBef>
                <a:spcPts val="916"/>
              </a:spcBef>
              <a:spcAft>
                <a:spcPts val="0"/>
              </a:spcAft>
              <a:buClr>
                <a:schemeClr val="dk1"/>
              </a:buClr>
              <a:buSzPts val="2930"/>
              <a:buChar char="•"/>
              <a:defRPr sz="2930"/>
            </a:lvl1pPr>
            <a:lvl2pPr indent="-391350" lvl="1" marL="914400" algn="l">
              <a:lnSpc>
                <a:spcPct val="90000"/>
              </a:lnSpc>
              <a:spcBef>
                <a:spcPts val="458"/>
              </a:spcBef>
              <a:spcAft>
                <a:spcPts val="0"/>
              </a:spcAft>
              <a:buClr>
                <a:schemeClr val="dk1"/>
              </a:buClr>
              <a:buSzPts val="2563"/>
              <a:buChar char="•"/>
              <a:defRPr sz="2563"/>
            </a:lvl2pPr>
            <a:lvl3pPr indent="-368110" lvl="2" marL="1371600" algn="l">
              <a:lnSpc>
                <a:spcPct val="90000"/>
              </a:lnSpc>
              <a:spcBef>
                <a:spcPts val="458"/>
              </a:spcBef>
              <a:spcAft>
                <a:spcPts val="0"/>
              </a:spcAft>
              <a:buClr>
                <a:schemeClr val="dk1"/>
              </a:buClr>
              <a:buSzPts val="2197"/>
              <a:buChar char="•"/>
              <a:defRPr sz="2197"/>
            </a:lvl3pPr>
            <a:lvl4pPr indent="-344868" lvl="3" marL="1828800" algn="l">
              <a:lnSpc>
                <a:spcPct val="90000"/>
              </a:lnSpc>
              <a:spcBef>
                <a:spcPts val="458"/>
              </a:spcBef>
              <a:spcAft>
                <a:spcPts val="0"/>
              </a:spcAft>
              <a:buClr>
                <a:schemeClr val="dk1"/>
              </a:buClr>
              <a:buSzPts val="1831"/>
              <a:buChar char="•"/>
              <a:defRPr sz="1831"/>
            </a:lvl4pPr>
            <a:lvl5pPr indent="-344868" lvl="4" marL="2286000" algn="l">
              <a:lnSpc>
                <a:spcPct val="90000"/>
              </a:lnSpc>
              <a:spcBef>
                <a:spcPts val="458"/>
              </a:spcBef>
              <a:spcAft>
                <a:spcPts val="0"/>
              </a:spcAft>
              <a:buClr>
                <a:schemeClr val="dk1"/>
              </a:buClr>
              <a:buSzPts val="1831"/>
              <a:buChar char="•"/>
              <a:defRPr sz="1831"/>
            </a:lvl5pPr>
            <a:lvl6pPr indent="-344868" lvl="5" marL="2743200" algn="l">
              <a:lnSpc>
                <a:spcPct val="90000"/>
              </a:lnSpc>
              <a:spcBef>
                <a:spcPts val="458"/>
              </a:spcBef>
              <a:spcAft>
                <a:spcPts val="0"/>
              </a:spcAft>
              <a:buClr>
                <a:schemeClr val="dk1"/>
              </a:buClr>
              <a:buSzPts val="1831"/>
              <a:buChar char="•"/>
              <a:defRPr sz="1831"/>
            </a:lvl6pPr>
            <a:lvl7pPr indent="-344868" lvl="6" marL="3200400" algn="l">
              <a:lnSpc>
                <a:spcPct val="90000"/>
              </a:lnSpc>
              <a:spcBef>
                <a:spcPts val="458"/>
              </a:spcBef>
              <a:spcAft>
                <a:spcPts val="0"/>
              </a:spcAft>
              <a:buClr>
                <a:schemeClr val="dk1"/>
              </a:buClr>
              <a:buSzPts val="1831"/>
              <a:buChar char="•"/>
              <a:defRPr sz="1831"/>
            </a:lvl7pPr>
            <a:lvl8pPr indent="-344868" lvl="7" marL="3657600" algn="l">
              <a:lnSpc>
                <a:spcPct val="90000"/>
              </a:lnSpc>
              <a:spcBef>
                <a:spcPts val="458"/>
              </a:spcBef>
              <a:spcAft>
                <a:spcPts val="0"/>
              </a:spcAft>
              <a:buClr>
                <a:schemeClr val="dk1"/>
              </a:buClr>
              <a:buSzPts val="1831"/>
              <a:buChar char="•"/>
              <a:defRPr sz="1831"/>
            </a:lvl8pPr>
            <a:lvl9pPr indent="-344868" lvl="8" marL="4114800" algn="l">
              <a:lnSpc>
                <a:spcPct val="90000"/>
              </a:lnSpc>
              <a:spcBef>
                <a:spcPts val="458"/>
              </a:spcBef>
              <a:spcAft>
                <a:spcPts val="0"/>
              </a:spcAft>
              <a:buClr>
                <a:schemeClr val="dk1"/>
              </a:buClr>
              <a:buSzPts val="1831"/>
              <a:buChar char="•"/>
              <a:defRPr sz="1831"/>
            </a:lvl9pPr>
          </a:lstStyle>
          <a:p/>
        </p:txBody>
      </p:sp>
      <p:sp>
        <p:nvSpPr>
          <p:cNvPr id="89" name="Google Shape;89;p16"/>
          <p:cNvSpPr txBox="1"/>
          <p:nvPr>
            <p:ph idx="2" type="body"/>
          </p:nvPr>
        </p:nvSpPr>
        <p:spPr>
          <a:xfrm>
            <a:off x="839790"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90" name="Google Shape;90;p1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6"/>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17"/>
          <p:cNvSpPr txBox="1"/>
          <p:nvPr>
            <p:ph type="title"/>
          </p:nvPr>
        </p:nvSpPr>
        <p:spPr>
          <a:xfrm>
            <a:off x="839790"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7"/>
          <p:cNvSpPr/>
          <p:nvPr>
            <p:ph idx="2" type="pic"/>
          </p:nvPr>
        </p:nvSpPr>
        <p:spPr>
          <a:xfrm>
            <a:off x="5183188" y="987426"/>
            <a:ext cx="6172201" cy="4873625"/>
          </a:xfrm>
          <a:prstGeom prst="rect">
            <a:avLst/>
          </a:prstGeom>
          <a:noFill/>
          <a:ln>
            <a:noFill/>
          </a:ln>
        </p:spPr>
      </p:sp>
      <p:sp>
        <p:nvSpPr>
          <p:cNvPr id="96" name="Google Shape;96;p17"/>
          <p:cNvSpPr txBox="1"/>
          <p:nvPr>
            <p:ph idx="1" type="body"/>
          </p:nvPr>
        </p:nvSpPr>
        <p:spPr>
          <a:xfrm>
            <a:off x="839790"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97" name="Google Shape;97;p1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7"/>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0" name="Shape 100"/>
        <p:cNvGrpSpPr/>
        <p:nvPr/>
      </p:nvGrpSpPr>
      <p:grpSpPr>
        <a:xfrm>
          <a:off x="0" y="0"/>
          <a:ext cx="0" cy="0"/>
          <a:chOff x="0" y="0"/>
          <a:chExt cx="0" cy="0"/>
        </a:xfrm>
      </p:grpSpPr>
      <p:sp>
        <p:nvSpPr>
          <p:cNvPr id="101" name="Google Shape;101;p18"/>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8"/>
          <p:cNvSpPr txBox="1"/>
          <p:nvPr>
            <p:ph idx="1" type="body"/>
          </p:nvPr>
        </p:nvSpPr>
        <p:spPr>
          <a:xfrm rot="5400000">
            <a:off x="3920332" y="-1256505"/>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03" name="Google Shape;103;p18"/>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8"/>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8"/>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6" name="Shape 106"/>
        <p:cNvGrpSpPr/>
        <p:nvPr/>
      </p:nvGrpSpPr>
      <p:grpSpPr>
        <a:xfrm>
          <a:off x="0" y="0"/>
          <a:ext cx="0" cy="0"/>
          <a:chOff x="0" y="0"/>
          <a:chExt cx="0" cy="0"/>
        </a:xfrm>
      </p:grpSpPr>
      <p:sp>
        <p:nvSpPr>
          <p:cNvPr id="107" name="Google Shape;107;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09" name="Google Shape;109;p19"/>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9"/>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9"/>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OBJECT_1">
    <p:spTree>
      <p:nvGrpSpPr>
        <p:cNvPr id="112" name="Shape 112"/>
        <p:cNvGrpSpPr/>
        <p:nvPr/>
      </p:nvGrpSpPr>
      <p:grpSpPr>
        <a:xfrm>
          <a:off x="0" y="0"/>
          <a:ext cx="0" cy="0"/>
          <a:chOff x="0" y="0"/>
          <a:chExt cx="0" cy="0"/>
        </a:xfrm>
      </p:grpSpPr>
      <p:sp>
        <p:nvSpPr>
          <p:cNvPr id="113" name="Google Shape;113;h53dee106083bfba5_0_263"/>
          <p:cNvSpPr txBox="1"/>
          <p:nvPr>
            <p:ph idx="11" type="ftr"/>
          </p:nvPr>
        </p:nvSpPr>
        <p:spPr>
          <a:xfrm>
            <a:off x="4145280" y="6377942"/>
            <a:ext cx="3901500" cy="259200"/>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14" name="Google Shape;114;h53dee106083bfba5_0_263"/>
          <p:cNvSpPr txBox="1"/>
          <p:nvPr>
            <p:ph idx="10" type="dt"/>
          </p:nvPr>
        </p:nvSpPr>
        <p:spPr>
          <a:xfrm>
            <a:off x="609600" y="6377942"/>
            <a:ext cx="2804100" cy="259200"/>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15" name="Google Shape;115;h53dee106083bfba5_0_263"/>
          <p:cNvSpPr txBox="1"/>
          <p:nvPr>
            <p:ph idx="12" type="sldNum"/>
          </p:nvPr>
        </p:nvSpPr>
        <p:spPr>
          <a:xfrm>
            <a:off x="8778240" y="6377940"/>
            <a:ext cx="2804100" cy="188700"/>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h7c373c2e280f5525_0_121"/>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h7c373c2e280f5525_0_121"/>
          <p:cNvSpPr txBox="1"/>
          <p:nvPr>
            <p:ph idx="1" type="body"/>
          </p:nvPr>
        </p:nvSpPr>
        <p:spPr>
          <a:xfrm>
            <a:off x="838201" y="1825626"/>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25" name="Google Shape;125;h7c373c2e280f5525_0_121"/>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h7c373c2e280f5525_0_121"/>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7c373c2e280f5525_0_121"/>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 name="Shape 128"/>
        <p:cNvGrpSpPr/>
        <p:nvPr/>
      </p:nvGrpSpPr>
      <p:grpSpPr>
        <a:xfrm>
          <a:off x="0" y="0"/>
          <a:ext cx="0" cy="0"/>
          <a:chOff x="0" y="0"/>
          <a:chExt cx="0" cy="0"/>
        </a:xfrm>
      </p:grpSpPr>
      <p:sp>
        <p:nvSpPr>
          <p:cNvPr id="129" name="Google Shape;129;h7c373c2e280f5525_0_127"/>
          <p:cNvSpPr txBox="1"/>
          <p:nvPr>
            <p:ph type="ctrTitle"/>
          </p:nvPr>
        </p:nvSpPr>
        <p:spPr>
          <a:xfrm>
            <a:off x="1524000" y="1122364"/>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h7c373c2e280f5525_0_12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916"/>
              </a:spcBef>
              <a:spcAft>
                <a:spcPts val="0"/>
              </a:spcAft>
              <a:buClr>
                <a:schemeClr val="dk1"/>
              </a:buClr>
              <a:buSzPts val="2197"/>
              <a:buNone/>
              <a:defRPr sz="2197"/>
            </a:lvl1pPr>
            <a:lvl2pPr lvl="1" algn="ctr">
              <a:lnSpc>
                <a:spcPct val="90000"/>
              </a:lnSpc>
              <a:spcBef>
                <a:spcPts val="458"/>
              </a:spcBef>
              <a:spcAft>
                <a:spcPts val="0"/>
              </a:spcAft>
              <a:buClr>
                <a:schemeClr val="dk1"/>
              </a:buClr>
              <a:buSzPts val="1831"/>
              <a:buNone/>
              <a:defRPr sz="1831"/>
            </a:lvl2pPr>
            <a:lvl3pPr lvl="2" algn="ctr">
              <a:lnSpc>
                <a:spcPct val="90000"/>
              </a:lnSpc>
              <a:spcBef>
                <a:spcPts val="458"/>
              </a:spcBef>
              <a:spcAft>
                <a:spcPts val="0"/>
              </a:spcAft>
              <a:buClr>
                <a:schemeClr val="dk1"/>
              </a:buClr>
              <a:buSzPts val="1647"/>
              <a:buNone/>
              <a:defRPr sz="1647"/>
            </a:lvl3pPr>
            <a:lvl4pPr lvl="3" algn="ctr">
              <a:lnSpc>
                <a:spcPct val="90000"/>
              </a:lnSpc>
              <a:spcBef>
                <a:spcPts val="458"/>
              </a:spcBef>
              <a:spcAft>
                <a:spcPts val="0"/>
              </a:spcAft>
              <a:buClr>
                <a:schemeClr val="dk1"/>
              </a:buClr>
              <a:buSzPts val="1464"/>
              <a:buNone/>
              <a:defRPr sz="1464"/>
            </a:lvl4pPr>
            <a:lvl5pPr lvl="4" algn="ctr">
              <a:lnSpc>
                <a:spcPct val="90000"/>
              </a:lnSpc>
              <a:spcBef>
                <a:spcPts val="458"/>
              </a:spcBef>
              <a:spcAft>
                <a:spcPts val="0"/>
              </a:spcAft>
              <a:buClr>
                <a:schemeClr val="dk1"/>
              </a:buClr>
              <a:buSzPts val="1464"/>
              <a:buNone/>
              <a:defRPr sz="1464"/>
            </a:lvl5pPr>
            <a:lvl6pPr lvl="5" algn="ctr">
              <a:lnSpc>
                <a:spcPct val="90000"/>
              </a:lnSpc>
              <a:spcBef>
                <a:spcPts val="458"/>
              </a:spcBef>
              <a:spcAft>
                <a:spcPts val="0"/>
              </a:spcAft>
              <a:buClr>
                <a:schemeClr val="dk1"/>
              </a:buClr>
              <a:buSzPts val="1464"/>
              <a:buNone/>
              <a:defRPr sz="1464"/>
            </a:lvl6pPr>
            <a:lvl7pPr lvl="6" algn="ctr">
              <a:lnSpc>
                <a:spcPct val="90000"/>
              </a:lnSpc>
              <a:spcBef>
                <a:spcPts val="458"/>
              </a:spcBef>
              <a:spcAft>
                <a:spcPts val="0"/>
              </a:spcAft>
              <a:buClr>
                <a:schemeClr val="dk1"/>
              </a:buClr>
              <a:buSzPts val="1464"/>
              <a:buNone/>
              <a:defRPr sz="1464"/>
            </a:lvl7pPr>
            <a:lvl8pPr lvl="7" algn="ctr">
              <a:lnSpc>
                <a:spcPct val="90000"/>
              </a:lnSpc>
              <a:spcBef>
                <a:spcPts val="458"/>
              </a:spcBef>
              <a:spcAft>
                <a:spcPts val="0"/>
              </a:spcAft>
              <a:buClr>
                <a:schemeClr val="dk1"/>
              </a:buClr>
              <a:buSzPts val="1464"/>
              <a:buNone/>
              <a:defRPr sz="1464"/>
            </a:lvl8pPr>
            <a:lvl9pPr lvl="8" algn="ctr">
              <a:lnSpc>
                <a:spcPct val="90000"/>
              </a:lnSpc>
              <a:spcBef>
                <a:spcPts val="458"/>
              </a:spcBef>
              <a:spcAft>
                <a:spcPts val="0"/>
              </a:spcAft>
              <a:buClr>
                <a:schemeClr val="dk1"/>
              </a:buClr>
              <a:buSzPts val="1464"/>
              <a:buNone/>
              <a:defRPr sz="1464"/>
            </a:lvl9pPr>
          </a:lstStyle>
          <a:p/>
        </p:txBody>
      </p:sp>
      <p:sp>
        <p:nvSpPr>
          <p:cNvPr id="131" name="Google Shape;131;h7c373c2e280f5525_0_127"/>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h7c373c2e280f5525_0_127"/>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h7c373c2e280f5525_0_127"/>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4" name="Shape 134"/>
        <p:cNvGrpSpPr/>
        <p:nvPr/>
      </p:nvGrpSpPr>
      <p:grpSpPr>
        <a:xfrm>
          <a:off x="0" y="0"/>
          <a:ext cx="0" cy="0"/>
          <a:chOff x="0" y="0"/>
          <a:chExt cx="0" cy="0"/>
        </a:xfrm>
      </p:grpSpPr>
      <p:sp>
        <p:nvSpPr>
          <p:cNvPr id="135" name="Google Shape;135;h7c373c2e280f5525_0_133"/>
          <p:cNvSpPr txBox="1"/>
          <p:nvPr>
            <p:ph type="title"/>
          </p:nvPr>
        </p:nvSpPr>
        <p:spPr>
          <a:xfrm>
            <a:off x="831851" y="1709739"/>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h7c373c2e280f5525_0_133"/>
          <p:cNvSpPr txBox="1"/>
          <p:nvPr>
            <p:ph idx="1" type="body"/>
          </p:nvPr>
        </p:nvSpPr>
        <p:spPr>
          <a:xfrm>
            <a:off x="831851" y="4589464"/>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rgbClr val="888888"/>
              </a:buClr>
              <a:buSzPts val="2197"/>
              <a:buNone/>
              <a:defRPr sz="2197">
                <a:solidFill>
                  <a:srgbClr val="888888"/>
                </a:solidFill>
              </a:defRPr>
            </a:lvl1pPr>
            <a:lvl2pPr indent="-228600" lvl="1" marL="914400" algn="l">
              <a:lnSpc>
                <a:spcPct val="90000"/>
              </a:lnSpc>
              <a:spcBef>
                <a:spcPts val="458"/>
              </a:spcBef>
              <a:spcAft>
                <a:spcPts val="0"/>
              </a:spcAft>
              <a:buClr>
                <a:srgbClr val="888888"/>
              </a:buClr>
              <a:buSzPts val="1831"/>
              <a:buNone/>
              <a:defRPr sz="1831">
                <a:solidFill>
                  <a:srgbClr val="888888"/>
                </a:solidFill>
              </a:defRPr>
            </a:lvl2pPr>
            <a:lvl3pPr indent="-228600" lvl="2" marL="1371600" algn="l">
              <a:lnSpc>
                <a:spcPct val="90000"/>
              </a:lnSpc>
              <a:spcBef>
                <a:spcPts val="458"/>
              </a:spcBef>
              <a:spcAft>
                <a:spcPts val="0"/>
              </a:spcAft>
              <a:buClr>
                <a:srgbClr val="888888"/>
              </a:buClr>
              <a:buSzPts val="1647"/>
              <a:buNone/>
              <a:defRPr sz="1647">
                <a:solidFill>
                  <a:srgbClr val="888888"/>
                </a:solidFill>
              </a:defRPr>
            </a:lvl3pPr>
            <a:lvl4pPr indent="-228600" lvl="3" marL="1828800" algn="l">
              <a:lnSpc>
                <a:spcPct val="90000"/>
              </a:lnSpc>
              <a:spcBef>
                <a:spcPts val="458"/>
              </a:spcBef>
              <a:spcAft>
                <a:spcPts val="0"/>
              </a:spcAft>
              <a:buClr>
                <a:srgbClr val="888888"/>
              </a:buClr>
              <a:buSzPts val="1464"/>
              <a:buNone/>
              <a:defRPr sz="1464">
                <a:solidFill>
                  <a:srgbClr val="888888"/>
                </a:solidFill>
              </a:defRPr>
            </a:lvl4pPr>
            <a:lvl5pPr indent="-228600" lvl="4" marL="2286000" algn="l">
              <a:lnSpc>
                <a:spcPct val="90000"/>
              </a:lnSpc>
              <a:spcBef>
                <a:spcPts val="458"/>
              </a:spcBef>
              <a:spcAft>
                <a:spcPts val="0"/>
              </a:spcAft>
              <a:buClr>
                <a:srgbClr val="888888"/>
              </a:buClr>
              <a:buSzPts val="1464"/>
              <a:buNone/>
              <a:defRPr sz="1464">
                <a:solidFill>
                  <a:srgbClr val="888888"/>
                </a:solidFill>
              </a:defRPr>
            </a:lvl5pPr>
            <a:lvl6pPr indent="-228600" lvl="5" marL="2743200" algn="l">
              <a:lnSpc>
                <a:spcPct val="90000"/>
              </a:lnSpc>
              <a:spcBef>
                <a:spcPts val="458"/>
              </a:spcBef>
              <a:spcAft>
                <a:spcPts val="0"/>
              </a:spcAft>
              <a:buClr>
                <a:srgbClr val="888888"/>
              </a:buClr>
              <a:buSzPts val="1464"/>
              <a:buNone/>
              <a:defRPr sz="1464">
                <a:solidFill>
                  <a:srgbClr val="888888"/>
                </a:solidFill>
              </a:defRPr>
            </a:lvl6pPr>
            <a:lvl7pPr indent="-228600" lvl="6" marL="3200400" algn="l">
              <a:lnSpc>
                <a:spcPct val="90000"/>
              </a:lnSpc>
              <a:spcBef>
                <a:spcPts val="458"/>
              </a:spcBef>
              <a:spcAft>
                <a:spcPts val="0"/>
              </a:spcAft>
              <a:buClr>
                <a:srgbClr val="888888"/>
              </a:buClr>
              <a:buSzPts val="1464"/>
              <a:buNone/>
              <a:defRPr sz="1464">
                <a:solidFill>
                  <a:srgbClr val="888888"/>
                </a:solidFill>
              </a:defRPr>
            </a:lvl7pPr>
            <a:lvl8pPr indent="-228600" lvl="7" marL="3657600" algn="l">
              <a:lnSpc>
                <a:spcPct val="90000"/>
              </a:lnSpc>
              <a:spcBef>
                <a:spcPts val="458"/>
              </a:spcBef>
              <a:spcAft>
                <a:spcPts val="0"/>
              </a:spcAft>
              <a:buClr>
                <a:srgbClr val="888888"/>
              </a:buClr>
              <a:buSzPts val="1464"/>
              <a:buNone/>
              <a:defRPr sz="1464">
                <a:solidFill>
                  <a:srgbClr val="888888"/>
                </a:solidFill>
              </a:defRPr>
            </a:lvl8pPr>
            <a:lvl9pPr indent="-228600" lvl="8" marL="4114800" algn="l">
              <a:lnSpc>
                <a:spcPct val="90000"/>
              </a:lnSpc>
              <a:spcBef>
                <a:spcPts val="458"/>
              </a:spcBef>
              <a:spcAft>
                <a:spcPts val="0"/>
              </a:spcAft>
              <a:buClr>
                <a:srgbClr val="888888"/>
              </a:buClr>
              <a:buSzPts val="1464"/>
              <a:buNone/>
              <a:defRPr sz="1464">
                <a:solidFill>
                  <a:srgbClr val="888888"/>
                </a:solidFill>
              </a:defRPr>
            </a:lvl9pPr>
          </a:lstStyle>
          <a:p/>
        </p:txBody>
      </p:sp>
      <p:sp>
        <p:nvSpPr>
          <p:cNvPr id="137" name="Google Shape;137;h7c373c2e280f5525_0_133"/>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h7c373c2e280f5525_0_133"/>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h7c373c2e280f5525_0_133"/>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0" name="Shape 140"/>
        <p:cNvGrpSpPr/>
        <p:nvPr/>
      </p:nvGrpSpPr>
      <p:grpSpPr>
        <a:xfrm>
          <a:off x="0" y="0"/>
          <a:ext cx="0" cy="0"/>
          <a:chOff x="0" y="0"/>
          <a:chExt cx="0" cy="0"/>
        </a:xfrm>
      </p:grpSpPr>
      <p:sp>
        <p:nvSpPr>
          <p:cNvPr id="141" name="Google Shape;141;h7c373c2e280f5525_0_139"/>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h7c373c2e280f5525_0_139"/>
          <p:cNvSpPr txBox="1"/>
          <p:nvPr>
            <p:ph idx="1" type="body"/>
          </p:nvPr>
        </p:nvSpPr>
        <p:spPr>
          <a:xfrm>
            <a:off x="838201" y="1825626"/>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43" name="Google Shape;143;h7c373c2e280f5525_0_139"/>
          <p:cNvSpPr txBox="1"/>
          <p:nvPr>
            <p:ph idx="2" type="body"/>
          </p:nvPr>
        </p:nvSpPr>
        <p:spPr>
          <a:xfrm>
            <a:off x="6172201" y="1825626"/>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44" name="Google Shape;144;h7c373c2e280f5525_0_139"/>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h7c373c2e280f5525_0_139"/>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h7c373c2e280f5525_0_139"/>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7" name="Shape 147"/>
        <p:cNvGrpSpPr/>
        <p:nvPr/>
      </p:nvGrpSpPr>
      <p:grpSpPr>
        <a:xfrm>
          <a:off x="0" y="0"/>
          <a:ext cx="0" cy="0"/>
          <a:chOff x="0" y="0"/>
          <a:chExt cx="0" cy="0"/>
        </a:xfrm>
      </p:grpSpPr>
      <p:sp>
        <p:nvSpPr>
          <p:cNvPr id="148" name="Google Shape;148;h7c373c2e280f5525_0_146"/>
          <p:cNvSpPr txBox="1"/>
          <p:nvPr>
            <p:ph type="title"/>
          </p:nvPr>
        </p:nvSpPr>
        <p:spPr>
          <a:xfrm>
            <a:off x="839788"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h7c373c2e280f5525_0_14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150" name="Google Shape;150;h7c373c2e280f5525_0_14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51" name="Google Shape;151;h7c373c2e280f5525_0_14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152" name="Google Shape;152;h7c373c2e280f5525_0_14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53" name="Google Shape;153;h7c373c2e280f5525_0_146"/>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7c373c2e280f5525_0_146"/>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h7c373c2e280f5525_0_146"/>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6" name="Shape 156"/>
        <p:cNvGrpSpPr/>
        <p:nvPr/>
      </p:nvGrpSpPr>
      <p:grpSpPr>
        <a:xfrm>
          <a:off x="0" y="0"/>
          <a:ext cx="0" cy="0"/>
          <a:chOff x="0" y="0"/>
          <a:chExt cx="0" cy="0"/>
        </a:xfrm>
      </p:grpSpPr>
      <p:sp>
        <p:nvSpPr>
          <p:cNvPr id="157" name="Google Shape;157;h7c373c2e280f5525_0_155"/>
          <p:cNvSpPr txBox="1"/>
          <p:nvPr>
            <p:ph type="title"/>
          </p:nvPr>
        </p:nvSpPr>
        <p:spPr>
          <a:xfrm>
            <a:off x="838201" y="365126"/>
            <a:ext cx="10515600" cy="575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563"/>
              <a:buFont typeface="Arial"/>
              <a:buNone/>
              <a:defRPr sz="2563">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h7c373c2e280f5525_0_155"/>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h7c373c2e280f5525_0_155"/>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h7c373c2e280f5525_0_155"/>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7c373c2e280f5525_0_160"/>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7c373c2e280f5525_0_160"/>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7c373c2e280f5525_0_160"/>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5" name="Shape 165"/>
        <p:cNvGrpSpPr/>
        <p:nvPr/>
      </p:nvGrpSpPr>
      <p:grpSpPr>
        <a:xfrm>
          <a:off x="0" y="0"/>
          <a:ext cx="0" cy="0"/>
          <a:chOff x="0" y="0"/>
          <a:chExt cx="0" cy="0"/>
        </a:xfrm>
      </p:grpSpPr>
      <p:sp>
        <p:nvSpPr>
          <p:cNvPr id="166" name="Google Shape;166;h7c373c2e280f5525_0_164"/>
          <p:cNvSpPr txBox="1"/>
          <p:nvPr>
            <p:ph type="title"/>
          </p:nvPr>
        </p:nvSpPr>
        <p:spPr>
          <a:xfrm>
            <a:off x="839790"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7c373c2e280f5525_0_164"/>
          <p:cNvSpPr txBox="1"/>
          <p:nvPr>
            <p:ph idx="1" type="body"/>
          </p:nvPr>
        </p:nvSpPr>
        <p:spPr>
          <a:xfrm>
            <a:off x="5183188" y="987426"/>
            <a:ext cx="6172200" cy="4873500"/>
          </a:xfrm>
          <a:prstGeom prst="rect">
            <a:avLst/>
          </a:prstGeom>
          <a:noFill/>
          <a:ln>
            <a:noFill/>
          </a:ln>
        </p:spPr>
        <p:txBody>
          <a:bodyPr anchorCtr="0" anchor="t" bIns="45700" lIns="91425" spcFirstLastPara="1" rIns="91425" wrap="square" tIns="45700">
            <a:normAutofit/>
          </a:bodyPr>
          <a:lstStyle>
            <a:lvl1pPr indent="-414655" lvl="0" marL="457200" algn="l">
              <a:lnSpc>
                <a:spcPct val="90000"/>
              </a:lnSpc>
              <a:spcBef>
                <a:spcPts val="916"/>
              </a:spcBef>
              <a:spcAft>
                <a:spcPts val="0"/>
              </a:spcAft>
              <a:buClr>
                <a:schemeClr val="dk1"/>
              </a:buClr>
              <a:buSzPts val="2930"/>
              <a:buChar char="•"/>
              <a:defRPr sz="2930"/>
            </a:lvl1pPr>
            <a:lvl2pPr indent="-391350" lvl="1" marL="914400" algn="l">
              <a:lnSpc>
                <a:spcPct val="90000"/>
              </a:lnSpc>
              <a:spcBef>
                <a:spcPts val="458"/>
              </a:spcBef>
              <a:spcAft>
                <a:spcPts val="0"/>
              </a:spcAft>
              <a:buClr>
                <a:schemeClr val="dk1"/>
              </a:buClr>
              <a:buSzPts val="2563"/>
              <a:buChar char="•"/>
              <a:defRPr sz="2563"/>
            </a:lvl2pPr>
            <a:lvl3pPr indent="-368110" lvl="2" marL="1371600" algn="l">
              <a:lnSpc>
                <a:spcPct val="90000"/>
              </a:lnSpc>
              <a:spcBef>
                <a:spcPts val="458"/>
              </a:spcBef>
              <a:spcAft>
                <a:spcPts val="0"/>
              </a:spcAft>
              <a:buClr>
                <a:schemeClr val="dk1"/>
              </a:buClr>
              <a:buSzPts val="2197"/>
              <a:buChar char="•"/>
              <a:defRPr sz="2197"/>
            </a:lvl3pPr>
            <a:lvl4pPr indent="-344868" lvl="3" marL="1828800" algn="l">
              <a:lnSpc>
                <a:spcPct val="90000"/>
              </a:lnSpc>
              <a:spcBef>
                <a:spcPts val="458"/>
              </a:spcBef>
              <a:spcAft>
                <a:spcPts val="0"/>
              </a:spcAft>
              <a:buClr>
                <a:schemeClr val="dk1"/>
              </a:buClr>
              <a:buSzPts val="1831"/>
              <a:buChar char="•"/>
              <a:defRPr sz="1831"/>
            </a:lvl4pPr>
            <a:lvl5pPr indent="-344868" lvl="4" marL="2286000" algn="l">
              <a:lnSpc>
                <a:spcPct val="90000"/>
              </a:lnSpc>
              <a:spcBef>
                <a:spcPts val="458"/>
              </a:spcBef>
              <a:spcAft>
                <a:spcPts val="0"/>
              </a:spcAft>
              <a:buClr>
                <a:schemeClr val="dk1"/>
              </a:buClr>
              <a:buSzPts val="1831"/>
              <a:buChar char="•"/>
              <a:defRPr sz="1831"/>
            </a:lvl5pPr>
            <a:lvl6pPr indent="-344868" lvl="5" marL="2743200" algn="l">
              <a:lnSpc>
                <a:spcPct val="90000"/>
              </a:lnSpc>
              <a:spcBef>
                <a:spcPts val="458"/>
              </a:spcBef>
              <a:spcAft>
                <a:spcPts val="0"/>
              </a:spcAft>
              <a:buClr>
                <a:schemeClr val="dk1"/>
              </a:buClr>
              <a:buSzPts val="1831"/>
              <a:buChar char="•"/>
              <a:defRPr sz="1831"/>
            </a:lvl6pPr>
            <a:lvl7pPr indent="-344868" lvl="6" marL="3200400" algn="l">
              <a:lnSpc>
                <a:spcPct val="90000"/>
              </a:lnSpc>
              <a:spcBef>
                <a:spcPts val="458"/>
              </a:spcBef>
              <a:spcAft>
                <a:spcPts val="0"/>
              </a:spcAft>
              <a:buClr>
                <a:schemeClr val="dk1"/>
              </a:buClr>
              <a:buSzPts val="1831"/>
              <a:buChar char="•"/>
              <a:defRPr sz="1831"/>
            </a:lvl7pPr>
            <a:lvl8pPr indent="-344868" lvl="7" marL="3657600" algn="l">
              <a:lnSpc>
                <a:spcPct val="90000"/>
              </a:lnSpc>
              <a:spcBef>
                <a:spcPts val="458"/>
              </a:spcBef>
              <a:spcAft>
                <a:spcPts val="0"/>
              </a:spcAft>
              <a:buClr>
                <a:schemeClr val="dk1"/>
              </a:buClr>
              <a:buSzPts val="1831"/>
              <a:buChar char="•"/>
              <a:defRPr sz="1831"/>
            </a:lvl8pPr>
            <a:lvl9pPr indent="-344868" lvl="8" marL="4114800" algn="l">
              <a:lnSpc>
                <a:spcPct val="90000"/>
              </a:lnSpc>
              <a:spcBef>
                <a:spcPts val="458"/>
              </a:spcBef>
              <a:spcAft>
                <a:spcPts val="0"/>
              </a:spcAft>
              <a:buClr>
                <a:schemeClr val="dk1"/>
              </a:buClr>
              <a:buSzPts val="1831"/>
              <a:buChar char="•"/>
              <a:defRPr sz="1831"/>
            </a:lvl9pPr>
          </a:lstStyle>
          <a:p/>
        </p:txBody>
      </p:sp>
      <p:sp>
        <p:nvSpPr>
          <p:cNvPr id="168" name="Google Shape;168;h7c373c2e280f5525_0_164"/>
          <p:cNvSpPr txBox="1"/>
          <p:nvPr>
            <p:ph idx="2" type="body"/>
          </p:nvPr>
        </p:nvSpPr>
        <p:spPr>
          <a:xfrm>
            <a:off x="839790"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169" name="Google Shape;169;h7c373c2e280f5525_0_164"/>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7c373c2e280f5525_0_164"/>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h7c373c2e280f5525_0_164"/>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2" name="Shape 172"/>
        <p:cNvGrpSpPr/>
        <p:nvPr/>
      </p:nvGrpSpPr>
      <p:grpSpPr>
        <a:xfrm>
          <a:off x="0" y="0"/>
          <a:ext cx="0" cy="0"/>
          <a:chOff x="0" y="0"/>
          <a:chExt cx="0" cy="0"/>
        </a:xfrm>
      </p:grpSpPr>
      <p:sp>
        <p:nvSpPr>
          <p:cNvPr id="173" name="Google Shape;173;h7c373c2e280f5525_0_171"/>
          <p:cNvSpPr txBox="1"/>
          <p:nvPr>
            <p:ph type="title"/>
          </p:nvPr>
        </p:nvSpPr>
        <p:spPr>
          <a:xfrm>
            <a:off x="839790"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h7c373c2e280f5525_0_171"/>
          <p:cNvSpPr/>
          <p:nvPr>
            <p:ph idx="2" type="pic"/>
          </p:nvPr>
        </p:nvSpPr>
        <p:spPr>
          <a:xfrm>
            <a:off x="5183188" y="987426"/>
            <a:ext cx="6172200" cy="4873500"/>
          </a:xfrm>
          <a:prstGeom prst="rect">
            <a:avLst/>
          </a:prstGeom>
          <a:noFill/>
          <a:ln>
            <a:noFill/>
          </a:ln>
        </p:spPr>
      </p:sp>
      <p:sp>
        <p:nvSpPr>
          <p:cNvPr id="175" name="Google Shape;175;h7c373c2e280f5525_0_171"/>
          <p:cNvSpPr txBox="1"/>
          <p:nvPr>
            <p:ph idx="1" type="body"/>
          </p:nvPr>
        </p:nvSpPr>
        <p:spPr>
          <a:xfrm>
            <a:off x="839790"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176" name="Google Shape;176;h7c373c2e280f5525_0_171"/>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h7c373c2e280f5525_0_171"/>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h7c373c2e280f5525_0_171"/>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9" name="Shape 179"/>
        <p:cNvGrpSpPr/>
        <p:nvPr/>
      </p:nvGrpSpPr>
      <p:grpSpPr>
        <a:xfrm>
          <a:off x="0" y="0"/>
          <a:ext cx="0" cy="0"/>
          <a:chOff x="0" y="0"/>
          <a:chExt cx="0" cy="0"/>
        </a:xfrm>
      </p:grpSpPr>
      <p:sp>
        <p:nvSpPr>
          <p:cNvPr id="180" name="Google Shape;180;h7c373c2e280f5525_0_178"/>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h7c373c2e280f5525_0_178"/>
          <p:cNvSpPr txBox="1"/>
          <p:nvPr>
            <p:ph idx="1" type="body"/>
          </p:nvPr>
        </p:nvSpPr>
        <p:spPr>
          <a:xfrm rot="5400000">
            <a:off x="3920401" y="-1256574"/>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82" name="Google Shape;182;h7c373c2e280f5525_0_178"/>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h7c373c2e280f5525_0_178"/>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h7c373c2e280f5525_0_178"/>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5" name="Shape 185"/>
        <p:cNvGrpSpPr/>
        <p:nvPr/>
      </p:nvGrpSpPr>
      <p:grpSpPr>
        <a:xfrm>
          <a:off x="0" y="0"/>
          <a:ext cx="0" cy="0"/>
          <a:chOff x="0" y="0"/>
          <a:chExt cx="0" cy="0"/>
        </a:xfrm>
      </p:grpSpPr>
      <p:sp>
        <p:nvSpPr>
          <p:cNvPr id="186" name="Google Shape;186;h7c373c2e280f5525_0_18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h7c373c2e280f5525_0_18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88" name="Google Shape;188;h7c373c2e280f5525_0_184"/>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7c373c2e280f5525_0_184"/>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h7c373c2e280f5525_0_184"/>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slideLayout" Target="../slideLayouts/slideLayout14.xml"/><Relationship Id="rId12" Type="http://schemas.openxmlformats.org/officeDocument/2006/relationships/slideLayout" Target="../slideLayouts/slideLayout15.xml"/><Relationship Id="rId13" Type="http://schemas.openxmlformats.org/officeDocument/2006/relationships/slideLayout" Target="../slideLayouts/slideLayout1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
          <p:cNvSpPr txBox="1"/>
          <p:nvPr>
            <p:ph idx="1" type="body"/>
          </p:nvPr>
        </p:nvSpPr>
        <p:spPr>
          <a:xfrm>
            <a:off x="609601" y="1577342"/>
            <a:ext cx="10972800" cy="283026"/>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3"/>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Clr>
                <a:srgbClr val="888888"/>
              </a:buClr>
              <a:buSzPts val="1400"/>
              <a:buFont typeface="Calibri"/>
              <a:buNone/>
              <a:defRPr b="0" i="0" sz="1684" u="none" cap="none" strike="noStrike">
                <a:solidFill>
                  <a:srgbClr val="888888"/>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9pPr>
          </a:lstStyle>
          <a:p/>
        </p:txBody>
      </p:sp>
      <p:sp>
        <p:nvSpPr>
          <p:cNvPr id="13" name="Google Shape;13;p3"/>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Clr>
                <a:srgbClr val="888888"/>
              </a:buClr>
              <a:buSzPts val="1400"/>
              <a:buFont typeface="Calibri"/>
              <a:buNone/>
              <a:defRPr b="0" i="0" sz="1684" u="none" cap="none" strike="noStrike">
                <a:solidFill>
                  <a:srgbClr val="888888"/>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9pPr>
          </a:lstStyle>
          <a:p/>
        </p:txBody>
      </p:sp>
      <p:sp>
        <p:nvSpPr>
          <p:cNvPr id="14" name="Google Shape;14;p3"/>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7" name="Shape 37"/>
        <p:cNvGrpSpPr/>
        <p:nvPr/>
      </p:nvGrpSpPr>
      <p:grpSpPr>
        <a:xfrm>
          <a:off x="0" y="0"/>
          <a:ext cx="0" cy="0"/>
          <a:chOff x="0" y="0"/>
          <a:chExt cx="0" cy="0"/>
        </a:xfrm>
      </p:grpSpPr>
      <p:sp>
        <p:nvSpPr>
          <p:cNvPr id="38" name="Google Shape;38;p5"/>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28"/>
              <a:buFont typeface="Calibri"/>
              <a:buNone/>
              <a:defRPr b="0" i="0" sz="4028"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5"/>
          <p:cNvSpPr txBox="1"/>
          <p:nvPr>
            <p:ph idx="1" type="body"/>
          </p:nvPr>
        </p:nvSpPr>
        <p:spPr>
          <a:xfrm>
            <a:off x="838201" y="1825626"/>
            <a:ext cx="10515600" cy="4351338"/>
          </a:xfrm>
          <a:prstGeom prst="rect">
            <a:avLst/>
          </a:prstGeom>
          <a:noFill/>
          <a:ln>
            <a:noFill/>
          </a:ln>
        </p:spPr>
        <p:txBody>
          <a:bodyPr anchorCtr="0" anchor="t" bIns="45700" lIns="91425" spcFirstLastPara="1" rIns="91425" wrap="square" tIns="45700">
            <a:normAutofit/>
          </a:bodyPr>
          <a:lstStyle>
            <a:lvl1pPr indent="-391350" lvl="0" marL="457200" marR="0" rtl="0" algn="l">
              <a:lnSpc>
                <a:spcPct val="90000"/>
              </a:lnSpc>
              <a:spcBef>
                <a:spcPts val="916"/>
              </a:spcBef>
              <a:spcAft>
                <a:spcPts val="0"/>
              </a:spcAft>
              <a:buClr>
                <a:schemeClr val="dk1"/>
              </a:buClr>
              <a:buSzPts val="2563"/>
              <a:buFont typeface="Arial"/>
              <a:buChar char="•"/>
              <a:defRPr b="0" i="0" sz="2563" u="none" cap="none" strike="noStrike">
                <a:solidFill>
                  <a:schemeClr val="dk1"/>
                </a:solidFill>
                <a:latin typeface="Calibri"/>
                <a:ea typeface="Calibri"/>
                <a:cs typeface="Calibri"/>
                <a:sym typeface="Calibri"/>
              </a:defRPr>
            </a:lvl1pPr>
            <a:lvl2pPr indent="-368110" lvl="1" marL="914400" marR="0" rtl="0" algn="l">
              <a:lnSpc>
                <a:spcPct val="90000"/>
              </a:lnSpc>
              <a:spcBef>
                <a:spcPts val="458"/>
              </a:spcBef>
              <a:spcAft>
                <a:spcPts val="0"/>
              </a:spcAft>
              <a:buClr>
                <a:schemeClr val="dk1"/>
              </a:buClr>
              <a:buSzPts val="2197"/>
              <a:buFont typeface="Arial"/>
              <a:buChar char="•"/>
              <a:defRPr b="0" i="0" sz="2197" u="none" cap="none" strike="noStrike">
                <a:solidFill>
                  <a:schemeClr val="dk1"/>
                </a:solidFill>
                <a:latin typeface="Calibri"/>
                <a:ea typeface="Calibri"/>
                <a:cs typeface="Calibri"/>
                <a:sym typeface="Calibri"/>
              </a:defRPr>
            </a:lvl2pPr>
            <a:lvl3pPr indent="-344868" lvl="2" marL="1371600" marR="0" rtl="0" algn="l">
              <a:lnSpc>
                <a:spcPct val="90000"/>
              </a:lnSpc>
              <a:spcBef>
                <a:spcPts val="458"/>
              </a:spcBef>
              <a:spcAft>
                <a:spcPts val="0"/>
              </a:spcAft>
              <a:buClr>
                <a:schemeClr val="dk1"/>
              </a:buClr>
              <a:buSzPts val="1831"/>
              <a:buFont typeface="Arial"/>
              <a:buChar char="•"/>
              <a:defRPr b="0" i="0" sz="1831" u="none" cap="none" strike="noStrike">
                <a:solidFill>
                  <a:schemeClr val="dk1"/>
                </a:solidFill>
                <a:latin typeface="Calibri"/>
                <a:ea typeface="Calibri"/>
                <a:cs typeface="Calibri"/>
                <a:sym typeface="Calibri"/>
              </a:defRPr>
            </a:lvl3pPr>
            <a:lvl4pPr indent="-333185" lvl="3" marL="18288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4pPr>
            <a:lvl5pPr indent="-333185" lvl="4" marL="22860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5pPr>
            <a:lvl6pPr indent="-333185" lvl="5" marL="27432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6pPr>
            <a:lvl7pPr indent="-333185" lvl="6" marL="32004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7pPr>
            <a:lvl8pPr indent="-333184" lvl="7" marL="36576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8pPr>
            <a:lvl9pPr indent="-333184" lvl="8" marL="41148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9pPr>
          </a:lstStyle>
          <a:p/>
        </p:txBody>
      </p:sp>
      <p:sp>
        <p:nvSpPr>
          <p:cNvPr id="40" name="Google Shape;40;p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5"/>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98" u="none" cap="none" strike="noStrike">
                <a:solidFill>
                  <a:srgbClr val="888888"/>
                </a:solidFill>
                <a:latin typeface="Calibri"/>
                <a:ea typeface="Calibri"/>
                <a:cs typeface="Calibri"/>
                <a:sym typeface="Calibri"/>
              </a:defRPr>
            </a:lvl1pPr>
            <a:lvl2pPr indent="0" lvl="1" marL="0" marR="0" rtl="0" algn="r">
              <a:spcBef>
                <a:spcPts val="0"/>
              </a:spcBef>
              <a:buNone/>
              <a:defRPr b="0" i="0" sz="1098" u="none" cap="none" strike="noStrike">
                <a:solidFill>
                  <a:srgbClr val="888888"/>
                </a:solidFill>
                <a:latin typeface="Calibri"/>
                <a:ea typeface="Calibri"/>
                <a:cs typeface="Calibri"/>
                <a:sym typeface="Calibri"/>
              </a:defRPr>
            </a:lvl2pPr>
            <a:lvl3pPr indent="0" lvl="2" marL="0" marR="0" rtl="0" algn="r">
              <a:spcBef>
                <a:spcPts val="0"/>
              </a:spcBef>
              <a:buNone/>
              <a:defRPr b="0" i="0" sz="1098" u="none" cap="none" strike="noStrike">
                <a:solidFill>
                  <a:srgbClr val="888888"/>
                </a:solidFill>
                <a:latin typeface="Calibri"/>
                <a:ea typeface="Calibri"/>
                <a:cs typeface="Calibri"/>
                <a:sym typeface="Calibri"/>
              </a:defRPr>
            </a:lvl3pPr>
            <a:lvl4pPr indent="0" lvl="3" marL="0" marR="0" rtl="0" algn="r">
              <a:spcBef>
                <a:spcPts val="0"/>
              </a:spcBef>
              <a:buNone/>
              <a:defRPr b="0" i="0" sz="1098" u="none" cap="none" strike="noStrike">
                <a:solidFill>
                  <a:srgbClr val="888888"/>
                </a:solidFill>
                <a:latin typeface="Calibri"/>
                <a:ea typeface="Calibri"/>
                <a:cs typeface="Calibri"/>
                <a:sym typeface="Calibri"/>
              </a:defRPr>
            </a:lvl4pPr>
            <a:lvl5pPr indent="0" lvl="4" marL="0" marR="0" rtl="0" algn="r">
              <a:spcBef>
                <a:spcPts val="0"/>
              </a:spcBef>
              <a:buNone/>
              <a:defRPr b="0" i="0" sz="1098" u="none" cap="none" strike="noStrike">
                <a:solidFill>
                  <a:srgbClr val="888888"/>
                </a:solidFill>
                <a:latin typeface="Calibri"/>
                <a:ea typeface="Calibri"/>
                <a:cs typeface="Calibri"/>
                <a:sym typeface="Calibri"/>
              </a:defRPr>
            </a:lvl5pPr>
            <a:lvl6pPr indent="0" lvl="5" marL="0" marR="0" rtl="0" algn="r">
              <a:spcBef>
                <a:spcPts val="0"/>
              </a:spcBef>
              <a:buNone/>
              <a:defRPr b="0" i="0" sz="1098" u="none" cap="none" strike="noStrike">
                <a:solidFill>
                  <a:srgbClr val="888888"/>
                </a:solidFill>
                <a:latin typeface="Calibri"/>
                <a:ea typeface="Calibri"/>
                <a:cs typeface="Calibri"/>
                <a:sym typeface="Calibri"/>
              </a:defRPr>
            </a:lvl6pPr>
            <a:lvl7pPr indent="0" lvl="6" marL="0" marR="0" rtl="0" algn="r">
              <a:spcBef>
                <a:spcPts val="0"/>
              </a:spcBef>
              <a:buNone/>
              <a:defRPr b="0" i="0" sz="1098" u="none" cap="none" strike="noStrike">
                <a:solidFill>
                  <a:srgbClr val="888888"/>
                </a:solidFill>
                <a:latin typeface="Calibri"/>
                <a:ea typeface="Calibri"/>
                <a:cs typeface="Calibri"/>
                <a:sym typeface="Calibri"/>
              </a:defRPr>
            </a:lvl7pPr>
            <a:lvl8pPr indent="0" lvl="7" marL="0" marR="0" rtl="0" algn="r">
              <a:spcBef>
                <a:spcPts val="0"/>
              </a:spcBef>
              <a:buNone/>
              <a:defRPr b="0" i="0" sz="1098" u="none" cap="none" strike="noStrike">
                <a:solidFill>
                  <a:srgbClr val="888888"/>
                </a:solidFill>
                <a:latin typeface="Calibri"/>
                <a:ea typeface="Calibri"/>
                <a:cs typeface="Calibri"/>
                <a:sym typeface="Calibri"/>
              </a:defRPr>
            </a:lvl8pPr>
            <a:lvl9pPr indent="0" lvl="8" marL="0" marR="0" rtl="0" algn="r">
              <a:spcBef>
                <a:spcPts val="0"/>
              </a:spcBef>
              <a:buNone/>
              <a:defRPr b="0" i="0" sz="1098"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6" name="Shape 116"/>
        <p:cNvGrpSpPr/>
        <p:nvPr/>
      </p:nvGrpSpPr>
      <p:grpSpPr>
        <a:xfrm>
          <a:off x="0" y="0"/>
          <a:ext cx="0" cy="0"/>
          <a:chOff x="0" y="0"/>
          <a:chExt cx="0" cy="0"/>
        </a:xfrm>
      </p:grpSpPr>
      <p:sp>
        <p:nvSpPr>
          <p:cNvPr id="117" name="Google Shape;117;h7c373c2e280f5525_0_115"/>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028"/>
              <a:buFont typeface="Calibri"/>
              <a:buNone/>
              <a:defRPr b="0" i="0" sz="4028"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8" name="Google Shape;118;h7c373c2e280f5525_0_115"/>
          <p:cNvSpPr txBox="1"/>
          <p:nvPr>
            <p:ph idx="1" type="body"/>
          </p:nvPr>
        </p:nvSpPr>
        <p:spPr>
          <a:xfrm>
            <a:off x="838201" y="1825626"/>
            <a:ext cx="10515600" cy="4351200"/>
          </a:xfrm>
          <a:prstGeom prst="rect">
            <a:avLst/>
          </a:prstGeom>
          <a:noFill/>
          <a:ln>
            <a:noFill/>
          </a:ln>
        </p:spPr>
        <p:txBody>
          <a:bodyPr anchorCtr="0" anchor="t" bIns="45700" lIns="91425" spcFirstLastPara="1" rIns="91425" wrap="square" tIns="45700">
            <a:normAutofit/>
          </a:bodyPr>
          <a:lstStyle>
            <a:lvl1pPr indent="-391350" lvl="0" marL="457200" marR="0" algn="l">
              <a:lnSpc>
                <a:spcPct val="90000"/>
              </a:lnSpc>
              <a:spcBef>
                <a:spcPts val="916"/>
              </a:spcBef>
              <a:spcAft>
                <a:spcPts val="0"/>
              </a:spcAft>
              <a:buClr>
                <a:schemeClr val="dk1"/>
              </a:buClr>
              <a:buSzPts val="2563"/>
              <a:buFont typeface="Arial"/>
              <a:buChar char="•"/>
              <a:defRPr b="0" i="0" sz="2563" u="none" cap="none" strike="noStrike">
                <a:solidFill>
                  <a:schemeClr val="dk1"/>
                </a:solidFill>
                <a:latin typeface="Calibri"/>
                <a:ea typeface="Calibri"/>
                <a:cs typeface="Calibri"/>
                <a:sym typeface="Calibri"/>
              </a:defRPr>
            </a:lvl1pPr>
            <a:lvl2pPr indent="-368110" lvl="1" marL="914400" marR="0" algn="l">
              <a:lnSpc>
                <a:spcPct val="90000"/>
              </a:lnSpc>
              <a:spcBef>
                <a:spcPts val="458"/>
              </a:spcBef>
              <a:spcAft>
                <a:spcPts val="0"/>
              </a:spcAft>
              <a:buClr>
                <a:schemeClr val="dk1"/>
              </a:buClr>
              <a:buSzPts val="2197"/>
              <a:buFont typeface="Arial"/>
              <a:buChar char="•"/>
              <a:defRPr b="0" i="0" sz="2197" u="none" cap="none" strike="noStrike">
                <a:solidFill>
                  <a:schemeClr val="dk1"/>
                </a:solidFill>
                <a:latin typeface="Calibri"/>
                <a:ea typeface="Calibri"/>
                <a:cs typeface="Calibri"/>
                <a:sym typeface="Calibri"/>
              </a:defRPr>
            </a:lvl2pPr>
            <a:lvl3pPr indent="-344868" lvl="2" marL="1371600" marR="0" algn="l">
              <a:lnSpc>
                <a:spcPct val="90000"/>
              </a:lnSpc>
              <a:spcBef>
                <a:spcPts val="458"/>
              </a:spcBef>
              <a:spcAft>
                <a:spcPts val="0"/>
              </a:spcAft>
              <a:buClr>
                <a:schemeClr val="dk1"/>
              </a:buClr>
              <a:buSzPts val="1831"/>
              <a:buFont typeface="Arial"/>
              <a:buChar char="•"/>
              <a:defRPr b="0" i="0" sz="1831" u="none" cap="none" strike="noStrike">
                <a:solidFill>
                  <a:schemeClr val="dk1"/>
                </a:solidFill>
                <a:latin typeface="Calibri"/>
                <a:ea typeface="Calibri"/>
                <a:cs typeface="Calibri"/>
                <a:sym typeface="Calibri"/>
              </a:defRPr>
            </a:lvl3pPr>
            <a:lvl4pPr indent="-333185" lvl="3" marL="18288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4pPr>
            <a:lvl5pPr indent="-333185" lvl="4" marL="22860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5pPr>
            <a:lvl6pPr indent="-333185" lvl="5" marL="27432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6pPr>
            <a:lvl7pPr indent="-333185" lvl="6" marL="32004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7pPr>
            <a:lvl8pPr indent="-333184" lvl="7" marL="36576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8pPr>
            <a:lvl9pPr indent="-333184" lvl="8" marL="41148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9pPr>
          </a:lstStyle>
          <a:p/>
        </p:txBody>
      </p:sp>
      <p:sp>
        <p:nvSpPr>
          <p:cNvPr id="119" name="Google Shape;119;h7c373c2e280f5525_0_115"/>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0" name="Google Shape;120;h7c373c2e280f5525_0_115"/>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1" name="Google Shape;121;h7c373c2e280f5525_0_115"/>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098" u="none" cap="none" strike="noStrike">
                <a:solidFill>
                  <a:srgbClr val="888888"/>
                </a:solidFill>
                <a:latin typeface="Calibri"/>
                <a:ea typeface="Calibri"/>
                <a:cs typeface="Calibri"/>
                <a:sym typeface="Calibri"/>
              </a:defRPr>
            </a:lvl1pPr>
            <a:lvl2pPr indent="0" lvl="1" marL="0" marR="0" algn="r">
              <a:spcBef>
                <a:spcPts val="0"/>
              </a:spcBef>
              <a:buNone/>
              <a:defRPr b="0" i="0" sz="1098" u="none" cap="none" strike="noStrike">
                <a:solidFill>
                  <a:srgbClr val="888888"/>
                </a:solidFill>
                <a:latin typeface="Calibri"/>
                <a:ea typeface="Calibri"/>
                <a:cs typeface="Calibri"/>
                <a:sym typeface="Calibri"/>
              </a:defRPr>
            </a:lvl2pPr>
            <a:lvl3pPr indent="0" lvl="2" marL="0" marR="0" algn="r">
              <a:spcBef>
                <a:spcPts val="0"/>
              </a:spcBef>
              <a:buNone/>
              <a:defRPr b="0" i="0" sz="1098" u="none" cap="none" strike="noStrike">
                <a:solidFill>
                  <a:srgbClr val="888888"/>
                </a:solidFill>
                <a:latin typeface="Calibri"/>
                <a:ea typeface="Calibri"/>
                <a:cs typeface="Calibri"/>
                <a:sym typeface="Calibri"/>
              </a:defRPr>
            </a:lvl3pPr>
            <a:lvl4pPr indent="0" lvl="3" marL="0" marR="0" algn="r">
              <a:spcBef>
                <a:spcPts val="0"/>
              </a:spcBef>
              <a:buNone/>
              <a:defRPr b="0" i="0" sz="1098" u="none" cap="none" strike="noStrike">
                <a:solidFill>
                  <a:srgbClr val="888888"/>
                </a:solidFill>
                <a:latin typeface="Calibri"/>
                <a:ea typeface="Calibri"/>
                <a:cs typeface="Calibri"/>
                <a:sym typeface="Calibri"/>
              </a:defRPr>
            </a:lvl4pPr>
            <a:lvl5pPr indent="0" lvl="4" marL="0" marR="0" algn="r">
              <a:spcBef>
                <a:spcPts val="0"/>
              </a:spcBef>
              <a:buNone/>
              <a:defRPr b="0" i="0" sz="1098" u="none" cap="none" strike="noStrike">
                <a:solidFill>
                  <a:srgbClr val="888888"/>
                </a:solidFill>
                <a:latin typeface="Calibri"/>
                <a:ea typeface="Calibri"/>
                <a:cs typeface="Calibri"/>
                <a:sym typeface="Calibri"/>
              </a:defRPr>
            </a:lvl5pPr>
            <a:lvl6pPr indent="0" lvl="5" marL="0" marR="0" algn="r">
              <a:spcBef>
                <a:spcPts val="0"/>
              </a:spcBef>
              <a:buNone/>
              <a:defRPr b="0" i="0" sz="1098" u="none" cap="none" strike="noStrike">
                <a:solidFill>
                  <a:srgbClr val="888888"/>
                </a:solidFill>
                <a:latin typeface="Calibri"/>
                <a:ea typeface="Calibri"/>
                <a:cs typeface="Calibri"/>
                <a:sym typeface="Calibri"/>
              </a:defRPr>
            </a:lvl6pPr>
            <a:lvl7pPr indent="0" lvl="6" marL="0" marR="0" algn="r">
              <a:spcBef>
                <a:spcPts val="0"/>
              </a:spcBef>
              <a:buNone/>
              <a:defRPr b="0" i="0" sz="1098" u="none" cap="none" strike="noStrike">
                <a:solidFill>
                  <a:srgbClr val="888888"/>
                </a:solidFill>
                <a:latin typeface="Calibri"/>
                <a:ea typeface="Calibri"/>
                <a:cs typeface="Calibri"/>
                <a:sym typeface="Calibri"/>
              </a:defRPr>
            </a:lvl7pPr>
            <a:lvl8pPr indent="0" lvl="7" marL="0" marR="0" algn="r">
              <a:spcBef>
                <a:spcPts val="0"/>
              </a:spcBef>
              <a:buNone/>
              <a:defRPr b="0" i="0" sz="1098" u="none" cap="none" strike="noStrike">
                <a:solidFill>
                  <a:srgbClr val="888888"/>
                </a:solidFill>
                <a:latin typeface="Calibri"/>
                <a:ea typeface="Calibri"/>
                <a:cs typeface="Calibri"/>
                <a:sym typeface="Calibri"/>
              </a:defRPr>
            </a:lvl8pPr>
            <a:lvl9pPr indent="0" lvl="8" marL="0" marR="0" algn="r">
              <a:spcBef>
                <a:spcPts val="0"/>
              </a:spcBef>
              <a:buNone/>
              <a:defRPr b="0" i="0" sz="1098"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1"/>
          <p:cNvSpPr/>
          <p:nvPr/>
        </p:nvSpPr>
        <p:spPr>
          <a:xfrm>
            <a:off x="1274842" y="1091409"/>
            <a:ext cx="9384961" cy="664626"/>
          </a:xfrm>
          <a:prstGeom prst="rect">
            <a:avLst/>
          </a:prstGeom>
          <a:noFill/>
          <a:ln>
            <a:noFill/>
          </a:ln>
        </p:spPr>
        <p:txBody>
          <a:bodyPr anchorCtr="0" anchor="t" bIns="42725" lIns="85500" spcFirstLastPara="1" rIns="85500" wrap="square" tIns="42725">
            <a:spAutoFit/>
          </a:bodyPr>
          <a:lstStyle/>
          <a:p>
            <a:pPr indent="0" lvl="0" marL="0" marR="0" rtl="0" algn="l">
              <a:lnSpc>
                <a:spcPct val="100000"/>
              </a:lnSpc>
              <a:spcBef>
                <a:spcPts val="0"/>
              </a:spcBef>
              <a:spcAft>
                <a:spcPts val="0"/>
              </a:spcAft>
              <a:buClr>
                <a:srgbClr val="000000"/>
              </a:buClr>
              <a:buSzPts val="3678"/>
              <a:buFont typeface="Calibri"/>
              <a:buNone/>
            </a:pPr>
            <a:r>
              <a:rPr b="1" i="0" lang="en-US" sz="2400" u="none" cap="none" strike="noStrike">
                <a:solidFill>
                  <a:srgbClr val="FFFFFF"/>
                </a:solidFill>
                <a:latin typeface="Calibri"/>
                <a:ea typeface="Calibri"/>
                <a:cs typeface="Calibri"/>
                <a:sym typeface="Calibri"/>
              </a:rPr>
              <a:t>College of Engineering and Computer Science</a:t>
            </a:r>
            <a:endParaRPr b="0" i="0" sz="1124" u="none" cap="none" strike="noStrike">
              <a:solidFill>
                <a:srgbClr val="000000"/>
              </a:solidFill>
              <a:latin typeface="Arial"/>
              <a:ea typeface="Arial"/>
              <a:cs typeface="Arial"/>
              <a:sym typeface="Arial"/>
            </a:endParaRPr>
          </a:p>
        </p:txBody>
      </p:sp>
      <p:sp>
        <p:nvSpPr>
          <p:cNvPr id="196" name="Google Shape;196;p1"/>
          <p:cNvSpPr/>
          <p:nvPr/>
        </p:nvSpPr>
        <p:spPr>
          <a:xfrm>
            <a:off x="1402110" y="3816800"/>
            <a:ext cx="2211449" cy="615751"/>
          </a:xfrm>
          <a:prstGeom prst="rect">
            <a:avLst/>
          </a:prstGeom>
          <a:noFill/>
          <a:ln>
            <a:noFill/>
          </a:ln>
        </p:spPr>
        <p:txBody>
          <a:bodyPr anchorCtr="0" anchor="t" bIns="42725" lIns="85500" spcFirstLastPara="1" rIns="85500" wrap="square" tIns="42725">
            <a:spAutoFit/>
          </a:bodyPr>
          <a:lstStyle/>
          <a:p>
            <a:pPr indent="0" lvl="0" marL="0" marR="0" rtl="0" algn="l">
              <a:lnSpc>
                <a:spcPct val="100000"/>
              </a:lnSpc>
              <a:spcBef>
                <a:spcPts val="0"/>
              </a:spcBef>
              <a:spcAft>
                <a:spcPts val="0"/>
              </a:spcAft>
              <a:buClr>
                <a:srgbClr val="000000"/>
              </a:buClr>
              <a:buSzPts val="3366"/>
              <a:buFont typeface="Calibri"/>
              <a:buNone/>
            </a:pPr>
            <a:r>
              <a:rPr sz="2800" b="1">
                <a:solidFill>
                  <a:srgbClr val="FFFFFF"/>
                </a:solidFill>
                <a:latin typeface="Arial"/>
              </a:rPr>
              <a:t>CH. 02</a:t>
            </a:r>
            <a:endParaRPr b="0" i="0" sz="1310" u="none" cap="none" strike="noStrike">
              <a:solidFill>
                <a:srgbClr val="000000"/>
              </a:solidFill>
              <a:latin typeface="Arial"/>
              <a:ea typeface="Arial"/>
              <a:cs typeface="Arial"/>
              <a:sym typeface="Arial"/>
            </a:endParaRPr>
          </a:p>
        </p:txBody>
      </p:sp>
      <p:sp>
        <p:nvSpPr>
          <p:cNvPr id="197" name="Google Shape;197;p1"/>
          <p:cNvSpPr/>
          <p:nvPr/>
        </p:nvSpPr>
        <p:spPr>
          <a:xfrm>
            <a:off x="1402110" y="2158446"/>
            <a:ext cx="6400800" cy="1601558"/>
          </a:xfrm>
          <a:prstGeom prst="rect">
            <a:avLst/>
          </a:prstGeom>
          <a:solidFill>
            <a:srgbClr val="C62027"/>
          </a:solidFill>
          <a:ln>
            <a:noFill/>
          </a:ln>
          <a:effectLst>
            <a:outerShdw blurRad="50800" rotWithShape="0" algn="tl" dir="2700000" dist="38100">
              <a:srgbClr val="000000">
                <a:alpha val="40000"/>
              </a:srgbClr>
            </a:outerShdw>
          </a:effectLst>
        </p:spPr>
        <p:txBody>
          <a:bodyPr anchorCtr="0" anchor="ctr" bIns="42725" lIns="85500" spcFirstLastPara="1" rIns="85500" wrap="square" tIns="42725">
            <a:noAutofit/>
          </a:bodyPr>
          <a:lstStyle/>
          <a:p>
            <a:pPr indent="0" lvl="0" marL="0" marR="0" rtl="0" algn="ctr">
              <a:lnSpc>
                <a:spcPct val="100000"/>
              </a:lnSpc>
              <a:spcBef>
                <a:spcPts val="0"/>
              </a:spcBef>
              <a:spcAft>
                <a:spcPts val="0"/>
              </a:spcAft>
              <a:buClr>
                <a:srgbClr val="000000"/>
              </a:buClr>
              <a:buSzPts val="1684"/>
              <a:buFont typeface="Arial"/>
              <a:buNone/>
            </a:pPr>
            <a:r>
              <a:t/>
            </a:r>
            <a:endParaRPr b="0" i="0" sz="1684" u="none" cap="none" strike="noStrike">
              <a:solidFill>
                <a:srgbClr val="FFFFFF"/>
              </a:solidFill>
              <a:latin typeface="Calibri"/>
              <a:ea typeface="Calibri"/>
              <a:cs typeface="Calibri"/>
              <a:sym typeface="Calibri"/>
            </a:endParaRPr>
          </a:p>
        </p:txBody>
      </p:sp>
      <p:sp>
        <p:nvSpPr>
          <p:cNvPr id="198" name="Google Shape;198;p1"/>
          <p:cNvSpPr txBox="1"/>
          <p:nvPr/>
        </p:nvSpPr>
        <p:spPr>
          <a:xfrm>
            <a:off x="1399032" y="2157984"/>
            <a:ext cx="5989320" cy="1627632"/>
          </a:xfrm>
          <a:prstGeom prst="rect">
            <a:avLst/>
          </a:prstGeom>
          <a:noFill/>
          <a:ln>
            <a:noFill/>
          </a:ln>
        </p:spPr>
        <p:txBody>
          <a:bodyPr anchorCtr="0" anchor="t" bIns="42725" lIns="45720" spcFirstLastPara="1" rIns="9144" wrap="square" tIns="18288">
            <a:spAutoFit/>
          </a:bodyPr>
          <a:lstStyle/>
          <a:p>
            <a:pPr indent="0" lvl="0" marL="0" marR="0" rtl="0" algn="l">
              <a:lnSpc>
                <a:spcPct val="90000"/>
              </a:lnSpc>
              <a:spcBef>
                <a:spcPts val="0"/>
              </a:spcBef>
              <a:spcAft>
                <a:spcPts val="100"/>
              </a:spcAft>
              <a:buClr>
                <a:srgbClr val="FFFFFF"/>
              </a:buClr>
              <a:buSzPts val="2800"/>
              <a:buFont typeface="Calibri"/>
              <a:buNone/>
            </a:pPr>
            <a:r>
              <a:rPr b="1" sz="2200">
                <a:solidFill>
                  <a:srgbClr val="FFFFFF"/>
                </a:solidFill>
                <a:latin typeface="Arial"/>
              </a:rPr>
              <a:t>Advanced Software Engineering</a:t>
            </a:r>
            <a:endParaRPr/>
          </a:p>
          <a:p>
            <a:pPr>
              <a:spcBef>
                <a:spcPts val="0"/>
              </a:spcBef>
              <a:spcAft>
                <a:spcPts val="100"/>
              </a:spcAft>
            </a:pPr>
            <a:r>
              <a:rPr b="1" sz="2200">
                <a:solidFill>
                  <a:srgbClr val="FFFFFF"/>
                </a:solidFill>
                <a:latin typeface="Arial"/>
              </a:rPr>
              <a:t>Requirements Engineering</a:t>
            </a:r>
          </a:p>
          <a:p>
            <a:pPr>
              <a:spcBef>
                <a:spcPts val="0"/>
              </a:spcBef>
              <a:spcAft>
                <a:spcPts val="100"/>
              </a:spcAft>
            </a:pPr>
            <a:r>
              <a:rPr b="1" sz="1900">
                <a:solidFill>
                  <a:srgbClr val="FFFFFF"/>
                </a:solidFill>
                <a:latin typeface="Arial"/>
              </a:rPr>
              <a:t>&amp; Specification  |  Sections 2.1–2.3</a:t>
            </a:r>
          </a:p>
        </p:txBody>
      </p:sp>
      <p:sp>
        <p:nvSpPr>
          <p:cNvPr id="199" name="Google Shape;199;p1"/>
          <p:cNvSpPr/>
          <p:nvPr/>
        </p:nvSpPr>
        <p:spPr>
          <a:xfrm>
            <a:off x="1402110" y="3857670"/>
            <a:ext cx="2373731" cy="518085"/>
          </a:xfrm>
          <a:prstGeom prst="rect">
            <a:avLst/>
          </a:prstGeom>
          <a:noFill/>
          <a:ln cap="flat" cmpd="sng" w="3810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2725" lIns="85500" spcFirstLastPara="1" rIns="85500" wrap="square" tIns="42725">
            <a:noAutofit/>
          </a:bodyPr>
          <a:lstStyle/>
          <a:p>
            <a:pPr indent="0" lvl="0" marL="0" marR="0" rtl="0" algn="ctr">
              <a:lnSpc>
                <a:spcPct val="100000"/>
              </a:lnSpc>
              <a:spcBef>
                <a:spcPts val="0"/>
              </a:spcBef>
              <a:spcAft>
                <a:spcPts val="0"/>
              </a:spcAft>
              <a:buClr>
                <a:srgbClr val="000000"/>
              </a:buClr>
              <a:buSzPts val="1684"/>
              <a:buFont typeface="Arial"/>
              <a:buNone/>
            </a:pPr>
            <a:r>
              <a:t/>
            </a:r>
            <a:endParaRPr b="0" i="0" sz="1684"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Why do requirements matter?</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Building the wrong thing is still a failure.</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02 / 20</a:t>
            </a:r>
          </a:p>
        </p:txBody>
      </p:sp>
      <p:sp>
        <p:nvSpPr>
          <p:cNvPr id="9" name="Rounded Rectangle 8"/>
          <p:cNvSpPr/>
          <p:nvPr/>
        </p:nvSpPr>
        <p:spPr>
          <a:xfrm>
            <a:off x="809244" y="1897380"/>
            <a:ext cx="5138928" cy="325526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1847088"/>
            <a:ext cx="5138928" cy="3255264"/>
          </a:xfrm>
          <a:prstGeom prst="roundRect">
            <a:avLst>
              <a:gd name="adj" fmla="val 13000"/>
            </a:avLst>
          </a:prstGeom>
          <a:solidFill>
            <a:srgbClr val="FBE7E9"/>
          </a:solidFill>
          <a:ln w="12700">
            <a:solidFill>
              <a:srgbClr val="EC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40780" y="1897380"/>
            <a:ext cx="5138928" cy="325526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847088"/>
            <a:ext cx="5138928" cy="3255264"/>
          </a:xfrm>
          <a:prstGeom prst="roundRect">
            <a:avLst>
              <a:gd name="adj" fmla="val 13000"/>
            </a:avLst>
          </a:prstGeom>
          <a:solidFill>
            <a:srgbClr val="E6F3EC"/>
          </a:solidFill>
          <a:ln w="12700">
            <a:solidFill>
              <a:srgbClr val="D6E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51560" y="2185416"/>
            <a:ext cx="576072" cy="57607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185416"/>
            <a:ext cx="576072" cy="576072"/>
          </a:xfrm>
          <a:prstGeom prst="rect">
            <a:avLst/>
          </a:prstGeom>
          <a:noFill/>
        </p:spPr>
        <p:txBody>
          <a:bodyPr wrap="square" lIns="9144" rIns="9144" tIns="9144" bIns="9144" anchor="ctr">
            <a:spAutoFit/>
          </a:bodyPr>
          <a:lstStyle/>
          <a:p>
            <a:pPr algn="ctr">
              <a:spcBef>
                <a:spcPts val="0"/>
              </a:spcBef>
              <a:spcAft>
                <a:spcPts val="0"/>
              </a:spcAft>
            </a:pPr>
            <a:r>
              <a:rPr sz="2300" b="1" i="0">
                <a:solidFill>
                  <a:srgbClr val="FFFFFF"/>
                </a:solidFill>
                <a:latin typeface="Arial"/>
              </a:rPr>
              <a:t>×</a:t>
            </a:r>
          </a:p>
        </p:txBody>
      </p:sp>
      <p:sp>
        <p:nvSpPr>
          <p:cNvPr id="15" name="Oval 14"/>
          <p:cNvSpPr/>
          <p:nvPr/>
        </p:nvSpPr>
        <p:spPr>
          <a:xfrm>
            <a:off x="6483096" y="2185416"/>
            <a:ext cx="576072" cy="576072"/>
          </a:xfrm>
          <a:prstGeom prst="ellipse">
            <a:avLst/>
          </a:prstGeom>
          <a:solidFill>
            <a:srgbClr val="21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3096" y="2185416"/>
            <a:ext cx="576072" cy="576072"/>
          </a:xfrm>
          <a:prstGeom prst="rect">
            <a:avLst/>
          </a:prstGeom>
          <a:noFill/>
        </p:spPr>
        <p:txBody>
          <a:bodyPr wrap="square" lIns="9144" rIns="9144" tIns="9144" bIns="9144" anchor="ctr">
            <a:spAutoFit/>
          </a:bodyPr>
          <a:lstStyle/>
          <a:p>
            <a:pPr algn="ctr">
              <a:spcBef>
                <a:spcPts val="0"/>
              </a:spcBef>
              <a:spcAft>
                <a:spcPts val="0"/>
              </a:spcAft>
            </a:pPr>
            <a:r>
              <a:rPr sz="2100" b="1" i="0">
                <a:solidFill>
                  <a:srgbClr val="FFFFFF"/>
                </a:solidFill>
                <a:latin typeface="Arial"/>
              </a:rPr>
              <a:t>✓</a:t>
            </a:r>
          </a:p>
        </p:txBody>
      </p:sp>
      <p:sp>
        <p:nvSpPr>
          <p:cNvPr id="17" name="TextBox 16"/>
          <p:cNvSpPr txBox="1"/>
          <p:nvPr/>
        </p:nvSpPr>
        <p:spPr>
          <a:xfrm>
            <a:off x="1078992" y="2889504"/>
            <a:ext cx="4526280" cy="338328"/>
          </a:xfrm>
          <a:prstGeom prst="rect">
            <a:avLst/>
          </a:prstGeom>
          <a:noFill/>
        </p:spPr>
        <p:txBody>
          <a:bodyPr wrap="square" lIns="9144" rIns="9144" tIns="9144" bIns="9144" anchor="ctr">
            <a:spAutoFit/>
          </a:bodyPr>
          <a:lstStyle/>
          <a:p>
            <a:pPr algn="l">
              <a:spcBef>
                <a:spcPts val="0"/>
              </a:spcBef>
              <a:spcAft>
                <a:spcPts val="0"/>
              </a:spcAft>
            </a:pPr>
            <a:r>
              <a:rPr sz="1900" b="1" i="0">
                <a:solidFill>
                  <a:srgbClr val="CE1C29"/>
                </a:solidFill>
                <a:latin typeface="Arial"/>
              </a:rPr>
              <a:t>BUILD THE WRONG THING</a:t>
            </a:r>
          </a:p>
        </p:txBody>
      </p:sp>
      <p:sp>
        <p:nvSpPr>
          <p:cNvPr id="18" name="TextBox 17"/>
          <p:cNvSpPr txBox="1"/>
          <p:nvPr/>
        </p:nvSpPr>
        <p:spPr>
          <a:xfrm>
            <a:off x="1078992" y="3392424"/>
            <a:ext cx="4297680" cy="859536"/>
          </a:xfrm>
          <a:prstGeom prst="rect">
            <a:avLst/>
          </a:prstGeom>
          <a:noFill/>
        </p:spPr>
        <p:txBody>
          <a:bodyPr wrap="square" lIns="9144" rIns="9144" tIns="9144" bIns="9144" anchor="ctr">
            <a:spAutoFit/>
          </a:bodyPr>
          <a:lstStyle/>
          <a:p>
            <a:pPr algn="l">
              <a:spcBef>
                <a:spcPts val="0"/>
              </a:spcBef>
              <a:spcAft>
                <a:spcPts val="0"/>
              </a:spcAft>
            </a:pPr>
            <a:r>
              <a:rPr sz="1800" b="0" i="0">
                <a:solidFill>
                  <a:srgbClr val="233039"/>
                </a:solidFill>
                <a:latin typeface="Arial"/>
              </a:rPr>
              <a:t>Beautiful design</a:t>
            </a:r>
          </a:p>
          <a:p>
            <a:pPr algn="l">
              <a:spcBef>
                <a:spcPts val="0"/>
              </a:spcBef>
              <a:spcAft>
                <a:spcPts val="0"/>
              </a:spcAft>
            </a:pPr>
            <a:r>
              <a:rPr sz="1800" b="0" i="0">
                <a:solidFill>
                  <a:srgbClr val="233039"/>
                </a:solidFill>
                <a:latin typeface="Arial"/>
              </a:rPr>
              <a:t>Lots of extra features</a:t>
            </a:r>
          </a:p>
        </p:txBody>
      </p:sp>
      <p:sp>
        <p:nvSpPr>
          <p:cNvPr id="19" name="TextBox 18"/>
          <p:cNvSpPr txBox="1"/>
          <p:nvPr/>
        </p:nvSpPr>
        <p:spPr>
          <a:xfrm>
            <a:off x="6492240" y="2889504"/>
            <a:ext cx="4526280" cy="338328"/>
          </a:xfrm>
          <a:prstGeom prst="rect">
            <a:avLst/>
          </a:prstGeom>
          <a:noFill/>
        </p:spPr>
        <p:txBody>
          <a:bodyPr wrap="square" lIns="9144" rIns="9144" tIns="9144" bIns="9144" anchor="ctr">
            <a:spAutoFit/>
          </a:bodyPr>
          <a:lstStyle/>
          <a:p>
            <a:pPr algn="l">
              <a:spcBef>
                <a:spcPts val="0"/>
              </a:spcBef>
              <a:spcAft>
                <a:spcPts val="0"/>
              </a:spcAft>
            </a:pPr>
            <a:r>
              <a:rPr sz="1900" b="1" i="0">
                <a:solidFill>
                  <a:srgbClr val="217B57"/>
                </a:solidFill>
                <a:latin typeface="Arial"/>
              </a:rPr>
              <a:t>BUILD THE RIGHT THING</a:t>
            </a:r>
          </a:p>
        </p:txBody>
      </p:sp>
      <p:sp>
        <p:nvSpPr>
          <p:cNvPr id="20" name="TextBox 19"/>
          <p:cNvSpPr txBox="1"/>
          <p:nvPr/>
        </p:nvSpPr>
        <p:spPr>
          <a:xfrm>
            <a:off x="6492240" y="3392424"/>
            <a:ext cx="4297680" cy="859536"/>
          </a:xfrm>
          <a:prstGeom prst="rect">
            <a:avLst/>
          </a:prstGeom>
          <a:noFill/>
        </p:spPr>
        <p:txBody>
          <a:bodyPr wrap="square" lIns="9144" rIns="9144" tIns="9144" bIns="9144" anchor="ctr">
            <a:spAutoFit/>
          </a:bodyPr>
          <a:lstStyle/>
          <a:p>
            <a:pPr algn="l">
              <a:spcBef>
                <a:spcPts val="0"/>
              </a:spcBef>
              <a:spcAft>
                <a:spcPts val="0"/>
              </a:spcAft>
            </a:pPr>
            <a:r>
              <a:rPr sz="1800" b="0" i="0">
                <a:solidFill>
                  <a:srgbClr val="233039"/>
                </a:solidFill>
                <a:latin typeface="Arial"/>
              </a:rPr>
              <a:t>Assign work easily</a:t>
            </a:r>
          </a:p>
          <a:p>
            <a:pPr algn="l">
              <a:spcBef>
                <a:spcPts val="0"/>
              </a:spcBef>
              <a:spcAft>
                <a:spcPts val="0"/>
              </a:spcAft>
            </a:pPr>
            <a:r>
              <a:rPr sz="1800" b="0" i="0">
                <a:solidFill>
                  <a:srgbClr val="233039"/>
                </a:solidFill>
                <a:latin typeface="Arial"/>
              </a:rPr>
              <a:t>See deadlines clearly</a:t>
            </a:r>
          </a:p>
        </p:txBody>
      </p:sp>
      <p:sp>
        <p:nvSpPr>
          <p:cNvPr id="21" name="Rounded Rectangle 20"/>
          <p:cNvSpPr/>
          <p:nvPr/>
        </p:nvSpPr>
        <p:spPr>
          <a:xfrm>
            <a:off x="1508760" y="5431536"/>
            <a:ext cx="9144000" cy="603504"/>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360" y="5559552"/>
            <a:ext cx="8686800" cy="256032"/>
          </a:xfrm>
          <a:prstGeom prst="rect">
            <a:avLst/>
          </a:prstGeom>
          <a:noFill/>
        </p:spPr>
        <p:txBody>
          <a:bodyPr wrap="square" lIns="9144" rIns="9144" tIns="9144" bIns="9144" anchor="ctr">
            <a:spAutoFit/>
          </a:bodyPr>
          <a:lstStyle/>
          <a:p>
            <a:pPr algn="ctr">
              <a:spcBef>
                <a:spcPts val="0"/>
              </a:spcBef>
              <a:spcAft>
                <a:spcPts val="0"/>
              </a:spcAft>
            </a:pPr>
            <a:r>
              <a:rPr sz="1600" b="1" i="0">
                <a:solidFill>
                  <a:srgbClr val="174877"/>
                </a:solidFill>
                <a:latin typeface="Arial"/>
              </a:rPr>
              <a:t>Requirements connect software features to what users actually need.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What is requirements engineering?</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Define, document, and maintain system requirements.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03 / 20</a:t>
            </a:r>
          </a:p>
        </p:txBody>
      </p:sp>
      <p:sp>
        <p:nvSpPr>
          <p:cNvPr id="9" name="Rounded Rectangle 8"/>
          <p:cNvSpPr/>
          <p:nvPr/>
        </p:nvSpPr>
        <p:spPr>
          <a:xfrm>
            <a:off x="818388"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9264" y="2331720"/>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1</a:t>
            </a:r>
          </a:p>
        </p:txBody>
      </p:sp>
      <p:sp>
        <p:nvSpPr>
          <p:cNvPr id="13" name="TextBox 12"/>
          <p:cNvSpPr txBox="1"/>
          <p:nvPr/>
        </p:nvSpPr>
        <p:spPr>
          <a:xfrm>
            <a:off x="950976"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ELICITATION</a:t>
            </a:r>
          </a:p>
        </p:txBody>
      </p:sp>
      <p:sp>
        <p:nvSpPr>
          <p:cNvPr id="14" name="TextBox 13"/>
          <p:cNvSpPr txBox="1"/>
          <p:nvPr/>
        </p:nvSpPr>
        <p:spPr>
          <a:xfrm>
            <a:off x="950976"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Discover stakeholder needs</a:t>
            </a:r>
          </a:p>
        </p:txBody>
      </p:sp>
      <p:sp>
        <p:nvSpPr>
          <p:cNvPr id="15" name="TextBox 14"/>
          <p:cNvSpPr txBox="1"/>
          <p:nvPr/>
        </p:nvSpPr>
        <p:spPr>
          <a:xfrm>
            <a:off x="950976"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What do users need?</a:t>
            </a:r>
          </a:p>
        </p:txBody>
      </p:sp>
      <p:sp>
        <p:nvSpPr>
          <p:cNvPr id="16" name="TextBox 15"/>
          <p:cNvSpPr txBox="1"/>
          <p:nvPr/>
        </p:nvSpPr>
        <p:spPr>
          <a:xfrm>
            <a:off x="3438144" y="3081528"/>
            <a:ext cx="219456" cy="365760"/>
          </a:xfrm>
          <a:prstGeom prst="rect">
            <a:avLst/>
          </a:prstGeom>
          <a:noFill/>
        </p:spPr>
        <p:txBody>
          <a:bodyPr wrap="square" lIns="9144" rIns="9144" tIns="9144" bIns="9144" anchor="ctr">
            <a:spAutoFit/>
          </a:bodyPr>
          <a:lstStyle/>
          <a:p>
            <a:pPr algn="ctr">
              <a:spcBef>
                <a:spcPts val="0"/>
              </a:spcBef>
              <a:spcAft>
                <a:spcPts val="0"/>
              </a:spcAft>
            </a:pPr>
            <a:r>
              <a:rPr sz="1800" b="1" i="0">
                <a:solidFill>
                  <a:srgbClr val="69747D"/>
                </a:solidFill>
                <a:latin typeface="Arial"/>
              </a:rPr>
              <a:t>→</a:t>
            </a:r>
          </a:p>
        </p:txBody>
      </p:sp>
      <p:sp>
        <p:nvSpPr>
          <p:cNvPr id="17" name="Rounded Rectangle 16"/>
          <p:cNvSpPr/>
          <p:nvPr/>
        </p:nvSpPr>
        <p:spPr>
          <a:xfrm>
            <a:off x="3698748"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657600"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49624" y="2331720"/>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9624"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2</a:t>
            </a:r>
          </a:p>
        </p:txBody>
      </p:sp>
      <p:sp>
        <p:nvSpPr>
          <p:cNvPr id="21" name="TextBox 20"/>
          <p:cNvSpPr txBox="1"/>
          <p:nvPr/>
        </p:nvSpPr>
        <p:spPr>
          <a:xfrm>
            <a:off x="3831336"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ANALYSIS</a:t>
            </a:r>
          </a:p>
        </p:txBody>
      </p:sp>
      <p:sp>
        <p:nvSpPr>
          <p:cNvPr id="22" name="TextBox 21"/>
          <p:cNvSpPr txBox="1"/>
          <p:nvPr/>
        </p:nvSpPr>
        <p:spPr>
          <a:xfrm>
            <a:off x="3831336"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Resolve conflicts &amp; priorities</a:t>
            </a:r>
          </a:p>
        </p:txBody>
      </p:sp>
      <p:sp>
        <p:nvSpPr>
          <p:cNvPr id="23" name="TextBox 22"/>
          <p:cNvSpPr txBox="1"/>
          <p:nvPr/>
        </p:nvSpPr>
        <p:spPr>
          <a:xfrm>
            <a:off x="3831336"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Is it feasible?</a:t>
            </a:r>
          </a:p>
        </p:txBody>
      </p:sp>
      <p:sp>
        <p:nvSpPr>
          <p:cNvPr id="24" name="TextBox 23"/>
          <p:cNvSpPr txBox="1"/>
          <p:nvPr/>
        </p:nvSpPr>
        <p:spPr>
          <a:xfrm>
            <a:off x="6318504" y="3081528"/>
            <a:ext cx="219456" cy="365760"/>
          </a:xfrm>
          <a:prstGeom prst="rect">
            <a:avLst/>
          </a:prstGeom>
          <a:noFill/>
        </p:spPr>
        <p:txBody>
          <a:bodyPr wrap="square" lIns="9144" rIns="9144" tIns="9144" bIns="9144" anchor="ctr">
            <a:spAutoFit/>
          </a:bodyPr>
          <a:lstStyle/>
          <a:p>
            <a:pPr algn="ctr">
              <a:spcBef>
                <a:spcPts val="0"/>
              </a:spcBef>
              <a:spcAft>
                <a:spcPts val="0"/>
              </a:spcAft>
            </a:pPr>
            <a:r>
              <a:rPr sz="1800" b="1" i="0">
                <a:solidFill>
                  <a:srgbClr val="69747D"/>
                </a:solidFill>
                <a:latin typeface="Arial"/>
              </a:rPr>
              <a:t>→</a:t>
            </a:r>
          </a:p>
        </p:txBody>
      </p:sp>
      <p:sp>
        <p:nvSpPr>
          <p:cNvPr id="25" name="Rounded Rectangle 24"/>
          <p:cNvSpPr/>
          <p:nvPr/>
        </p:nvSpPr>
        <p:spPr>
          <a:xfrm>
            <a:off x="6579107"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37959"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29983" y="2331720"/>
            <a:ext cx="493776" cy="493776"/>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9983"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3</a:t>
            </a:r>
          </a:p>
        </p:txBody>
      </p:sp>
      <p:sp>
        <p:nvSpPr>
          <p:cNvPr id="29" name="TextBox 28"/>
          <p:cNvSpPr txBox="1"/>
          <p:nvPr/>
        </p:nvSpPr>
        <p:spPr>
          <a:xfrm>
            <a:off x="6711696"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SPECIFICATION</a:t>
            </a:r>
          </a:p>
        </p:txBody>
      </p:sp>
      <p:sp>
        <p:nvSpPr>
          <p:cNvPr id="30" name="TextBox 29"/>
          <p:cNvSpPr txBox="1"/>
          <p:nvPr/>
        </p:nvSpPr>
        <p:spPr>
          <a:xfrm>
            <a:off x="6711696"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Write requirements clearly</a:t>
            </a:r>
          </a:p>
        </p:txBody>
      </p:sp>
      <p:sp>
        <p:nvSpPr>
          <p:cNvPr id="31" name="TextBox 30"/>
          <p:cNvSpPr txBox="1"/>
          <p:nvPr/>
        </p:nvSpPr>
        <p:spPr>
          <a:xfrm>
            <a:off x="6711696"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What exactly will it do?</a:t>
            </a:r>
          </a:p>
        </p:txBody>
      </p:sp>
      <p:sp>
        <p:nvSpPr>
          <p:cNvPr id="32" name="TextBox 31"/>
          <p:cNvSpPr txBox="1"/>
          <p:nvPr/>
        </p:nvSpPr>
        <p:spPr>
          <a:xfrm>
            <a:off x="9198863" y="3081528"/>
            <a:ext cx="219456" cy="365760"/>
          </a:xfrm>
          <a:prstGeom prst="rect">
            <a:avLst/>
          </a:prstGeom>
          <a:noFill/>
        </p:spPr>
        <p:txBody>
          <a:bodyPr wrap="square" lIns="9144" rIns="9144" tIns="9144" bIns="9144" anchor="ctr">
            <a:spAutoFit/>
          </a:bodyPr>
          <a:lstStyle/>
          <a:p>
            <a:pPr algn="ctr">
              <a:spcBef>
                <a:spcPts val="0"/>
              </a:spcBef>
              <a:spcAft>
                <a:spcPts val="0"/>
              </a:spcAft>
            </a:pPr>
            <a:r>
              <a:rPr sz="1800" b="1" i="0">
                <a:solidFill>
                  <a:srgbClr val="69747D"/>
                </a:solidFill>
                <a:latin typeface="Arial"/>
              </a:rPr>
              <a:t>→</a:t>
            </a:r>
          </a:p>
        </p:txBody>
      </p:sp>
      <p:sp>
        <p:nvSpPr>
          <p:cNvPr id="33" name="Rounded Rectangle 32"/>
          <p:cNvSpPr/>
          <p:nvPr/>
        </p:nvSpPr>
        <p:spPr>
          <a:xfrm>
            <a:off x="9459467"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418319"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10344" y="2331720"/>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10344"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4</a:t>
            </a:r>
          </a:p>
        </p:txBody>
      </p:sp>
      <p:sp>
        <p:nvSpPr>
          <p:cNvPr id="37" name="TextBox 36"/>
          <p:cNvSpPr txBox="1"/>
          <p:nvPr/>
        </p:nvSpPr>
        <p:spPr>
          <a:xfrm>
            <a:off x="9592055"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VALIDATION</a:t>
            </a:r>
          </a:p>
        </p:txBody>
      </p:sp>
      <p:sp>
        <p:nvSpPr>
          <p:cNvPr id="38" name="TextBox 37"/>
          <p:cNvSpPr txBox="1"/>
          <p:nvPr/>
        </p:nvSpPr>
        <p:spPr>
          <a:xfrm>
            <a:off x="9592055"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Confirm with stakeholders</a:t>
            </a:r>
          </a:p>
        </p:txBody>
      </p:sp>
      <p:sp>
        <p:nvSpPr>
          <p:cNvPr id="39" name="TextBox 38"/>
          <p:cNvSpPr txBox="1"/>
          <p:nvPr/>
        </p:nvSpPr>
        <p:spPr>
          <a:xfrm>
            <a:off x="9592055"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Did we understand correctly?</a:t>
            </a:r>
          </a:p>
        </p:txBody>
      </p:sp>
      <p:sp>
        <p:nvSpPr>
          <p:cNvPr id="40" name="Rounded Rectangle 39"/>
          <p:cNvSpPr/>
          <p:nvPr/>
        </p:nvSpPr>
        <p:spPr>
          <a:xfrm>
            <a:off x="2843784" y="5349240"/>
            <a:ext cx="6519672" cy="566928"/>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26664" y="5477256"/>
            <a:ext cx="6181344" cy="237744"/>
          </a:xfrm>
          <a:prstGeom prst="rect">
            <a:avLst/>
          </a:prstGeom>
          <a:noFill/>
        </p:spPr>
        <p:txBody>
          <a:bodyPr wrap="square" lIns="9144" rIns="9144" tIns="9144" bIns="9144" anchor="ctr">
            <a:spAutoFit/>
          </a:bodyPr>
          <a:lstStyle/>
          <a:p>
            <a:pPr algn="ctr">
              <a:spcBef>
                <a:spcPts val="0"/>
              </a:spcBef>
              <a:spcAft>
                <a:spcPts val="0"/>
              </a:spcAft>
            </a:pPr>
            <a:r>
              <a:rPr sz="1500" b="1" i="0">
                <a:solidFill>
                  <a:srgbClr val="174877"/>
                </a:solidFill>
                <a:latin typeface="Arial"/>
              </a:rPr>
              <a:t>↻  These activities repeat as the team learns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Fix misunderstandings early</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A question now can prevent expensive rework later.</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04 / 20</a:t>
            </a:r>
          </a:p>
        </p:txBody>
      </p:sp>
      <p:sp>
        <p:nvSpPr>
          <p:cNvPr id="9" name="Rounded Rectangle 8"/>
          <p:cNvSpPr/>
          <p:nvPr/>
        </p:nvSpPr>
        <p:spPr>
          <a:xfrm>
            <a:off x="992124" y="2034540"/>
            <a:ext cx="3520440" cy="3502152"/>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50976" y="1984248"/>
            <a:ext cx="3520440" cy="3502152"/>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1288" y="2240280"/>
            <a:ext cx="539496" cy="53949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1288" y="2240280"/>
            <a:ext cx="539496" cy="53949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1</a:t>
            </a:r>
          </a:p>
        </p:txBody>
      </p:sp>
      <p:sp>
        <p:nvSpPr>
          <p:cNvPr id="13" name="TextBox 12"/>
          <p:cNvSpPr txBox="1"/>
          <p:nvPr/>
        </p:nvSpPr>
        <p:spPr>
          <a:xfrm>
            <a:off x="1837943" y="2286000"/>
            <a:ext cx="2304288" cy="35661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Requirements</a:t>
            </a:r>
          </a:p>
        </p:txBody>
      </p:sp>
      <p:sp>
        <p:nvSpPr>
          <p:cNvPr id="14" name="TextBox 13"/>
          <p:cNvSpPr txBox="1"/>
          <p:nvPr/>
        </p:nvSpPr>
        <p:spPr>
          <a:xfrm>
            <a:off x="1261872" y="3127248"/>
            <a:ext cx="2880360" cy="594360"/>
          </a:xfrm>
          <a:prstGeom prst="rect">
            <a:avLst/>
          </a:prstGeom>
          <a:noFill/>
        </p:spPr>
        <p:txBody>
          <a:bodyPr wrap="square" lIns="9144" rIns="9144" tIns="9144" bIns="9144" anchor="ctr">
            <a:spAutoFit/>
          </a:bodyPr>
          <a:lstStyle/>
          <a:p>
            <a:pPr algn="ctr">
              <a:spcBef>
                <a:spcPts val="0"/>
              </a:spcBef>
              <a:spcAft>
                <a:spcPts val="0"/>
              </a:spcAft>
            </a:pPr>
            <a:r>
              <a:rPr sz="3000" b="1" i="0">
                <a:solidFill>
                  <a:srgbClr val="174877"/>
                </a:solidFill>
                <a:latin typeface="Arial"/>
              </a:rPr>
              <a:t>1–2</a:t>
            </a:r>
          </a:p>
        </p:txBody>
      </p:sp>
      <p:sp>
        <p:nvSpPr>
          <p:cNvPr id="15" name="TextBox 14"/>
          <p:cNvSpPr txBox="1"/>
          <p:nvPr/>
        </p:nvSpPr>
        <p:spPr>
          <a:xfrm>
            <a:off x="1261872" y="3858768"/>
            <a:ext cx="2880360" cy="283464"/>
          </a:xfrm>
          <a:prstGeom prst="rect">
            <a:avLst/>
          </a:prstGeom>
          <a:noFill/>
        </p:spPr>
        <p:txBody>
          <a:bodyPr wrap="square" lIns="9144" rIns="9144" tIns="9144" bIns="9144" anchor="ctr">
            <a:spAutoFit/>
          </a:bodyPr>
          <a:lstStyle/>
          <a:p>
            <a:pPr algn="ctr">
              <a:spcBef>
                <a:spcPts val="0"/>
              </a:spcBef>
              <a:spcAft>
                <a:spcPts val="0"/>
              </a:spcAft>
            </a:pPr>
            <a:r>
              <a:rPr sz="1300" b="0" i="0">
                <a:solidFill>
                  <a:srgbClr val="69747D"/>
                </a:solidFill>
                <a:latin typeface="Arial"/>
              </a:rPr>
              <a:t>relative fix-cost units</a:t>
            </a:r>
          </a:p>
        </p:txBody>
      </p:sp>
      <p:sp>
        <p:nvSpPr>
          <p:cNvPr id="16" name="Rounded Rectangle 15"/>
          <p:cNvSpPr/>
          <p:nvPr/>
        </p:nvSpPr>
        <p:spPr>
          <a:xfrm>
            <a:off x="1280160" y="4434840"/>
            <a:ext cx="2852928" cy="173736"/>
          </a:xfrm>
          <a:prstGeom prst="roundRect">
            <a:avLst>
              <a:gd name="adj" fmla="val 13000"/>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80160" y="4434840"/>
            <a:ext cx="1005840" cy="173736"/>
          </a:xfrm>
          <a:prstGeom prst="roundRect">
            <a:avLst>
              <a:gd name="adj" fmla="val 13000"/>
            </a:avLst>
          </a:prstGeom>
          <a:solidFill>
            <a:srgbClr val="3B7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14316" y="2034540"/>
            <a:ext cx="3520440" cy="3502152"/>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73168" y="1984248"/>
            <a:ext cx="3520440" cy="3502152"/>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983480" y="2240280"/>
            <a:ext cx="539496" cy="539496"/>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83480" y="2240280"/>
            <a:ext cx="539496" cy="53949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2</a:t>
            </a:r>
          </a:p>
        </p:txBody>
      </p:sp>
      <p:sp>
        <p:nvSpPr>
          <p:cNvPr id="22" name="TextBox 21"/>
          <p:cNvSpPr txBox="1"/>
          <p:nvPr/>
        </p:nvSpPr>
        <p:spPr>
          <a:xfrm>
            <a:off x="5660136" y="2286000"/>
            <a:ext cx="2304288" cy="35661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Testing</a:t>
            </a:r>
          </a:p>
        </p:txBody>
      </p:sp>
      <p:sp>
        <p:nvSpPr>
          <p:cNvPr id="23" name="TextBox 22"/>
          <p:cNvSpPr txBox="1"/>
          <p:nvPr/>
        </p:nvSpPr>
        <p:spPr>
          <a:xfrm>
            <a:off x="5084064" y="3127248"/>
            <a:ext cx="2880360" cy="594360"/>
          </a:xfrm>
          <a:prstGeom prst="rect">
            <a:avLst/>
          </a:prstGeom>
          <a:noFill/>
        </p:spPr>
        <p:txBody>
          <a:bodyPr wrap="square" lIns="9144" rIns="9144" tIns="9144" bIns="9144" anchor="ctr">
            <a:spAutoFit/>
          </a:bodyPr>
          <a:lstStyle/>
          <a:p>
            <a:pPr algn="ctr">
              <a:spcBef>
                <a:spcPts val="0"/>
              </a:spcBef>
              <a:spcAft>
                <a:spcPts val="0"/>
              </a:spcAft>
            </a:pPr>
            <a:r>
              <a:rPr sz="3000" b="1" i="0">
                <a:solidFill>
                  <a:srgbClr val="174877"/>
                </a:solidFill>
                <a:latin typeface="Arial"/>
              </a:rPr>
              <a:t>10–100</a:t>
            </a:r>
          </a:p>
        </p:txBody>
      </p:sp>
      <p:sp>
        <p:nvSpPr>
          <p:cNvPr id="24" name="TextBox 23"/>
          <p:cNvSpPr txBox="1"/>
          <p:nvPr/>
        </p:nvSpPr>
        <p:spPr>
          <a:xfrm>
            <a:off x="5084064" y="3858768"/>
            <a:ext cx="2880360" cy="283464"/>
          </a:xfrm>
          <a:prstGeom prst="rect">
            <a:avLst/>
          </a:prstGeom>
          <a:noFill/>
        </p:spPr>
        <p:txBody>
          <a:bodyPr wrap="square" lIns="9144" rIns="9144" tIns="9144" bIns="9144" anchor="ctr">
            <a:spAutoFit/>
          </a:bodyPr>
          <a:lstStyle/>
          <a:p>
            <a:pPr algn="ctr">
              <a:spcBef>
                <a:spcPts val="0"/>
              </a:spcBef>
              <a:spcAft>
                <a:spcPts val="0"/>
              </a:spcAft>
            </a:pPr>
            <a:r>
              <a:rPr sz="1300" b="0" i="0">
                <a:solidFill>
                  <a:srgbClr val="69747D"/>
                </a:solidFill>
                <a:latin typeface="Arial"/>
              </a:rPr>
              <a:t>relative fix-cost units</a:t>
            </a:r>
          </a:p>
        </p:txBody>
      </p:sp>
      <p:sp>
        <p:nvSpPr>
          <p:cNvPr id="25" name="Rounded Rectangle 24"/>
          <p:cNvSpPr/>
          <p:nvPr/>
        </p:nvSpPr>
        <p:spPr>
          <a:xfrm>
            <a:off x="5102352" y="4434840"/>
            <a:ext cx="2852928" cy="173736"/>
          </a:xfrm>
          <a:prstGeom prst="roundRect">
            <a:avLst>
              <a:gd name="adj" fmla="val 13000"/>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102352" y="4434840"/>
            <a:ext cx="2011680" cy="173736"/>
          </a:xfrm>
          <a:prstGeom prst="roundRect">
            <a:avLst>
              <a:gd name="adj" fmla="val 13000"/>
            </a:avLst>
          </a:prstGeom>
          <a:solidFill>
            <a:srgbClr val="3B7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636507" y="2034540"/>
            <a:ext cx="3520440" cy="3502152"/>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595359" y="1984248"/>
            <a:ext cx="3520440" cy="3502152"/>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805672" y="2240280"/>
            <a:ext cx="539496" cy="539496"/>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05672" y="2240280"/>
            <a:ext cx="539496" cy="53949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3</a:t>
            </a:r>
          </a:p>
        </p:txBody>
      </p:sp>
      <p:sp>
        <p:nvSpPr>
          <p:cNvPr id="31" name="TextBox 30"/>
          <p:cNvSpPr txBox="1"/>
          <p:nvPr/>
        </p:nvSpPr>
        <p:spPr>
          <a:xfrm>
            <a:off x="9482328" y="2286000"/>
            <a:ext cx="2304288" cy="35661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Production</a:t>
            </a:r>
          </a:p>
        </p:txBody>
      </p:sp>
      <p:sp>
        <p:nvSpPr>
          <p:cNvPr id="32" name="TextBox 31"/>
          <p:cNvSpPr txBox="1"/>
          <p:nvPr/>
        </p:nvSpPr>
        <p:spPr>
          <a:xfrm>
            <a:off x="8906255" y="3127248"/>
            <a:ext cx="2880360" cy="594360"/>
          </a:xfrm>
          <a:prstGeom prst="rect">
            <a:avLst/>
          </a:prstGeom>
          <a:noFill/>
        </p:spPr>
        <p:txBody>
          <a:bodyPr wrap="square" lIns="9144" rIns="9144" tIns="9144" bIns="9144" anchor="ctr">
            <a:spAutoFit/>
          </a:bodyPr>
          <a:lstStyle/>
          <a:p>
            <a:pPr algn="ctr">
              <a:spcBef>
                <a:spcPts val="0"/>
              </a:spcBef>
              <a:spcAft>
                <a:spcPts val="0"/>
              </a:spcAft>
            </a:pPr>
            <a:r>
              <a:rPr sz="3000" b="1" i="0">
                <a:solidFill>
                  <a:srgbClr val="CE1C29"/>
                </a:solidFill>
                <a:latin typeface="Arial"/>
              </a:rPr>
              <a:t>100–1,000</a:t>
            </a:r>
          </a:p>
        </p:txBody>
      </p:sp>
      <p:sp>
        <p:nvSpPr>
          <p:cNvPr id="33" name="TextBox 32"/>
          <p:cNvSpPr txBox="1"/>
          <p:nvPr/>
        </p:nvSpPr>
        <p:spPr>
          <a:xfrm>
            <a:off x="8906255" y="3858768"/>
            <a:ext cx="2880360" cy="283464"/>
          </a:xfrm>
          <a:prstGeom prst="rect">
            <a:avLst/>
          </a:prstGeom>
          <a:noFill/>
        </p:spPr>
        <p:txBody>
          <a:bodyPr wrap="square" lIns="9144" rIns="9144" tIns="9144" bIns="9144" anchor="ctr">
            <a:spAutoFit/>
          </a:bodyPr>
          <a:lstStyle/>
          <a:p>
            <a:pPr algn="ctr">
              <a:spcBef>
                <a:spcPts val="0"/>
              </a:spcBef>
              <a:spcAft>
                <a:spcPts val="0"/>
              </a:spcAft>
            </a:pPr>
            <a:r>
              <a:rPr sz="1300" b="0" i="0">
                <a:solidFill>
                  <a:srgbClr val="69747D"/>
                </a:solidFill>
                <a:latin typeface="Arial"/>
              </a:rPr>
              <a:t>relative fix-cost units</a:t>
            </a:r>
          </a:p>
        </p:txBody>
      </p:sp>
      <p:sp>
        <p:nvSpPr>
          <p:cNvPr id="34" name="Rounded Rectangle 33"/>
          <p:cNvSpPr/>
          <p:nvPr/>
        </p:nvSpPr>
        <p:spPr>
          <a:xfrm>
            <a:off x="8924543" y="4434840"/>
            <a:ext cx="2852928" cy="173736"/>
          </a:xfrm>
          <a:prstGeom prst="roundRect">
            <a:avLst>
              <a:gd name="adj" fmla="val 13000"/>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924543" y="4434840"/>
            <a:ext cx="3108960" cy="173736"/>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 y="5815584"/>
            <a:ext cx="10277856" cy="265176"/>
          </a:xfrm>
          <a:prstGeom prst="rect">
            <a:avLst/>
          </a:prstGeom>
          <a:noFill/>
        </p:spPr>
        <p:txBody>
          <a:bodyPr wrap="square" lIns="9144" rIns="9144" tIns="9144" bIns="9144" anchor="ctr">
            <a:spAutoFit/>
          </a:bodyPr>
          <a:lstStyle/>
          <a:p>
            <a:pPr algn="ctr">
              <a:spcBef>
                <a:spcPts val="0"/>
              </a:spcBef>
              <a:spcAft>
                <a:spcPts val="0"/>
              </a:spcAft>
            </a:pPr>
            <a:r>
              <a:rPr sz="1240" b="0" i="0">
                <a:solidFill>
                  <a:srgbClr val="69747D"/>
                </a:solidFill>
                <a:latin typeface="Arial"/>
              </a:rPr>
              <a:t>Illustrative ranges reported in the chapter (historical study; bars not to scale).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Who are the stakeholders?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Anyone who uses, funds, influences, builds, or operates the system.</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07 / 20</a:t>
            </a:r>
          </a:p>
        </p:txBody>
      </p:sp>
      <p:sp>
        <p:nvSpPr>
          <p:cNvPr id="9" name="Rounded Rectangle 8"/>
          <p:cNvSpPr/>
          <p:nvPr/>
        </p:nvSpPr>
        <p:spPr>
          <a:xfrm>
            <a:off x="845820" y="1943100"/>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1892807"/>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9264" y="2048255"/>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048255"/>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01</a:t>
            </a:r>
          </a:p>
        </p:txBody>
      </p:sp>
      <p:sp>
        <p:nvSpPr>
          <p:cNvPr id="13" name="TextBox 12"/>
          <p:cNvSpPr txBox="1"/>
          <p:nvPr/>
        </p:nvSpPr>
        <p:spPr>
          <a:xfrm>
            <a:off x="1435607" y="2057400"/>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Users</a:t>
            </a:r>
          </a:p>
        </p:txBody>
      </p:sp>
      <p:sp>
        <p:nvSpPr>
          <p:cNvPr id="14" name="TextBox 13"/>
          <p:cNvSpPr txBox="1"/>
          <p:nvPr/>
        </p:nvSpPr>
        <p:spPr>
          <a:xfrm>
            <a:off x="1005840" y="2578608"/>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Need useful workflows</a:t>
            </a:r>
          </a:p>
        </p:txBody>
      </p:sp>
      <p:sp>
        <p:nvSpPr>
          <p:cNvPr id="15" name="TextBox 14"/>
          <p:cNvSpPr txBox="1"/>
          <p:nvPr/>
        </p:nvSpPr>
        <p:spPr>
          <a:xfrm>
            <a:off x="1005840" y="2962656"/>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Team members</a:t>
            </a:r>
          </a:p>
        </p:txBody>
      </p:sp>
      <p:sp>
        <p:nvSpPr>
          <p:cNvPr id="16" name="Rounded Rectangle 15"/>
          <p:cNvSpPr/>
          <p:nvPr/>
        </p:nvSpPr>
        <p:spPr>
          <a:xfrm>
            <a:off x="4668012" y="1943100"/>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26864" y="1892807"/>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791455" y="2048255"/>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91455" y="2048255"/>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02</a:t>
            </a:r>
          </a:p>
        </p:txBody>
      </p:sp>
      <p:sp>
        <p:nvSpPr>
          <p:cNvPr id="20" name="TextBox 19"/>
          <p:cNvSpPr txBox="1"/>
          <p:nvPr/>
        </p:nvSpPr>
        <p:spPr>
          <a:xfrm>
            <a:off x="5257800" y="2057400"/>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Clients / customers</a:t>
            </a:r>
          </a:p>
        </p:txBody>
      </p:sp>
      <p:sp>
        <p:nvSpPr>
          <p:cNvPr id="21" name="TextBox 20"/>
          <p:cNvSpPr txBox="1"/>
          <p:nvPr/>
        </p:nvSpPr>
        <p:spPr>
          <a:xfrm>
            <a:off x="4828031" y="2578608"/>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Define business goals</a:t>
            </a:r>
          </a:p>
        </p:txBody>
      </p:sp>
      <p:sp>
        <p:nvSpPr>
          <p:cNvPr id="22" name="TextBox 21"/>
          <p:cNvSpPr txBox="1"/>
          <p:nvPr/>
        </p:nvSpPr>
        <p:spPr>
          <a:xfrm>
            <a:off x="4828031" y="2962656"/>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Project sponsor</a:t>
            </a:r>
          </a:p>
        </p:txBody>
      </p:sp>
      <p:sp>
        <p:nvSpPr>
          <p:cNvPr id="23" name="Rounded Rectangle 22"/>
          <p:cNvSpPr/>
          <p:nvPr/>
        </p:nvSpPr>
        <p:spPr>
          <a:xfrm>
            <a:off x="8490204" y="1943100"/>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49056" y="1892807"/>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13648" y="2048255"/>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13648" y="2048255"/>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03</a:t>
            </a:r>
          </a:p>
        </p:txBody>
      </p:sp>
      <p:sp>
        <p:nvSpPr>
          <p:cNvPr id="27" name="TextBox 26"/>
          <p:cNvSpPr txBox="1"/>
          <p:nvPr/>
        </p:nvSpPr>
        <p:spPr>
          <a:xfrm>
            <a:off x="9079992" y="2057400"/>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Domain experts</a:t>
            </a:r>
          </a:p>
        </p:txBody>
      </p:sp>
      <p:sp>
        <p:nvSpPr>
          <p:cNvPr id="28" name="TextBox 27"/>
          <p:cNvSpPr txBox="1"/>
          <p:nvPr/>
        </p:nvSpPr>
        <p:spPr>
          <a:xfrm>
            <a:off x="8650224" y="2578608"/>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Know daily processes</a:t>
            </a:r>
          </a:p>
        </p:txBody>
      </p:sp>
      <p:sp>
        <p:nvSpPr>
          <p:cNvPr id="29" name="TextBox 28"/>
          <p:cNvSpPr txBox="1"/>
          <p:nvPr/>
        </p:nvSpPr>
        <p:spPr>
          <a:xfrm>
            <a:off x="8650224" y="2962656"/>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Experienced manager</a:t>
            </a:r>
          </a:p>
        </p:txBody>
      </p:sp>
      <p:sp>
        <p:nvSpPr>
          <p:cNvPr id="30" name="Rounded Rectangle 29"/>
          <p:cNvSpPr/>
          <p:nvPr/>
        </p:nvSpPr>
        <p:spPr>
          <a:xfrm>
            <a:off x="2784348" y="3735324"/>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743200" y="3685032"/>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07792" y="3840480"/>
            <a:ext cx="365760" cy="365760"/>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07792" y="3840480"/>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04</a:t>
            </a:r>
          </a:p>
        </p:txBody>
      </p:sp>
      <p:sp>
        <p:nvSpPr>
          <p:cNvPr id="34" name="TextBox 33"/>
          <p:cNvSpPr txBox="1"/>
          <p:nvPr/>
        </p:nvSpPr>
        <p:spPr>
          <a:xfrm>
            <a:off x="3374136" y="3849624"/>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Regulators</a:t>
            </a:r>
          </a:p>
        </p:txBody>
      </p:sp>
      <p:sp>
        <p:nvSpPr>
          <p:cNvPr id="35" name="TextBox 34"/>
          <p:cNvSpPr txBox="1"/>
          <p:nvPr/>
        </p:nvSpPr>
        <p:spPr>
          <a:xfrm>
            <a:off x="2944368" y="4370832"/>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Set legal constraints</a:t>
            </a:r>
          </a:p>
        </p:txBody>
      </p:sp>
      <p:sp>
        <p:nvSpPr>
          <p:cNvPr id="36" name="TextBox 35"/>
          <p:cNvSpPr txBox="1"/>
          <p:nvPr/>
        </p:nvSpPr>
        <p:spPr>
          <a:xfrm>
            <a:off x="2944368" y="4754880"/>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Privacy authority</a:t>
            </a:r>
          </a:p>
        </p:txBody>
      </p:sp>
      <p:sp>
        <p:nvSpPr>
          <p:cNvPr id="37" name="Rounded Rectangle 36"/>
          <p:cNvSpPr/>
          <p:nvPr/>
        </p:nvSpPr>
        <p:spPr>
          <a:xfrm>
            <a:off x="6624828" y="3735324"/>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83680" y="3685032"/>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48272" y="3840480"/>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48272" y="3840480"/>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05</a:t>
            </a:r>
          </a:p>
        </p:txBody>
      </p:sp>
      <p:sp>
        <p:nvSpPr>
          <p:cNvPr id="41" name="TextBox 40"/>
          <p:cNvSpPr txBox="1"/>
          <p:nvPr/>
        </p:nvSpPr>
        <p:spPr>
          <a:xfrm>
            <a:off x="7214616" y="3849624"/>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Developers / operators</a:t>
            </a:r>
          </a:p>
        </p:txBody>
      </p:sp>
      <p:sp>
        <p:nvSpPr>
          <p:cNvPr id="42" name="TextBox 41"/>
          <p:cNvSpPr txBox="1"/>
          <p:nvPr/>
        </p:nvSpPr>
        <p:spPr>
          <a:xfrm>
            <a:off x="6784848" y="4370832"/>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Build and run the system</a:t>
            </a:r>
          </a:p>
        </p:txBody>
      </p:sp>
      <p:sp>
        <p:nvSpPr>
          <p:cNvPr id="43" name="TextBox 42"/>
          <p:cNvSpPr txBox="1"/>
          <p:nvPr/>
        </p:nvSpPr>
        <p:spPr>
          <a:xfrm>
            <a:off x="6784848" y="4754880"/>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Engineering / IT</a:t>
            </a:r>
          </a:p>
        </p:txBody>
      </p:sp>
      <p:sp>
        <p:nvSpPr>
          <p:cNvPr id="44" name="TextBox 43"/>
          <p:cNvSpPr txBox="1"/>
          <p:nvPr/>
        </p:nvSpPr>
        <p:spPr>
          <a:xfrm>
            <a:off x="1005840" y="5769864"/>
            <a:ext cx="10332720" cy="274320"/>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CE1C29"/>
                </a:solidFill>
                <a:latin typeface="Arial"/>
              </a:rPr>
              <a:t>Stakeholders may have competing needs — requirements engineering helps reconcile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Six elicitation techniques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Use multiple methods to understand the full picture.</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08 / 20</a:t>
            </a:r>
          </a:p>
        </p:txBody>
      </p:sp>
      <p:sp>
        <p:nvSpPr>
          <p:cNvPr id="9" name="Rounded Rectangle 8"/>
          <p:cNvSpPr/>
          <p:nvPr/>
        </p:nvSpPr>
        <p:spPr>
          <a:xfrm>
            <a:off x="800100" y="1915668"/>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 y="1865376"/>
            <a:ext cx="3566160" cy="1609344"/>
          </a:xfrm>
          <a:prstGeom prst="roundRect">
            <a:avLst>
              <a:gd name="adj" fmla="val 13000"/>
            </a:avLst>
          </a:prstGeom>
          <a:solidFill>
            <a:srgbClr val="E2F0FA"/>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2029968"/>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01</a:t>
            </a:r>
          </a:p>
        </p:txBody>
      </p:sp>
      <p:sp>
        <p:nvSpPr>
          <p:cNvPr id="12" name="TextBox 11"/>
          <p:cNvSpPr txBox="1"/>
          <p:nvPr/>
        </p:nvSpPr>
        <p:spPr>
          <a:xfrm>
            <a:off x="1563624" y="2039112"/>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Interviews</a:t>
            </a:r>
          </a:p>
        </p:txBody>
      </p:sp>
      <p:sp>
        <p:nvSpPr>
          <p:cNvPr id="13" name="TextBox 12"/>
          <p:cNvSpPr txBox="1"/>
          <p:nvPr/>
        </p:nvSpPr>
        <p:spPr>
          <a:xfrm>
            <a:off x="941832" y="2770632"/>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Explore one perspective deeply</a:t>
            </a:r>
          </a:p>
        </p:txBody>
      </p:sp>
      <p:sp>
        <p:nvSpPr>
          <p:cNvPr id="14" name="Rounded Rectangle 13"/>
          <p:cNvSpPr/>
          <p:nvPr/>
        </p:nvSpPr>
        <p:spPr>
          <a:xfrm>
            <a:off x="4649724" y="1915668"/>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08576" y="1865376"/>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029968"/>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02</a:t>
            </a:r>
          </a:p>
        </p:txBody>
      </p:sp>
      <p:sp>
        <p:nvSpPr>
          <p:cNvPr id="17" name="TextBox 16"/>
          <p:cNvSpPr txBox="1"/>
          <p:nvPr/>
        </p:nvSpPr>
        <p:spPr>
          <a:xfrm>
            <a:off x="5413248" y="2039112"/>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Workshops</a:t>
            </a:r>
          </a:p>
        </p:txBody>
      </p:sp>
      <p:sp>
        <p:nvSpPr>
          <p:cNvPr id="18" name="TextBox 17"/>
          <p:cNvSpPr txBox="1"/>
          <p:nvPr/>
        </p:nvSpPr>
        <p:spPr>
          <a:xfrm>
            <a:off x="4791456" y="2770632"/>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Build shared agreement</a:t>
            </a:r>
          </a:p>
        </p:txBody>
      </p:sp>
      <p:sp>
        <p:nvSpPr>
          <p:cNvPr id="19" name="Rounded Rectangle 18"/>
          <p:cNvSpPr/>
          <p:nvPr/>
        </p:nvSpPr>
        <p:spPr>
          <a:xfrm>
            <a:off x="8499348" y="1915668"/>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58200" y="1865376"/>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22792" y="2029968"/>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03</a:t>
            </a:r>
          </a:p>
        </p:txBody>
      </p:sp>
      <p:sp>
        <p:nvSpPr>
          <p:cNvPr id="22" name="TextBox 21"/>
          <p:cNvSpPr txBox="1"/>
          <p:nvPr/>
        </p:nvSpPr>
        <p:spPr>
          <a:xfrm>
            <a:off x="9262872" y="2039112"/>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Observation</a:t>
            </a:r>
          </a:p>
        </p:txBody>
      </p:sp>
      <p:sp>
        <p:nvSpPr>
          <p:cNvPr id="23" name="TextBox 22"/>
          <p:cNvSpPr txBox="1"/>
          <p:nvPr/>
        </p:nvSpPr>
        <p:spPr>
          <a:xfrm>
            <a:off x="8641080" y="2770632"/>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Watch work as it happens</a:t>
            </a:r>
          </a:p>
        </p:txBody>
      </p:sp>
      <p:sp>
        <p:nvSpPr>
          <p:cNvPr id="24" name="Rounded Rectangle 23"/>
          <p:cNvSpPr/>
          <p:nvPr/>
        </p:nvSpPr>
        <p:spPr>
          <a:xfrm>
            <a:off x="800100" y="3762756"/>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8952" y="3712464"/>
            <a:ext cx="3566160" cy="1609344"/>
          </a:xfrm>
          <a:prstGeom prst="roundRect">
            <a:avLst>
              <a:gd name="adj" fmla="val 13000"/>
            </a:avLst>
          </a:prstGeom>
          <a:solidFill>
            <a:srgbClr val="E2F0FA"/>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 y="3877056"/>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04</a:t>
            </a:r>
          </a:p>
        </p:txBody>
      </p:sp>
      <p:sp>
        <p:nvSpPr>
          <p:cNvPr id="27" name="TextBox 26"/>
          <p:cNvSpPr txBox="1"/>
          <p:nvPr/>
        </p:nvSpPr>
        <p:spPr>
          <a:xfrm>
            <a:off x="1563624" y="3886200"/>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Personas</a:t>
            </a:r>
          </a:p>
        </p:txBody>
      </p:sp>
      <p:sp>
        <p:nvSpPr>
          <p:cNvPr id="28" name="TextBox 27"/>
          <p:cNvSpPr txBox="1"/>
          <p:nvPr/>
        </p:nvSpPr>
        <p:spPr>
          <a:xfrm>
            <a:off x="941832" y="4617720"/>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Summarize research-based users</a:t>
            </a:r>
          </a:p>
        </p:txBody>
      </p:sp>
      <p:sp>
        <p:nvSpPr>
          <p:cNvPr id="29" name="Rounded Rectangle 28"/>
          <p:cNvSpPr/>
          <p:nvPr/>
        </p:nvSpPr>
        <p:spPr>
          <a:xfrm>
            <a:off x="4649724" y="3762756"/>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608576" y="3712464"/>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73168" y="3877056"/>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05</a:t>
            </a:r>
          </a:p>
        </p:txBody>
      </p:sp>
      <p:sp>
        <p:nvSpPr>
          <p:cNvPr id="32" name="TextBox 31"/>
          <p:cNvSpPr txBox="1"/>
          <p:nvPr/>
        </p:nvSpPr>
        <p:spPr>
          <a:xfrm>
            <a:off x="5413248" y="3886200"/>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Document analysis</a:t>
            </a:r>
          </a:p>
        </p:txBody>
      </p:sp>
      <p:sp>
        <p:nvSpPr>
          <p:cNvPr id="33" name="TextBox 32"/>
          <p:cNvSpPr txBox="1"/>
          <p:nvPr/>
        </p:nvSpPr>
        <p:spPr>
          <a:xfrm>
            <a:off x="4791456" y="4617720"/>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Read existing evidence</a:t>
            </a:r>
          </a:p>
        </p:txBody>
      </p:sp>
      <p:sp>
        <p:nvSpPr>
          <p:cNvPr id="34" name="Rounded Rectangle 33"/>
          <p:cNvSpPr/>
          <p:nvPr/>
        </p:nvSpPr>
        <p:spPr>
          <a:xfrm>
            <a:off x="8499348" y="3762756"/>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458200" y="3712464"/>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22792" y="3877056"/>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06</a:t>
            </a:r>
          </a:p>
        </p:txBody>
      </p:sp>
      <p:sp>
        <p:nvSpPr>
          <p:cNvPr id="37" name="TextBox 36"/>
          <p:cNvSpPr txBox="1"/>
          <p:nvPr/>
        </p:nvSpPr>
        <p:spPr>
          <a:xfrm>
            <a:off x="9262872" y="3886200"/>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Prototyping</a:t>
            </a:r>
          </a:p>
        </p:txBody>
      </p:sp>
      <p:sp>
        <p:nvSpPr>
          <p:cNvPr id="38" name="TextBox 37"/>
          <p:cNvSpPr txBox="1"/>
          <p:nvPr/>
        </p:nvSpPr>
        <p:spPr>
          <a:xfrm>
            <a:off x="8641080" y="4617720"/>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Test early mockups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Interviews and workshops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Listen individually, then resolve differences together.</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09 / 20</a:t>
            </a:r>
          </a:p>
        </p:txBody>
      </p:sp>
      <p:sp>
        <p:nvSpPr>
          <p:cNvPr id="9" name="Rounded Rectangle 8"/>
          <p:cNvSpPr/>
          <p:nvPr/>
        </p:nvSpPr>
        <p:spPr>
          <a:xfrm>
            <a:off x="854964" y="1906524"/>
            <a:ext cx="5029200" cy="33832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 y="1856231"/>
            <a:ext cx="5029200" cy="3383280"/>
          </a:xfrm>
          <a:prstGeom prst="roundRect">
            <a:avLst>
              <a:gd name="adj" fmla="val 13000"/>
            </a:avLst>
          </a:prstGeom>
          <a:solidFill>
            <a:srgbClr val="E2F0FA"/>
          </a:solidFill>
          <a:ln w="12700">
            <a:solidFill>
              <a:srgbClr val="D2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32220" y="1906524"/>
            <a:ext cx="5029200" cy="33832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91072" y="1856231"/>
            <a:ext cx="5029200" cy="3383280"/>
          </a:xfrm>
          <a:prstGeom prst="roundRect">
            <a:avLst>
              <a:gd name="adj" fmla="val 13000"/>
            </a:avLst>
          </a:prstGeom>
          <a:solidFill>
            <a:srgbClr val="FBE7E9"/>
          </a:solidFill>
          <a:ln w="12700">
            <a:solidFill>
              <a:srgbClr val="EA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21408"/>
            <a:ext cx="4261104"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INTERVIEWS</a:t>
            </a:r>
          </a:p>
        </p:txBody>
      </p:sp>
      <p:sp>
        <p:nvSpPr>
          <p:cNvPr id="14" name="TextBox 13"/>
          <p:cNvSpPr txBox="1"/>
          <p:nvPr/>
        </p:nvSpPr>
        <p:spPr>
          <a:xfrm>
            <a:off x="1060704" y="2542032"/>
            <a:ext cx="4389120" cy="365760"/>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Explore one person’s perspective</a:t>
            </a:r>
          </a:p>
        </p:txBody>
      </p:sp>
      <p:sp>
        <p:nvSpPr>
          <p:cNvPr id="15" name="TextBox 14"/>
          <p:cNvSpPr txBox="1"/>
          <p:nvPr/>
        </p:nvSpPr>
        <p:spPr>
          <a:xfrm>
            <a:off x="1088136" y="3154680"/>
            <a:ext cx="4453128" cy="1371600"/>
          </a:xfrm>
          <a:prstGeom prst="rect">
            <a:avLst/>
          </a:prstGeom>
          <a:noFill/>
        </p:spPr>
        <p:txBody>
          <a:bodyPr wrap="square" lIns="9144" rIns="9144" tIns="9144" bIns="9144" anchor="t">
            <a:spAutoFit/>
          </a:bodyPr>
          <a:lstStyle/>
          <a:p>
            <a:pPr algn="l">
              <a:spcBef>
                <a:spcPts val="0"/>
              </a:spcBef>
              <a:spcAft>
                <a:spcPts val="0"/>
              </a:spcAft>
            </a:pPr>
            <a:r>
              <a:rPr sz="1530" b="0" i="0">
                <a:solidFill>
                  <a:srgbClr val="233039"/>
                </a:solidFill>
                <a:latin typeface="Arial"/>
              </a:rPr>
              <a:t>• Structured: fixed questions</a:t>
            </a:r>
          </a:p>
          <a:p>
            <a:pPr algn="l">
              <a:spcBef>
                <a:spcPts val="0"/>
              </a:spcBef>
              <a:spcAft>
                <a:spcPts val="0"/>
              </a:spcAft>
            </a:pPr>
            <a:r>
              <a:rPr sz="1530" b="0" i="0">
                <a:solidFill>
                  <a:srgbClr val="233039"/>
                </a:solidFill>
                <a:latin typeface="Arial"/>
              </a:rPr>
              <a:t>• Semi-structured: flexible follow-ups</a:t>
            </a:r>
          </a:p>
          <a:p>
            <a:pPr algn="l">
              <a:spcBef>
                <a:spcPts val="0"/>
              </a:spcBef>
              <a:spcAft>
                <a:spcPts val="0"/>
              </a:spcAft>
            </a:pPr>
            <a:r>
              <a:rPr sz="1530" b="0" i="0">
                <a:solidFill>
                  <a:srgbClr val="233039"/>
                </a:solidFill>
                <a:latin typeface="Arial"/>
              </a:rPr>
              <a:t>• Unstructured: open conversation</a:t>
            </a:r>
          </a:p>
        </p:txBody>
      </p:sp>
      <p:sp>
        <p:nvSpPr>
          <p:cNvPr id="16" name="TextBox 15"/>
          <p:cNvSpPr txBox="1"/>
          <p:nvPr/>
        </p:nvSpPr>
        <p:spPr>
          <a:xfrm>
            <a:off x="6556248" y="2121408"/>
            <a:ext cx="4389120"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CE1C29"/>
                </a:solidFill>
                <a:latin typeface="Arial"/>
              </a:rPr>
              <a:t>WORKSHOPS</a:t>
            </a:r>
          </a:p>
        </p:txBody>
      </p:sp>
      <p:sp>
        <p:nvSpPr>
          <p:cNvPr id="17" name="TextBox 16"/>
          <p:cNvSpPr txBox="1"/>
          <p:nvPr/>
        </p:nvSpPr>
        <p:spPr>
          <a:xfrm>
            <a:off x="6556248" y="2542032"/>
            <a:ext cx="4462272" cy="365760"/>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Build agreement across a group</a:t>
            </a:r>
          </a:p>
        </p:txBody>
      </p:sp>
      <p:sp>
        <p:nvSpPr>
          <p:cNvPr id="18" name="TextBox 17"/>
          <p:cNvSpPr txBox="1"/>
          <p:nvPr/>
        </p:nvSpPr>
        <p:spPr>
          <a:xfrm>
            <a:off x="6565392" y="3200400"/>
            <a:ext cx="4343400" cy="1207008"/>
          </a:xfrm>
          <a:prstGeom prst="rect">
            <a:avLst/>
          </a:prstGeom>
          <a:noFill/>
        </p:spPr>
        <p:txBody>
          <a:bodyPr wrap="square" lIns="9144" rIns="9144" tIns="9144" bIns="9144" anchor="t">
            <a:spAutoFit/>
          </a:bodyPr>
          <a:lstStyle/>
          <a:p>
            <a:pPr algn="l">
              <a:spcBef>
                <a:spcPts val="0"/>
              </a:spcBef>
              <a:spcAft>
                <a:spcPts val="0"/>
              </a:spcAft>
            </a:pPr>
            <a:r>
              <a:rPr sz="1600" b="0" i="0">
                <a:solidFill>
                  <a:srgbClr val="233039"/>
                </a:solidFill>
                <a:latin typeface="Arial"/>
              </a:rPr>
              <a:t>Bring users, managers, and developers together to discuss priorities and resolve conflicting requests.</a:t>
            </a:r>
          </a:p>
        </p:txBody>
      </p:sp>
      <p:sp>
        <p:nvSpPr>
          <p:cNvPr id="19" name="Rounded Rectangle 18"/>
          <p:cNvSpPr/>
          <p:nvPr/>
        </p:nvSpPr>
        <p:spPr>
          <a:xfrm>
            <a:off x="1517904" y="5477256"/>
            <a:ext cx="9098280" cy="539496"/>
          </a:xfrm>
          <a:prstGeom prst="roundRect">
            <a:avLst>
              <a:gd name="adj" fmla="val 13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5605272"/>
            <a:ext cx="8860536" cy="219456"/>
          </a:xfrm>
          <a:prstGeom prst="rect">
            <a:avLst/>
          </a:prstGeom>
          <a:noFill/>
        </p:spPr>
        <p:txBody>
          <a:bodyPr wrap="square" lIns="9144" rIns="9144" tIns="9144" bIns="9144" anchor="ctr">
            <a:spAutoFit/>
          </a:bodyPr>
          <a:lstStyle/>
          <a:p>
            <a:pPr algn="ctr">
              <a:spcBef>
                <a:spcPts val="0"/>
              </a:spcBef>
              <a:spcAft>
                <a:spcPts val="0"/>
              </a:spcAft>
            </a:pPr>
            <a:r>
              <a:rPr sz="1460" b="1" i="0">
                <a:solidFill>
                  <a:srgbClr val="174877"/>
                </a:solidFill>
                <a:latin typeface="Arial"/>
              </a:rPr>
              <a:t>Ask: “What is the hardest part of your current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Observation and personas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What people do may differ from what they say.</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10 / 20</a:t>
            </a:r>
          </a:p>
        </p:txBody>
      </p:sp>
      <p:sp>
        <p:nvSpPr>
          <p:cNvPr id="9" name="Rounded Rectangle 8"/>
          <p:cNvSpPr/>
          <p:nvPr/>
        </p:nvSpPr>
        <p:spPr>
          <a:xfrm>
            <a:off x="827532" y="1897380"/>
            <a:ext cx="5111496" cy="402336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1847088"/>
            <a:ext cx="5111496" cy="402336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3348" y="1897380"/>
            <a:ext cx="5148072" cy="402336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847088"/>
            <a:ext cx="5148072" cy="4023360"/>
          </a:xfrm>
          <a:prstGeom prst="roundRect">
            <a:avLst>
              <a:gd name="adj" fmla="val 13000"/>
            </a:avLst>
          </a:prstGeom>
          <a:solidFill>
            <a:srgbClr val="E2F0FA"/>
          </a:solidFill>
          <a:ln w="12700">
            <a:solidFill>
              <a:srgbClr val="D5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5" y="2103120"/>
            <a:ext cx="4562856" cy="219456"/>
          </a:xfrm>
          <a:prstGeom prst="rect">
            <a:avLst/>
          </a:prstGeom>
          <a:noFill/>
        </p:spPr>
        <p:txBody>
          <a:bodyPr wrap="square" lIns="9144" rIns="9144" tIns="9144" bIns="9144" anchor="ctr">
            <a:spAutoFit/>
          </a:bodyPr>
          <a:lstStyle/>
          <a:p>
            <a:pPr algn="l">
              <a:spcBef>
                <a:spcPts val="0"/>
              </a:spcBef>
              <a:spcAft>
                <a:spcPts val="0"/>
              </a:spcAft>
            </a:pPr>
            <a:r>
              <a:rPr sz="1650" b="1" i="0">
                <a:solidFill>
                  <a:srgbClr val="174877"/>
                </a:solidFill>
                <a:latin typeface="Arial"/>
              </a:rPr>
              <a:t>OBSERVE REAL WORK</a:t>
            </a:r>
          </a:p>
        </p:txBody>
      </p:sp>
      <p:sp>
        <p:nvSpPr>
          <p:cNvPr id="14" name="Oval 13"/>
          <p:cNvSpPr/>
          <p:nvPr/>
        </p:nvSpPr>
        <p:spPr>
          <a:xfrm>
            <a:off x="1051560" y="2761488"/>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761488"/>
            <a:ext cx="365760" cy="365760"/>
          </a:xfrm>
          <a:prstGeom prst="rect">
            <a:avLst/>
          </a:prstGeom>
          <a:noFill/>
        </p:spPr>
        <p:txBody>
          <a:bodyPr wrap="square" lIns="9144" rIns="9144" tIns="9144" bIns="9144" anchor="ctr">
            <a:spAutoFit/>
          </a:bodyPr>
          <a:lstStyle/>
          <a:p>
            <a:pPr algn="ctr">
              <a:spcBef>
                <a:spcPts val="0"/>
              </a:spcBef>
              <a:spcAft>
                <a:spcPts val="0"/>
              </a:spcAft>
            </a:pPr>
            <a:r>
              <a:rPr sz="1400" b="1" i="0">
                <a:solidFill>
                  <a:srgbClr val="FFFFFF"/>
                </a:solidFill>
                <a:latin typeface="Arial"/>
              </a:rPr>
              <a:t>1</a:t>
            </a:r>
          </a:p>
        </p:txBody>
      </p:sp>
      <p:sp>
        <p:nvSpPr>
          <p:cNvPr id="16" name="TextBox 15"/>
          <p:cNvSpPr txBox="1"/>
          <p:nvPr/>
        </p:nvSpPr>
        <p:spPr>
          <a:xfrm>
            <a:off x="1618488" y="2788920"/>
            <a:ext cx="3895344" cy="310896"/>
          </a:xfrm>
          <a:prstGeom prst="rect">
            <a:avLst/>
          </a:prstGeom>
          <a:noFill/>
        </p:spPr>
        <p:txBody>
          <a:bodyPr wrap="square" lIns="9144" rIns="9144" tIns="9144" bIns="9144" anchor="ctr">
            <a:spAutoFit/>
          </a:bodyPr>
          <a:lstStyle/>
          <a:p>
            <a:pPr algn="l">
              <a:spcBef>
                <a:spcPts val="0"/>
              </a:spcBef>
              <a:spcAft>
                <a:spcPts val="0"/>
              </a:spcAft>
            </a:pPr>
            <a:r>
              <a:rPr sz="1520" b="0" i="0">
                <a:solidFill>
                  <a:srgbClr val="233039"/>
                </a:solidFill>
                <a:latin typeface="Arial"/>
              </a:rPr>
              <a:t>Receives task</a:t>
            </a:r>
          </a:p>
        </p:txBody>
      </p:sp>
      <p:sp>
        <p:nvSpPr>
          <p:cNvPr id="17" name="Oval 16"/>
          <p:cNvSpPr/>
          <p:nvPr/>
        </p:nvSpPr>
        <p:spPr>
          <a:xfrm>
            <a:off x="1051560" y="3511296"/>
            <a:ext cx="365760" cy="365760"/>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511296"/>
            <a:ext cx="365760" cy="365760"/>
          </a:xfrm>
          <a:prstGeom prst="rect">
            <a:avLst/>
          </a:prstGeom>
          <a:noFill/>
        </p:spPr>
        <p:txBody>
          <a:bodyPr wrap="square" lIns="9144" rIns="9144" tIns="9144" bIns="9144" anchor="ctr">
            <a:spAutoFit/>
          </a:bodyPr>
          <a:lstStyle/>
          <a:p>
            <a:pPr algn="ctr">
              <a:spcBef>
                <a:spcPts val="0"/>
              </a:spcBef>
              <a:spcAft>
                <a:spcPts val="0"/>
              </a:spcAft>
            </a:pPr>
            <a:r>
              <a:rPr sz="1400" b="1" i="0">
                <a:solidFill>
                  <a:srgbClr val="FFFFFF"/>
                </a:solidFill>
                <a:latin typeface="Arial"/>
              </a:rPr>
              <a:t>2</a:t>
            </a:r>
          </a:p>
        </p:txBody>
      </p:sp>
      <p:sp>
        <p:nvSpPr>
          <p:cNvPr id="19" name="TextBox 18"/>
          <p:cNvSpPr txBox="1"/>
          <p:nvPr/>
        </p:nvSpPr>
        <p:spPr>
          <a:xfrm>
            <a:off x="1618488" y="3538727"/>
            <a:ext cx="3895344" cy="310896"/>
          </a:xfrm>
          <a:prstGeom prst="rect">
            <a:avLst/>
          </a:prstGeom>
          <a:noFill/>
        </p:spPr>
        <p:txBody>
          <a:bodyPr wrap="square" lIns="9144" rIns="9144" tIns="9144" bIns="9144" anchor="ctr">
            <a:spAutoFit/>
          </a:bodyPr>
          <a:lstStyle/>
          <a:p>
            <a:pPr algn="l">
              <a:spcBef>
                <a:spcPts val="0"/>
              </a:spcBef>
              <a:spcAft>
                <a:spcPts val="0"/>
              </a:spcAft>
            </a:pPr>
            <a:r>
              <a:rPr sz="1520" b="0" i="0">
                <a:solidFill>
                  <a:srgbClr val="233039"/>
                </a:solidFill>
                <a:latin typeface="Arial"/>
              </a:rPr>
              <a:t>Copies deadline</a:t>
            </a:r>
          </a:p>
        </p:txBody>
      </p:sp>
      <p:sp>
        <p:nvSpPr>
          <p:cNvPr id="20" name="Oval 19"/>
          <p:cNvSpPr/>
          <p:nvPr/>
        </p:nvSpPr>
        <p:spPr>
          <a:xfrm>
            <a:off x="1051560" y="4261104"/>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261104"/>
            <a:ext cx="365760" cy="365760"/>
          </a:xfrm>
          <a:prstGeom prst="rect">
            <a:avLst/>
          </a:prstGeom>
          <a:noFill/>
        </p:spPr>
        <p:txBody>
          <a:bodyPr wrap="square" lIns="9144" rIns="9144" tIns="9144" bIns="9144" anchor="ctr">
            <a:spAutoFit/>
          </a:bodyPr>
          <a:lstStyle/>
          <a:p>
            <a:pPr algn="ctr">
              <a:spcBef>
                <a:spcPts val="0"/>
              </a:spcBef>
              <a:spcAft>
                <a:spcPts val="0"/>
              </a:spcAft>
            </a:pPr>
            <a:r>
              <a:rPr sz="1400" b="1" i="0">
                <a:solidFill>
                  <a:srgbClr val="FFFFFF"/>
                </a:solidFill>
                <a:latin typeface="Arial"/>
              </a:rPr>
              <a:t>3</a:t>
            </a:r>
          </a:p>
        </p:txBody>
      </p:sp>
      <p:sp>
        <p:nvSpPr>
          <p:cNvPr id="22" name="TextBox 21"/>
          <p:cNvSpPr txBox="1"/>
          <p:nvPr/>
        </p:nvSpPr>
        <p:spPr>
          <a:xfrm>
            <a:off x="1618488" y="4288536"/>
            <a:ext cx="3895344" cy="310896"/>
          </a:xfrm>
          <a:prstGeom prst="rect">
            <a:avLst/>
          </a:prstGeom>
          <a:noFill/>
        </p:spPr>
        <p:txBody>
          <a:bodyPr wrap="square" lIns="9144" rIns="9144" tIns="9144" bIns="9144" anchor="ctr">
            <a:spAutoFit/>
          </a:bodyPr>
          <a:lstStyle/>
          <a:p>
            <a:pPr algn="l">
              <a:spcBef>
                <a:spcPts val="0"/>
              </a:spcBef>
              <a:spcAft>
                <a:spcPts val="0"/>
              </a:spcAft>
            </a:pPr>
            <a:r>
              <a:rPr sz="1520" b="0" i="0">
                <a:solidFill>
                  <a:srgbClr val="233039"/>
                </a:solidFill>
                <a:latin typeface="Arial"/>
              </a:rPr>
              <a:t>Checks two systems</a:t>
            </a:r>
          </a:p>
        </p:txBody>
      </p:sp>
      <p:sp>
        <p:nvSpPr>
          <p:cNvPr id="23" name="Rounded Rectangle 22"/>
          <p:cNvSpPr/>
          <p:nvPr/>
        </p:nvSpPr>
        <p:spPr>
          <a:xfrm>
            <a:off x="1024128" y="5184648"/>
            <a:ext cx="4608576" cy="384048"/>
          </a:xfrm>
          <a:prstGeom prst="roundRect">
            <a:avLst>
              <a:gd name="adj" fmla="val 13000"/>
            </a:avLst>
          </a:prstGeom>
          <a:solidFill>
            <a:srgbClr val="FB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5568" y="5257800"/>
            <a:ext cx="4453128" cy="237744"/>
          </a:xfrm>
          <a:prstGeom prst="rect">
            <a:avLst/>
          </a:prstGeom>
          <a:noFill/>
        </p:spPr>
        <p:txBody>
          <a:bodyPr wrap="square" lIns="9144" rIns="9144" tIns="9144" bIns="9144" anchor="ctr">
            <a:spAutoFit/>
          </a:bodyPr>
          <a:lstStyle/>
          <a:p>
            <a:pPr algn="ctr">
              <a:spcBef>
                <a:spcPts val="0"/>
              </a:spcBef>
              <a:spcAft>
                <a:spcPts val="0"/>
              </a:spcAft>
            </a:pPr>
            <a:r>
              <a:rPr sz="1330" b="1" i="0">
                <a:solidFill>
                  <a:srgbClr val="CE1C29"/>
                </a:solidFill>
                <a:latin typeface="Arial"/>
              </a:rPr>
              <a:t>Hidden need: fewer manual steps</a:t>
            </a:r>
          </a:p>
        </p:txBody>
      </p:sp>
      <p:sp>
        <p:nvSpPr>
          <p:cNvPr id="25" name="TextBox 24"/>
          <p:cNvSpPr txBox="1"/>
          <p:nvPr/>
        </p:nvSpPr>
        <p:spPr>
          <a:xfrm>
            <a:off x="6437376" y="2103120"/>
            <a:ext cx="4517136" cy="219456"/>
          </a:xfrm>
          <a:prstGeom prst="rect">
            <a:avLst/>
          </a:prstGeom>
          <a:noFill/>
        </p:spPr>
        <p:txBody>
          <a:bodyPr wrap="square" lIns="9144" rIns="9144" tIns="9144" bIns="9144" anchor="ctr">
            <a:spAutoFit/>
          </a:bodyPr>
          <a:lstStyle/>
          <a:p>
            <a:pPr algn="l">
              <a:spcBef>
                <a:spcPts val="0"/>
              </a:spcBef>
              <a:spcAft>
                <a:spcPts val="0"/>
              </a:spcAft>
            </a:pPr>
            <a:r>
              <a:rPr sz="1500" b="1" i="0">
                <a:solidFill>
                  <a:srgbClr val="CE1C29"/>
                </a:solidFill>
                <a:latin typeface="Arial"/>
              </a:rPr>
              <a:t>RESEARCH-GROUNDED PERSONA</a:t>
            </a:r>
          </a:p>
        </p:txBody>
      </p:sp>
      <p:sp>
        <p:nvSpPr>
          <p:cNvPr id="26" name="Oval 25"/>
          <p:cNvSpPr/>
          <p:nvPr/>
        </p:nvSpPr>
        <p:spPr>
          <a:xfrm>
            <a:off x="6501384" y="2651760"/>
            <a:ext cx="960120" cy="96012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2660904"/>
            <a:ext cx="969264" cy="914400"/>
          </a:xfrm>
          <a:prstGeom prst="rect">
            <a:avLst/>
          </a:prstGeom>
          <a:noFill/>
        </p:spPr>
        <p:txBody>
          <a:bodyPr wrap="square" lIns="9144" rIns="9144" tIns="9144" bIns="9144" anchor="ctr">
            <a:spAutoFit/>
          </a:bodyPr>
          <a:lstStyle/>
          <a:p>
            <a:pPr algn="ctr">
              <a:spcBef>
                <a:spcPts val="0"/>
              </a:spcBef>
              <a:spcAft>
                <a:spcPts val="0"/>
              </a:spcAft>
            </a:pPr>
            <a:r>
              <a:rPr sz="3900" b="1" i="0">
                <a:solidFill>
                  <a:srgbClr val="FFFFFF"/>
                </a:solidFill>
                <a:latin typeface="Arial"/>
              </a:rPr>
              <a:t>J</a:t>
            </a:r>
          </a:p>
        </p:txBody>
      </p:sp>
      <p:sp>
        <p:nvSpPr>
          <p:cNvPr id="28" name="TextBox 27"/>
          <p:cNvSpPr txBox="1"/>
          <p:nvPr/>
        </p:nvSpPr>
        <p:spPr>
          <a:xfrm>
            <a:off x="7671816" y="2734056"/>
            <a:ext cx="3200400" cy="356616"/>
          </a:xfrm>
          <a:prstGeom prst="rect">
            <a:avLst/>
          </a:prstGeom>
          <a:noFill/>
        </p:spPr>
        <p:txBody>
          <a:bodyPr wrap="square" lIns="9144" rIns="9144" tIns="9144" bIns="9144" anchor="ctr">
            <a:spAutoFit/>
          </a:bodyPr>
          <a:lstStyle/>
          <a:p>
            <a:pPr algn="l">
              <a:spcBef>
                <a:spcPts val="0"/>
              </a:spcBef>
              <a:spcAft>
                <a:spcPts val="0"/>
              </a:spcAft>
            </a:pPr>
            <a:r>
              <a:rPr sz="2200" b="1" i="0">
                <a:solidFill>
                  <a:srgbClr val="174877"/>
                </a:solidFill>
                <a:latin typeface="Arial"/>
              </a:rPr>
              <a:t>Jordan</a:t>
            </a:r>
          </a:p>
        </p:txBody>
      </p:sp>
      <p:sp>
        <p:nvSpPr>
          <p:cNvPr id="29" name="TextBox 28"/>
          <p:cNvSpPr txBox="1"/>
          <p:nvPr/>
        </p:nvSpPr>
        <p:spPr>
          <a:xfrm>
            <a:off x="6510528" y="3730752"/>
            <a:ext cx="4498848" cy="292608"/>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Overwhelmed project manager</a:t>
            </a:r>
          </a:p>
        </p:txBody>
      </p:sp>
      <p:sp>
        <p:nvSpPr>
          <p:cNvPr id="30" name="TextBox 29"/>
          <p:cNvSpPr txBox="1"/>
          <p:nvPr/>
        </p:nvSpPr>
        <p:spPr>
          <a:xfrm>
            <a:off x="6510528" y="4251960"/>
            <a:ext cx="4590288" cy="1069848"/>
          </a:xfrm>
          <a:prstGeom prst="rect">
            <a:avLst/>
          </a:prstGeom>
          <a:noFill/>
        </p:spPr>
        <p:txBody>
          <a:bodyPr wrap="square" lIns="9144" rIns="9144" tIns="9144" bIns="9144" anchor="t">
            <a:spAutoFit/>
          </a:bodyPr>
          <a:lstStyle/>
          <a:p>
            <a:pPr algn="l">
              <a:spcBef>
                <a:spcPts val="0"/>
              </a:spcBef>
              <a:spcAft>
                <a:spcPts val="0"/>
              </a:spcAft>
            </a:pPr>
            <a:r>
              <a:rPr sz="1480" b="0" i="0">
                <a:solidFill>
                  <a:srgbClr val="233039"/>
                </a:solidFill>
                <a:latin typeface="Arial"/>
              </a:rPr>
              <a:t>Goal: Reassign tasks quickly</a:t>
            </a:r>
          </a:p>
          <a:p>
            <a:pPr algn="l">
              <a:spcBef>
                <a:spcPts val="0"/>
              </a:spcBef>
              <a:spcAft>
                <a:spcPts val="0"/>
              </a:spcAft>
            </a:pPr>
            <a:r>
              <a:rPr sz="1480" b="0" i="0">
                <a:solidFill>
                  <a:srgbClr val="233039"/>
                </a:solidFill>
                <a:latin typeface="Arial"/>
              </a:rPr>
              <a:t>Behavior: Uses laptop and phone</a:t>
            </a:r>
          </a:p>
          <a:p>
            <a:pPr algn="l">
              <a:spcBef>
                <a:spcPts val="0"/>
              </a:spcBef>
              <a:spcAft>
                <a:spcPts val="0"/>
              </a:spcAft>
            </a:pPr>
            <a:r>
              <a:rPr sz="1480" b="0" i="0">
                <a:solidFill>
                  <a:srgbClr val="233039"/>
                </a:solidFill>
                <a:latin typeface="Arial"/>
              </a:rPr>
              <a:t>Pain: Too many notifications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Documents and prototypes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Existing evidence and early mockups reveal missing needs.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11 / 20</a:t>
            </a:r>
          </a:p>
        </p:txBody>
      </p:sp>
      <p:sp>
        <p:nvSpPr>
          <p:cNvPr id="9" name="Rounded Rectangle 8"/>
          <p:cNvSpPr/>
          <p:nvPr/>
        </p:nvSpPr>
        <p:spPr>
          <a:xfrm>
            <a:off x="836676" y="1897380"/>
            <a:ext cx="5093208" cy="407822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1847088"/>
            <a:ext cx="5093208" cy="407822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49924" y="1897380"/>
            <a:ext cx="5074920" cy="407822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08776" y="1847088"/>
            <a:ext cx="5074920" cy="407822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4507992" cy="219456"/>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DOCUMENT ANALYSIS</a:t>
            </a:r>
          </a:p>
        </p:txBody>
      </p:sp>
      <p:sp>
        <p:nvSpPr>
          <p:cNvPr id="14" name="TextBox 13"/>
          <p:cNvSpPr txBox="1"/>
          <p:nvPr/>
        </p:nvSpPr>
        <p:spPr>
          <a:xfrm>
            <a:off x="1078992" y="2596896"/>
            <a:ext cx="4389120" cy="365760"/>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Start with real evidence</a:t>
            </a:r>
          </a:p>
        </p:txBody>
      </p:sp>
      <p:sp>
        <p:nvSpPr>
          <p:cNvPr id="15" name="Oval 14"/>
          <p:cNvSpPr/>
          <p:nvPr/>
        </p:nvSpPr>
        <p:spPr>
          <a:xfrm>
            <a:off x="1060704" y="3227832"/>
            <a:ext cx="164592" cy="16459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3163824"/>
            <a:ext cx="4105656" cy="374904"/>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Process manuals / specifications</a:t>
            </a:r>
          </a:p>
        </p:txBody>
      </p:sp>
      <p:sp>
        <p:nvSpPr>
          <p:cNvPr id="17" name="Oval 16"/>
          <p:cNvSpPr/>
          <p:nvPr/>
        </p:nvSpPr>
        <p:spPr>
          <a:xfrm>
            <a:off x="1060704" y="3931920"/>
            <a:ext cx="164592" cy="16459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3867912"/>
            <a:ext cx="4105656" cy="374904"/>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Support tickets and error logs</a:t>
            </a:r>
          </a:p>
        </p:txBody>
      </p:sp>
      <p:sp>
        <p:nvSpPr>
          <p:cNvPr id="19" name="Oval 18"/>
          <p:cNvSpPr/>
          <p:nvPr/>
        </p:nvSpPr>
        <p:spPr>
          <a:xfrm>
            <a:off x="1060704" y="4636008"/>
            <a:ext cx="164592" cy="16459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4572000"/>
            <a:ext cx="4105656" cy="374904"/>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Company policies / regulations</a:t>
            </a:r>
          </a:p>
        </p:txBody>
      </p:sp>
      <p:sp>
        <p:nvSpPr>
          <p:cNvPr id="21" name="TextBox 20"/>
          <p:cNvSpPr txBox="1"/>
          <p:nvPr/>
        </p:nvSpPr>
        <p:spPr>
          <a:xfrm>
            <a:off x="6473952" y="2121408"/>
            <a:ext cx="4526280" cy="219456"/>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PROTOTYPING</a:t>
            </a:r>
          </a:p>
        </p:txBody>
      </p:sp>
      <p:sp>
        <p:nvSpPr>
          <p:cNvPr id="22" name="TextBox 21"/>
          <p:cNvSpPr txBox="1"/>
          <p:nvPr/>
        </p:nvSpPr>
        <p:spPr>
          <a:xfrm>
            <a:off x="6483096" y="2569464"/>
            <a:ext cx="4489704" cy="347472"/>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Show ideas before coding</a:t>
            </a:r>
          </a:p>
        </p:txBody>
      </p:sp>
      <p:sp>
        <p:nvSpPr>
          <p:cNvPr id="23" name="Rounded Rectangle 22"/>
          <p:cNvSpPr/>
          <p:nvPr/>
        </p:nvSpPr>
        <p:spPr>
          <a:xfrm>
            <a:off x="6784848" y="3108960"/>
            <a:ext cx="4160520" cy="2340864"/>
          </a:xfrm>
          <a:prstGeom prst="roundRect">
            <a:avLst>
              <a:gd name="adj" fmla="val 13000"/>
            </a:avLst>
          </a:prstGeom>
          <a:solidFill>
            <a:srgbClr val="F7F9FC"/>
          </a:solidFill>
          <a:ln w="12700">
            <a:solidFill>
              <a:srgbClr val="BFC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84848" y="3108960"/>
            <a:ext cx="4160520" cy="438912"/>
          </a:xfrm>
          <a:prstGeom prst="rect">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86016" y="3182112"/>
            <a:ext cx="3291840" cy="246888"/>
          </a:xfrm>
          <a:prstGeom prst="rect">
            <a:avLst/>
          </a:prstGeom>
          <a:noFill/>
        </p:spPr>
        <p:txBody>
          <a:bodyPr wrap="square" lIns="9144" rIns="9144" tIns="9144" bIns="9144" anchor="ctr">
            <a:spAutoFit/>
          </a:bodyPr>
          <a:lstStyle/>
          <a:p>
            <a:pPr algn="l">
              <a:spcBef>
                <a:spcPts val="0"/>
              </a:spcBef>
              <a:spcAft>
                <a:spcPts val="0"/>
              </a:spcAft>
            </a:pPr>
            <a:r>
              <a:rPr sz="1500" b="1" i="0">
                <a:solidFill>
                  <a:srgbClr val="FFFFFF"/>
                </a:solidFill>
                <a:latin typeface="Arial"/>
              </a:rPr>
              <a:t>Assign task</a:t>
            </a:r>
          </a:p>
        </p:txBody>
      </p:sp>
      <p:sp>
        <p:nvSpPr>
          <p:cNvPr id="26" name="TextBox 25"/>
          <p:cNvSpPr txBox="1"/>
          <p:nvPr/>
        </p:nvSpPr>
        <p:spPr>
          <a:xfrm>
            <a:off x="7031736" y="3749039"/>
            <a:ext cx="3602736"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Task: Fix login issue</a:t>
            </a:r>
          </a:p>
        </p:txBody>
      </p:sp>
      <p:sp>
        <p:nvSpPr>
          <p:cNvPr id="27" name="Rounded Rectangle 26"/>
          <p:cNvSpPr/>
          <p:nvPr/>
        </p:nvSpPr>
        <p:spPr>
          <a:xfrm>
            <a:off x="7031736" y="4169663"/>
            <a:ext cx="3566160" cy="384048"/>
          </a:xfrm>
          <a:prstGeom prst="roundRect">
            <a:avLst>
              <a:gd name="adj" fmla="val 13000"/>
            </a:avLst>
          </a:prstGeom>
          <a:solidFill>
            <a:srgbClr val="FFFFFF"/>
          </a:solidFill>
          <a:ln w="12700">
            <a:solidFill>
              <a:srgbClr val="BFC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87184" y="4242816"/>
            <a:ext cx="3246120" cy="210312"/>
          </a:xfrm>
          <a:prstGeom prst="rect">
            <a:avLst/>
          </a:prstGeom>
          <a:noFill/>
        </p:spPr>
        <p:txBody>
          <a:bodyPr wrap="square" lIns="9144" rIns="9144" tIns="9144" bIns="9144" anchor="ctr">
            <a:spAutoFit/>
          </a:bodyPr>
          <a:lstStyle/>
          <a:p>
            <a:pPr algn="l">
              <a:spcBef>
                <a:spcPts val="0"/>
              </a:spcBef>
              <a:spcAft>
                <a:spcPts val="0"/>
              </a:spcAft>
            </a:pPr>
            <a:r>
              <a:rPr sz="1280" b="0" i="0">
                <a:solidFill>
                  <a:srgbClr val="233039"/>
                </a:solidFill>
                <a:latin typeface="Arial"/>
              </a:rPr>
              <a:t>Assignee:  Alice  ▾</a:t>
            </a:r>
          </a:p>
        </p:txBody>
      </p:sp>
      <p:sp>
        <p:nvSpPr>
          <p:cNvPr id="29" name="Rounded Rectangle 28"/>
          <p:cNvSpPr/>
          <p:nvPr/>
        </p:nvSpPr>
        <p:spPr>
          <a:xfrm>
            <a:off x="9281160" y="4773168"/>
            <a:ext cx="1335024" cy="411480"/>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72600" y="4855464"/>
            <a:ext cx="1133856" cy="219456"/>
          </a:xfrm>
          <a:prstGeom prst="rect">
            <a:avLst/>
          </a:prstGeom>
          <a:noFill/>
        </p:spPr>
        <p:txBody>
          <a:bodyPr wrap="square" lIns="9144" rIns="9144" tIns="9144" bIns="9144" anchor="ctr">
            <a:spAutoFit/>
          </a:bodyPr>
          <a:lstStyle/>
          <a:p>
            <a:pPr algn="ctr">
              <a:spcBef>
                <a:spcPts val="0"/>
              </a:spcBef>
              <a:spcAft>
                <a:spcPts val="0"/>
              </a:spcAft>
            </a:pPr>
            <a:r>
              <a:rPr sz="1230" b="1" i="0">
                <a:solidFill>
                  <a:srgbClr val="FFFFFF"/>
                </a:solidFill>
                <a:latin typeface="Arial"/>
              </a:rPr>
              <a:t>ASSIGN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Functional requirements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WHAT must the system do?</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14 / 20</a:t>
            </a:r>
          </a:p>
        </p:txBody>
      </p:sp>
      <p:sp>
        <p:nvSpPr>
          <p:cNvPr id="9" name="Rounded Rectangle 8"/>
          <p:cNvSpPr/>
          <p:nvPr/>
        </p:nvSpPr>
        <p:spPr>
          <a:xfrm>
            <a:off x="914400" y="1874519"/>
            <a:ext cx="10341864" cy="914400"/>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2029968"/>
            <a:ext cx="2743200" cy="219456"/>
          </a:xfrm>
          <a:prstGeom prst="rect">
            <a:avLst/>
          </a:prstGeom>
          <a:noFill/>
        </p:spPr>
        <p:txBody>
          <a:bodyPr wrap="square" lIns="9144" rIns="9144" tIns="9144" bIns="9144" anchor="ctr">
            <a:spAutoFit/>
          </a:bodyPr>
          <a:lstStyle/>
          <a:p>
            <a:pPr algn="l">
              <a:spcBef>
                <a:spcPts val="0"/>
              </a:spcBef>
              <a:spcAft>
                <a:spcPts val="0"/>
              </a:spcAft>
            </a:pPr>
            <a:r>
              <a:rPr sz="1250" b="1" i="0">
                <a:solidFill>
                  <a:srgbClr val="174877"/>
                </a:solidFill>
                <a:latin typeface="Arial"/>
              </a:rPr>
              <a:t>COMMON FORMAT</a:t>
            </a:r>
          </a:p>
        </p:txBody>
      </p:sp>
      <p:sp>
        <p:nvSpPr>
          <p:cNvPr id="11" name="TextBox 10"/>
          <p:cNvSpPr txBox="1"/>
          <p:nvPr/>
        </p:nvSpPr>
        <p:spPr>
          <a:xfrm>
            <a:off x="1207008" y="2304288"/>
            <a:ext cx="9326880" cy="310896"/>
          </a:xfrm>
          <a:prstGeom prst="rect">
            <a:avLst/>
          </a:prstGeom>
          <a:noFill/>
        </p:spPr>
        <p:txBody>
          <a:bodyPr wrap="square" lIns="9144" rIns="9144" tIns="9144" bIns="9144" anchor="ctr">
            <a:spAutoFit/>
          </a:bodyPr>
          <a:lstStyle/>
          <a:p>
            <a:pPr algn="l">
              <a:spcBef>
                <a:spcPts val="0"/>
              </a:spcBef>
              <a:spcAft>
                <a:spcPts val="0"/>
              </a:spcAft>
            </a:pPr>
            <a:r>
              <a:rPr sz="1900" b="1" i="0">
                <a:solidFill>
                  <a:srgbClr val="174877"/>
                </a:solidFill>
                <a:latin typeface="Arial"/>
              </a:rPr>
              <a:t>The system shall  +  action  +  object  +  condition</a:t>
            </a:r>
          </a:p>
        </p:txBody>
      </p:sp>
      <p:sp>
        <p:nvSpPr>
          <p:cNvPr id="12" name="Rounded Rectangle 11"/>
          <p:cNvSpPr/>
          <p:nvPr/>
        </p:nvSpPr>
        <p:spPr>
          <a:xfrm>
            <a:off x="992124" y="3150108"/>
            <a:ext cx="4855464" cy="207568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0976" y="3099816"/>
            <a:ext cx="4855464" cy="207568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0976" y="3099816"/>
            <a:ext cx="73152" cy="2075688"/>
          </a:xfrm>
          <a:prstGeom prst="rect">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3273552"/>
            <a:ext cx="4434840" cy="411480"/>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01  Create tasks</a:t>
            </a:r>
          </a:p>
        </p:txBody>
      </p:sp>
      <p:sp>
        <p:nvSpPr>
          <p:cNvPr id="16" name="TextBox 15"/>
          <p:cNvSpPr txBox="1"/>
          <p:nvPr/>
        </p:nvSpPr>
        <p:spPr>
          <a:xfrm>
            <a:off x="1188720" y="3813048"/>
            <a:ext cx="4416552" cy="1234440"/>
          </a:xfrm>
          <a:prstGeom prst="rect">
            <a:avLst/>
          </a:prstGeom>
          <a:noFill/>
        </p:spPr>
        <p:txBody>
          <a:bodyPr wrap="square" lIns="9144" rIns="9144" tIns="9144" bIns="9144" anchor="t">
            <a:spAutoFit/>
          </a:bodyPr>
          <a:lstStyle/>
          <a:p>
            <a:pPr algn="l">
              <a:spcBef>
                <a:spcPts val="0"/>
              </a:spcBef>
              <a:spcAft>
                <a:spcPts val="0"/>
              </a:spcAft>
            </a:pPr>
            <a:r>
              <a:rPr sz="1500" b="0" i="0">
                <a:solidFill>
                  <a:srgbClr val="233039"/>
                </a:solidFill>
                <a:latin typeface="Arial"/>
              </a:rPr>
              <a:t>The system shall allow authenticated users to create tasks with a title and due date.</a:t>
            </a:r>
          </a:p>
        </p:txBody>
      </p:sp>
      <p:sp>
        <p:nvSpPr>
          <p:cNvPr id="17" name="Rounded Rectangle 16"/>
          <p:cNvSpPr/>
          <p:nvPr/>
        </p:nvSpPr>
        <p:spPr>
          <a:xfrm>
            <a:off x="6359652" y="3150108"/>
            <a:ext cx="4855464" cy="207568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18504" y="3099816"/>
            <a:ext cx="4855464" cy="207568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18504" y="3099816"/>
            <a:ext cx="73152" cy="2075688"/>
          </a:xfrm>
          <a:prstGeom prst="rect">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6248" y="3273552"/>
            <a:ext cx="4434840" cy="411480"/>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CE1C29"/>
                </a:solidFill>
                <a:latin typeface="Arial"/>
              </a:rPr>
              <a:t>02  Assign tasks</a:t>
            </a:r>
          </a:p>
        </p:txBody>
      </p:sp>
      <p:sp>
        <p:nvSpPr>
          <p:cNvPr id="21" name="TextBox 20"/>
          <p:cNvSpPr txBox="1"/>
          <p:nvPr/>
        </p:nvSpPr>
        <p:spPr>
          <a:xfrm>
            <a:off x="6556248" y="3813048"/>
            <a:ext cx="4416552" cy="1234440"/>
          </a:xfrm>
          <a:prstGeom prst="rect">
            <a:avLst/>
          </a:prstGeom>
          <a:noFill/>
        </p:spPr>
        <p:txBody>
          <a:bodyPr wrap="square" lIns="9144" rIns="9144" tIns="9144" bIns="9144" anchor="t">
            <a:spAutoFit/>
          </a:bodyPr>
          <a:lstStyle/>
          <a:p>
            <a:pPr algn="l">
              <a:spcBef>
                <a:spcPts val="0"/>
              </a:spcBef>
              <a:spcAft>
                <a:spcPts val="0"/>
              </a:spcAft>
            </a:pPr>
            <a:r>
              <a:rPr sz="1500" b="0" i="0">
                <a:solidFill>
                  <a:srgbClr val="233039"/>
                </a:solidFill>
                <a:latin typeface="Arial"/>
              </a:rPr>
              <a:t>The system shall allow project managers to assign tasks to team members.</a:t>
            </a:r>
          </a:p>
        </p:txBody>
      </p:sp>
      <p:sp>
        <p:nvSpPr>
          <p:cNvPr id="22" name="TextBox 21"/>
          <p:cNvSpPr txBox="1"/>
          <p:nvPr/>
        </p:nvSpPr>
        <p:spPr>
          <a:xfrm>
            <a:off x="2660904" y="5660136"/>
            <a:ext cx="6867144" cy="310896"/>
          </a:xfrm>
          <a:prstGeom prst="rect">
            <a:avLst/>
          </a:prstGeom>
          <a:noFill/>
        </p:spPr>
        <p:txBody>
          <a:bodyPr wrap="square" lIns="9144" rIns="9144" tIns="9144" bIns="9144" anchor="ctr">
            <a:spAutoFit/>
          </a:bodyPr>
          <a:lstStyle/>
          <a:p>
            <a:pPr algn="ctr">
              <a:spcBef>
                <a:spcPts val="0"/>
              </a:spcBef>
              <a:spcAft>
                <a:spcPts val="0"/>
              </a:spcAft>
            </a:pPr>
            <a:r>
              <a:rPr sz="1700" b="1" i="0">
                <a:solidFill>
                  <a:srgbClr val="174877"/>
                </a:solidFill>
                <a:latin typeface="Arial"/>
              </a:rPr>
              <a:t>Specific action  →  observable behavior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Non-functional requirements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HOW WELL must the system work?</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15 / 20</a:t>
            </a:r>
          </a:p>
        </p:txBody>
      </p:sp>
      <p:sp>
        <p:nvSpPr>
          <p:cNvPr id="9" name="Rounded Rectangle 8"/>
          <p:cNvSpPr/>
          <p:nvPr/>
        </p:nvSpPr>
        <p:spPr>
          <a:xfrm>
            <a:off x="836676"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96696" y="2048255"/>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Performance</a:t>
            </a:r>
          </a:p>
        </p:txBody>
      </p:sp>
      <p:sp>
        <p:nvSpPr>
          <p:cNvPr id="13" name="TextBox 12"/>
          <p:cNvSpPr txBox="1"/>
          <p:nvPr/>
        </p:nvSpPr>
        <p:spPr>
          <a:xfrm>
            <a:off x="996696"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Response time</a:t>
            </a:r>
          </a:p>
        </p:txBody>
      </p:sp>
      <p:sp>
        <p:nvSpPr>
          <p:cNvPr id="14" name="Rounded Rectangle 13"/>
          <p:cNvSpPr/>
          <p:nvPr/>
        </p:nvSpPr>
        <p:spPr>
          <a:xfrm>
            <a:off x="3707891"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66744"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867911" y="2048255"/>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67911"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Reliability</a:t>
            </a:r>
          </a:p>
        </p:txBody>
      </p:sp>
      <p:sp>
        <p:nvSpPr>
          <p:cNvPr id="18" name="TextBox 17"/>
          <p:cNvSpPr txBox="1"/>
          <p:nvPr/>
        </p:nvSpPr>
        <p:spPr>
          <a:xfrm>
            <a:off x="3867911"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Uptime</a:t>
            </a:r>
          </a:p>
        </p:txBody>
      </p:sp>
      <p:sp>
        <p:nvSpPr>
          <p:cNvPr id="19" name="Rounded Rectangle 18"/>
          <p:cNvSpPr/>
          <p:nvPr/>
        </p:nvSpPr>
        <p:spPr>
          <a:xfrm>
            <a:off x="6579108"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37960"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39128" y="2048255"/>
            <a:ext cx="457200" cy="91440"/>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9128"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Security</a:t>
            </a:r>
          </a:p>
        </p:txBody>
      </p:sp>
      <p:sp>
        <p:nvSpPr>
          <p:cNvPr id="23" name="TextBox 22"/>
          <p:cNvSpPr txBox="1"/>
          <p:nvPr/>
        </p:nvSpPr>
        <p:spPr>
          <a:xfrm>
            <a:off x="6739128"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Data protection</a:t>
            </a:r>
          </a:p>
        </p:txBody>
      </p:sp>
      <p:sp>
        <p:nvSpPr>
          <p:cNvPr id="24" name="Rounded Rectangle 23"/>
          <p:cNvSpPr/>
          <p:nvPr/>
        </p:nvSpPr>
        <p:spPr>
          <a:xfrm>
            <a:off x="9450324"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09176"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10344" y="2048255"/>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10344"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Scalability</a:t>
            </a:r>
          </a:p>
        </p:txBody>
      </p:sp>
      <p:sp>
        <p:nvSpPr>
          <p:cNvPr id="28" name="TextBox 27"/>
          <p:cNvSpPr txBox="1"/>
          <p:nvPr/>
        </p:nvSpPr>
        <p:spPr>
          <a:xfrm>
            <a:off x="9610344"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Handle growth</a:t>
            </a:r>
          </a:p>
        </p:txBody>
      </p:sp>
      <p:sp>
        <p:nvSpPr>
          <p:cNvPr id="29" name="Rounded Rectangle 28"/>
          <p:cNvSpPr/>
          <p:nvPr/>
        </p:nvSpPr>
        <p:spPr>
          <a:xfrm>
            <a:off x="836676"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5528"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96696" y="3858768"/>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6696"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Usability</a:t>
            </a:r>
          </a:p>
        </p:txBody>
      </p:sp>
      <p:sp>
        <p:nvSpPr>
          <p:cNvPr id="33" name="TextBox 32"/>
          <p:cNvSpPr txBox="1"/>
          <p:nvPr/>
        </p:nvSpPr>
        <p:spPr>
          <a:xfrm>
            <a:off x="996696"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Ease of use</a:t>
            </a:r>
          </a:p>
        </p:txBody>
      </p:sp>
      <p:sp>
        <p:nvSpPr>
          <p:cNvPr id="34" name="Rounded Rectangle 33"/>
          <p:cNvSpPr/>
          <p:nvPr/>
        </p:nvSpPr>
        <p:spPr>
          <a:xfrm>
            <a:off x="3707891"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666744"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867911" y="3858768"/>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67911"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Maintainability</a:t>
            </a:r>
          </a:p>
        </p:txBody>
      </p:sp>
      <p:sp>
        <p:nvSpPr>
          <p:cNvPr id="38" name="TextBox 37"/>
          <p:cNvSpPr txBox="1"/>
          <p:nvPr/>
        </p:nvSpPr>
        <p:spPr>
          <a:xfrm>
            <a:off x="3867911"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Ease of change</a:t>
            </a:r>
          </a:p>
        </p:txBody>
      </p:sp>
      <p:sp>
        <p:nvSpPr>
          <p:cNvPr id="39" name="Rounded Rectangle 38"/>
          <p:cNvSpPr/>
          <p:nvPr/>
        </p:nvSpPr>
        <p:spPr>
          <a:xfrm>
            <a:off x="6579108"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537960"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739128" y="3858768"/>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39128"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Portability</a:t>
            </a:r>
          </a:p>
        </p:txBody>
      </p:sp>
      <p:sp>
        <p:nvSpPr>
          <p:cNvPr id="43" name="TextBox 42"/>
          <p:cNvSpPr txBox="1"/>
          <p:nvPr/>
        </p:nvSpPr>
        <p:spPr>
          <a:xfrm>
            <a:off x="6739128"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Run in new settings</a:t>
            </a:r>
          </a:p>
        </p:txBody>
      </p:sp>
      <p:sp>
        <p:nvSpPr>
          <p:cNvPr id="44" name="Rounded Rectangle 43"/>
          <p:cNvSpPr/>
          <p:nvPr/>
        </p:nvSpPr>
        <p:spPr>
          <a:xfrm>
            <a:off x="9450324"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409176"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10344" y="3858768"/>
            <a:ext cx="457200" cy="91440"/>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10344"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Compliance</a:t>
            </a:r>
          </a:p>
        </p:txBody>
      </p:sp>
      <p:sp>
        <p:nvSpPr>
          <p:cNvPr id="48" name="TextBox 47"/>
          <p:cNvSpPr txBox="1"/>
          <p:nvPr/>
        </p:nvSpPr>
        <p:spPr>
          <a:xfrm>
            <a:off x="9610344"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Follow regulations</a:t>
            </a:r>
          </a:p>
        </p:txBody>
      </p:sp>
      <p:sp>
        <p:nvSpPr>
          <p:cNvPr id="49" name="TextBox 48"/>
          <p:cNvSpPr txBox="1"/>
          <p:nvPr/>
        </p:nvSpPr>
        <p:spPr>
          <a:xfrm>
            <a:off x="1115568" y="5751576"/>
            <a:ext cx="10040112" cy="329184"/>
          </a:xfrm>
          <a:prstGeom prst="rect">
            <a:avLst/>
          </a:prstGeom>
          <a:noFill/>
        </p:spPr>
        <p:txBody>
          <a:bodyPr wrap="square" lIns="9144" rIns="9144" tIns="9144" bIns="9144" anchor="ctr">
            <a:spAutoFit/>
          </a:bodyPr>
          <a:lstStyle/>
          <a:p>
            <a:pPr algn="ctr">
              <a:spcBef>
                <a:spcPts val="0"/>
              </a:spcBef>
              <a:spcAft>
                <a:spcPts val="0"/>
              </a:spcAft>
            </a:pPr>
            <a:r>
              <a:rPr sz="1410" b="1" i="0">
                <a:solidFill>
                  <a:srgbClr val="CE1C29"/>
                </a:solidFill>
                <a:latin typeface="Arial"/>
              </a:rPr>
              <a:t>Correct features alone are not enough if the system is slow, unreliable, or unsafe.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Make quality measurable</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Replace vague wishes with testable targets.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16 / 20</a:t>
            </a:r>
          </a:p>
        </p:txBody>
      </p:sp>
      <p:sp>
        <p:nvSpPr>
          <p:cNvPr id="9" name="Rounded Rectangle 8"/>
          <p:cNvSpPr/>
          <p:nvPr/>
        </p:nvSpPr>
        <p:spPr>
          <a:xfrm>
            <a:off x="882396" y="1915668"/>
            <a:ext cx="5001768" cy="3310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1865376"/>
            <a:ext cx="5001768" cy="3310128"/>
          </a:xfrm>
          <a:prstGeom prst="roundRect">
            <a:avLst>
              <a:gd name="adj" fmla="val 13000"/>
            </a:avLst>
          </a:prstGeom>
          <a:solidFill>
            <a:srgbClr val="FBE7E9"/>
          </a:solidFill>
          <a:ln w="12700">
            <a:solidFill>
              <a:srgbClr val="EBD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86500" y="1915668"/>
            <a:ext cx="5001768" cy="3310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45352" y="1865376"/>
            <a:ext cx="5001768" cy="3310128"/>
          </a:xfrm>
          <a:prstGeom prst="roundRect">
            <a:avLst>
              <a:gd name="adj" fmla="val 13000"/>
            </a:avLst>
          </a:prstGeom>
          <a:solidFill>
            <a:srgbClr val="E6F3EC"/>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2130552"/>
            <a:ext cx="4389120"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CE1C29"/>
                </a:solidFill>
                <a:latin typeface="Arial"/>
              </a:rPr>
              <a:t>TOO VAGUE</a:t>
            </a:r>
          </a:p>
        </p:txBody>
      </p:sp>
      <p:sp>
        <p:nvSpPr>
          <p:cNvPr id="14" name="TextBox 13"/>
          <p:cNvSpPr txBox="1"/>
          <p:nvPr/>
        </p:nvSpPr>
        <p:spPr>
          <a:xfrm>
            <a:off x="1124712" y="2852928"/>
            <a:ext cx="4462272" cy="1243584"/>
          </a:xfrm>
          <a:prstGeom prst="rect">
            <a:avLst/>
          </a:prstGeom>
          <a:noFill/>
        </p:spPr>
        <p:txBody>
          <a:bodyPr wrap="square" lIns="9144" rIns="9144" tIns="9144" bIns="9144" anchor="ctr">
            <a:spAutoFit/>
          </a:bodyPr>
          <a:lstStyle/>
          <a:p>
            <a:pPr algn="l">
              <a:spcBef>
                <a:spcPts val="0"/>
              </a:spcBef>
              <a:spcAft>
                <a:spcPts val="0"/>
              </a:spcAft>
            </a:pPr>
            <a:r>
              <a:rPr sz="2200" b="1" i="0">
                <a:solidFill>
                  <a:srgbClr val="233039"/>
                </a:solidFill>
                <a:latin typeface="Arial"/>
              </a:rPr>
              <a:t>“The system</a:t>
            </a:r>
          </a:p>
          <a:p>
            <a:pPr algn="l">
              <a:spcBef>
                <a:spcPts val="0"/>
              </a:spcBef>
              <a:spcAft>
                <a:spcPts val="0"/>
              </a:spcAft>
            </a:pPr>
            <a:r>
              <a:rPr sz="2200" b="1" i="0">
                <a:solidFill>
                  <a:srgbClr val="233039"/>
                </a:solidFill>
                <a:latin typeface="Arial"/>
              </a:rPr>
              <a:t>should be fast.”</a:t>
            </a:r>
          </a:p>
        </p:txBody>
      </p:sp>
      <p:sp>
        <p:nvSpPr>
          <p:cNvPr id="15" name="TextBox 14"/>
          <p:cNvSpPr txBox="1"/>
          <p:nvPr/>
        </p:nvSpPr>
        <p:spPr>
          <a:xfrm>
            <a:off x="6510528" y="2130552"/>
            <a:ext cx="4434840"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217B57"/>
                </a:solidFill>
                <a:latin typeface="Arial"/>
              </a:rPr>
              <a:t>MEASURABLE</a:t>
            </a:r>
          </a:p>
        </p:txBody>
      </p:sp>
      <p:sp>
        <p:nvSpPr>
          <p:cNvPr id="16" name="TextBox 15"/>
          <p:cNvSpPr txBox="1"/>
          <p:nvPr/>
        </p:nvSpPr>
        <p:spPr>
          <a:xfrm>
            <a:off x="6510528" y="2816352"/>
            <a:ext cx="4471416" cy="1463040"/>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233039"/>
                </a:solidFill>
                <a:latin typeface="Arial"/>
              </a:rPr>
              <a:t>95% of API requests</a:t>
            </a:r>
          </a:p>
          <a:p>
            <a:pPr algn="l">
              <a:spcBef>
                <a:spcPts val="0"/>
              </a:spcBef>
              <a:spcAft>
                <a:spcPts val="0"/>
              </a:spcAft>
            </a:pPr>
            <a:r>
              <a:rPr sz="2000" b="1" i="0">
                <a:solidFill>
                  <a:srgbClr val="233039"/>
                </a:solidFill>
                <a:latin typeface="Arial"/>
              </a:rPr>
              <a:t>within 200 ms</a:t>
            </a:r>
          </a:p>
          <a:p>
            <a:pPr algn="l">
              <a:spcBef>
                <a:spcPts val="0"/>
              </a:spcBef>
              <a:spcAft>
                <a:spcPts val="0"/>
              </a:spcAft>
            </a:pPr>
            <a:r>
              <a:rPr sz="2000" b="1" i="0">
                <a:solidFill>
                  <a:srgbClr val="233039"/>
                </a:solidFill>
                <a:latin typeface="Arial"/>
              </a:rPr>
              <a:t>at 1,000 concurrent users</a:t>
            </a:r>
          </a:p>
        </p:txBody>
      </p:sp>
      <p:sp>
        <p:nvSpPr>
          <p:cNvPr id="17" name="Rounded Rectangle 16"/>
          <p:cNvSpPr/>
          <p:nvPr/>
        </p:nvSpPr>
        <p:spPr>
          <a:xfrm>
            <a:off x="1508760" y="5458968"/>
            <a:ext cx="9107424" cy="530352"/>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64792" y="5586984"/>
            <a:ext cx="8650224" cy="256032"/>
          </a:xfrm>
          <a:prstGeom prst="rect">
            <a:avLst/>
          </a:prstGeom>
          <a:noFill/>
        </p:spPr>
        <p:txBody>
          <a:bodyPr wrap="square" lIns="9144" rIns="9144" tIns="9144" bIns="9144" anchor="ctr">
            <a:spAutoFit/>
          </a:bodyPr>
          <a:lstStyle/>
          <a:p>
            <a:pPr algn="ctr">
              <a:spcBef>
                <a:spcPts val="0"/>
              </a:spcBef>
              <a:spcAft>
                <a:spcPts val="0"/>
              </a:spcAft>
            </a:pPr>
            <a:r>
              <a:rPr sz="1639" b="1" i="0">
                <a:solidFill>
                  <a:srgbClr val="174877"/>
                </a:solidFill>
                <a:latin typeface="Arial"/>
              </a:rPr>
              <a:t>Metric   +   Threshold   +   Conditions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FURPS+ coverage checklist</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A checklist for features, quality, and constraints.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17 / 20</a:t>
            </a:r>
          </a:p>
        </p:txBody>
      </p:sp>
      <p:sp>
        <p:nvSpPr>
          <p:cNvPr id="9" name="Rounded Rectangle 8"/>
          <p:cNvSpPr/>
          <p:nvPr/>
        </p:nvSpPr>
        <p:spPr>
          <a:xfrm>
            <a:off x="854964" y="1952244"/>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 y="1901952"/>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4984" y="2093976"/>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2093976"/>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F</a:t>
            </a:r>
          </a:p>
        </p:txBody>
      </p:sp>
      <p:sp>
        <p:nvSpPr>
          <p:cNvPr id="13" name="TextBox 12"/>
          <p:cNvSpPr txBox="1"/>
          <p:nvPr/>
        </p:nvSpPr>
        <p:spPr>
          <a:xfrm>
            <a:off x="1746504" y="2121408"/>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Functionality</a:t>
            </a:r>
          </a:p>
        </p:txBody>
      </p:sp>
      <p:sp>
        <p:nvSpPr>
          <p:cNvPr id="14" name="TextBox 13"/>
          <p:cNvSpPr txBox="1"/>
          <p:nvPr/>
        </p:nvSpPr>
        <p:spPr>
          <a:xfrm>
            <a:off x="1014984" y="2843784"/>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Features and capabilities</a:t>
            </a:r>
          </a:p>
        </p:txBody>
      </p:sp>
      <p:sp>
        <p:nvSpPr>
          <p:cNvPr id="15" name="Rounded Rectangle 14"/>
          <p:cNvSpPr/>
          <p:nvPr/>
        </p:nvSpPr>
        <p:spPr>
          <a:xfrm>
            <a:off x="4695444" y="1952244"/>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54296" y="1901952"/>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855464" y="2093976"/>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55464" y="2093976"/>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U</a:t>
            </a:r>
          </a:p>
        </p:txBody>
      </p:sp>
      <p:sp>
        <p:nvSpPr>
          <p:cNvPr id="19" name="TextBox 18"/>
          <p:cNvSpPr txBox="1"/>
          <p:nvPr/>
        </p:nvSpPr>
        <p:spPr>
          <a:xfrm>
            <a:off x="5586983" y="2121408"/>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Usability</a:t>
            </a:r>
          </a:p>
        </p:txBody>
      </p:sp>
      <p:sp>
        <p:nvSpPr>
          <p:cNvPr id="20" name="TextBox 19"/>
          <p:cNvSpPr txBox="1"/>
          <p:nvPr/>
        </p:nvSpPr>
        <p:spPr>
          <a:xfrm>
            <a:off x="4855464" y="2843784"/>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User experience</a:t>
            </a:r>
          </a:p>
        </p:txBody>
      </p:sp>
      <p:sp>
        <p:nvSpPr>
          <p:cNvPr id="21" name="Rounded Rectangle 20"/>
          <p:cNvSpPr/>
          <p:nvPr/>
        </p:nvSpPr>
        <p:spPr>
          <a:xfrm>
            <a:off x="8535924" y="1952244"/>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94776" y="1901952"/>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95944" y="2093976"/>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95944" y="2093976"/>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R</a:t>
            </a:r>
          </a:p>
        </p:txBody>
      </p:sp>
      <p:sp>
        <p:nvSpPr>
          <p:cNvPr id="25" name="TextBox 24"/>
          <p:cNvSpPr txBox="1"/>
          <p:nvPr/>
        </p:nvSpPr>
        <p:spPr>
          <a:xfrm>
            <a:off x="9427464" y="2121408"/>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Reliability</a:t>
            </a:r>
          </a:p>
        </p:txBody>
      </p:sp>
      <p:sp>
        <p:nvSpPr>
          <p:cNvPr id="26" name="TextBox 25"/>
          <p:cNvSpPr txBox="1"/>
          <p:nvPr/>
        </p:nvSpPr>
        <p:spPr>
          <a:xfrm>
            <a:off x="8695944" y="2843784"/>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Availability and recovery</a:t>
            </a:r>
          </a:p>
        </p:txBody>
      </p:sp>
      <p:sp>
        <p:nvSpPr>
          <p:cNvPr id="27" name="Rounded Rectangle 26"/>
          <p:cNvSpPr/>
          <p:nvPr/>
        </p:nvSpPr>
        <p:spPr>
          <a:xfrm>
            <a:off x="854964" y="3799331"/>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13816" y="3749039"/>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3941063"/>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3941063"/>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P</a:t>
            </a:r>
          </a:p>
        </p:txBody>
      </p:sp>
      <p:sp>
        <p:nvSpPr>
          <p:cNvPr id="31" name="TextBox 30"/>
          <p:cNvSpPr txBox="1"/>
          <p:nvPr/>
        </p:nvSpPr>
        <p:spPr>
          <a:xfrm>
            <a:off x="1746504" y="3968496"/>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Performance</a:t>
            </a:r>
          </a:p>
        </p:txBody>
      </p:sp>
      <p:sp>
        <p:nvSpPr>
          <p:cNvPr id="32" name="TextBox 31"/>
          <p:cNvSpPr txBox="1"/>
          <p:nvPr/>
        </p:nvSpPr>
        <p:spPr>
          <a:xfrm>
            <a:off x="1014984" y="4690872"/>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Speed and capacity</a:t>
            </a:r>
          </a:p>
        </p:txBody>
      </p:sp>
      <p:sp>
        <p:nvSpPr>
          <p:cNvPr id="33" name="Rounded Rectangle 32"/>
          <p:cNvSpPr/>
          <p:nvPr/>
        </p:nvSpPr>
        <p:spPr>
          <a:xfrm>
            <a:off x="4695444" y="3799331"/>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54296" y="3749039"/>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855464" y="3941063"/>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55464" y="3941063"/>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S</a:t>
            </a:r>
          </a:p>
        </p:txBody>
      </p:sp>
      <p:sp>
        <p:nvSpPr>
          <p:cNvPr id="37" name="TextBox 36"/>
          <p:cNvSpPr txBox="1"/>
          <p:nvPr/>
        </p:nvSpPr>
        <p:spPr>
          <a:xfrm>
            <a:off x="5586983" y="3968496"/>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Supportability</a:t>
            </a:r>
          </a:p>
        </p:txBody>
      </p:sp>
      <p:sp>
        <p:nvSpPr>
          <p:cNvPr id="38" name="TextBox 37"/>
          <p:cNvSpPr txBox="1"/>
          <p:nvPr/>
        </p:nvSpPr>
        <p:spPr>
          <a:xfrm>
            <a:off x="4855464" y="4690872"/>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Testing, changes, portability</a:t>
            </a:r>
          </a:p>
        </p:txBody>
      </p:sp>
      <p:sp>
        <p:nvSpPr>
          <p:cNvPr id="39" name="Rounded Rectangle 38"/>
          <p:cNvSpPr/>
          <p:nvPr/>
        </p:nvSpPr>
        <p:spPr>
          <a:xfrm>
            <a:off x="8535924" y="3799331"/>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494776" y="3749039"/>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695944" y="3941063"/>
            <a:ext cx="557784" cy="557784"/>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95944" y="3941063"/>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a:t>
            </a:r>
          </a:p>
        </p:txBody>
      </p:sp>
      <p:sp>
        <p:nvSpPr>
          <p:cNvPr id="43" name="TextBox 42"/>
          <p:cNvSpPr txBox="1"/>
          <p:nvPr/>
        </p:nvSpPr>
        <p:spPr>
          <a:xfrm>
            <a:off x="9427464" y="3968496"/>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Constraints</a:t>
            </a:r>
          </a:p>
        </p:txBody>
      </p:sp>
      <p:sp>
        <p:nvSpPr>
          <p:cNvPr id="44" name="TextBox 43"/>
          <p:cNvSpPr txBox="1"/>
          <p:nvPr/>
        </p:nvSpPr>
        <p:spPr>
          <a:xfrm>
            <a:off x="8695944" y="4690872"/>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Design and technical limits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RECAP</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Three takeaways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Discover needs. Specify behavior. Define quality.</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r>
              <a:rPr sz="900">
                <a:solidFill>
                  <a:srgbClr val="627080"/>
                </a:solidFill>
                <a:latin typeface="Arial"/>
              </a:rPr>
              <a:t>20 / 20</a:t>
            </a:r>
          </a:p>
        </p:txBody>
      </p:sp>
      <p:sp>
        <p:nvSpPr>
          <p:cNvPr id="9" name="Rounded Rectangle 8"/>
          <p:cNvSpPr/>
          <p:nvPr/>
        </p:nvSpPr>
        <p:spPr>
          <a:xfrm>
            <a:off x="1019556" y="1933956"/>
            <a:ext cx="10204704" cy="1024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8408" y="1883664"/>
            <a:ext cx="10204704" cy="102412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52728" y="2121408"/>
            <a:ext cx="521207" cy="521207"/>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2121408"/>
            <a:ext cx="521207" cy="521207"/>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1</a:t>
            </a:r>
          </a:p>
        </p:txBody>
      </p:sp>
      <p:sp>
        <p:nvSpPr>
          <p:cNvPr id="13" name="TextBox 12"/>
          <p:cNvSpPr txBox="1"/>
          <p:nvPr/>
        </p:nvSpPr>
        <p:spPr>
          <a:xfrm>
            <a:off x="2057400" y="2039112"/>
            <a:ext cx="4690872" cy="384048"/>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174877"/>
                </a:solidFill>
                <a:latin typeface="Arial"/>
              </a:rPr>
              <a:t>Discover real needs</a:t>
            </a:r>
          </a:p>
        </p:txBody>
      </p:sp>
      <p:sp>
        <p:nvSpPr>
          <p:cNvPr id="14" name="TextBox 13"/>
          <p:cNvSpPr txBox="1"/>
          <p:nvPr/>
        </p:nvSpPr>
        <p:spPr>
          <a:xfrm>
            <a:off x="6775704" y="2130552"/>
            <a:ext cx="4041648" cy="283464"/>
          </a:xfrm>
          <a:prstGeom prst="rect">
            <a:avLst/>
          </a:prstGeom>
          <a:noFill/>
        </p:spPr>
        <p:txBody>
          <a:bodyPr wrap="square" lIns="9144" rIns="9144" tIns="9144" bIns="9144" anchor="ctr">
            <a:spAutoFit/>
          </a:bodyPr>
          <a:lstStyle/>
          <a:p>
            <a:pPr algn="l">
              <a:spcBef>
                <a:spcPts val="0"/>
              </a:spcBef>
              <a:spcAft>
                <a:spcPts val="0"/>
              </a:spcAft>
            </a:pPr>
            <a:r>
              <a:rPr sz="1480" b="0" i="0">
                <a:solidFill>
                  <a:srgbClr val="233039"/>
                </a:solidFill>
                <a:latin typeface="Arial"/>
              </a:rPr>
              <a:t>Talk, observe, and validate.</a:t>
            </a:r>
          </a:p>
        </p:txBody>
      </p:sp>
      <p:sp>
        <p:nvSpPr>
          <p:cNvPr id="15" name="Rounded Rectangle 14"/>
          <p:cNvSpPr/>
          <p:nvPr/>
        </p:nvSpPr>
        <p:spPr>
          <a:xfrm>
            <a:off x="1019556" y="3159252"/>
            <a:ext cx="10204704" cy="1024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8408" y="3108960"/>
            <a:ext cx="10204704" cy="102412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252728" y="3346704"/>
            <a:ext cx="521207" cy="521207"/>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52728" y="3346704"/>
            <a:ext cx="521207" cy="521207"/>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2</a:t>
            </a:r>
          </a:p>
        </p:txBody>
      </p:sp>
      <p:sp>
        <p:nvSpPr>
          <p:cNvPr id="19" name="TextBox 18"/>
          <p:cNvSpPr txBox="1"/>
          <p:nvPr/>
        </p:nvSpPr>
        <p:spPr>
          <a:xfrm>
            <a:off x="2057400" y="3264408"/>
            <a:ext cx="4690872" cy="384048"/>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174877"/>
                </a:solidFill>
                <a:latin typeface="Arial"/>
              </a:rPr>
              <a:t>Write clear behavior</a:t>
            </a:r>
          </a:p>
        </p:txBody>
      </p:sp>
      <p:sp>
        <p:nvSpPr>
          <p:cNvPr id="20" name="TextBox 19"/>
          <p:cNvSpPr txBox="1"/>
          <p:nvPr/>
        </p:nvSpPr>
        <p:spPr>
          <a:xfrm>
            <a:off x="6775704" y="3355848"/>
            <a:ext cx="4041648" cy="283464"/>
          </a:xfrm>
          <a:prstGeom prst="rect">
            <a:avLst/>
          </a:prstGeom>
          <a:noFill/>
        </p:spPr>
        <p:txBody>
          <a:bodyPr wrap="square" lIns="9144" rIns="9144" tIns="9144" bIns="9144" anchor="ctr">
            <a:spAutoFit/>
          </a:bodyPr>
          <a:lstStyle/>
          <a:p>
            <a:pPr algn="l">
              <a:spcBef>
                <a:spcPts val="0"/>
              </a:spcBef>
              <a:spcAft>
                <a:spcPts val="0"/>
              </a:spcAft>
            </a:pPr>
            <a:r>
              <a:rPr sz="1480" b="0" i="0">
                <a:solidFill>
                  <a:srgbClr val="233039"/>
                </a:solidFill>
                <a:latin typeface="Arial"/>
              </a:rPr>
              <a:t>Define specific system actions.</a:t>
            </a:r>
          </a:p>
        </p:txBody>
      </p:sp>
      <p:sp>
        <p:nvSpPr>
          <p:cNvPr id="21" name="Rounded Rectangle 20"/>
          <p:cNvSpPr/>
          <p:nvPr/>
        </p:nvSpPr>
        <p:spPr>
          <a:xfrm>
            <a:off x="1019556" y="4384548"/>
            <a:ext cx="10204704" cy="1024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8408" y="4334256"/>
            <a:ext cx="10204704" cy="102412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252728" y="4572000"/>
            <a:ext cx="521207" cy="521207"/>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52728" y="4572000"/>
            <a:ext cx="521207" cy="521207"/>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3</a:t>
            </a:r>
          </a:p>
        </p:txBody>
      </p:sp>
      <p:sp>
        <p:nvSpPr>
          <p:cNvPr id="25" name="TextBox 24"/>
          <p:cNvSpPr txBox="1"/>
          <p:nvPr/>
        </p:nvSpPr>
        <p:spPr>
          <a:xfrm>
            <a:off x="2057400" y="4489704"/>
            <a:ext cx="4690872" cy="384048"/>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174877"/>
                </a:solidFill>
                <a:latin typeface="Arial"/>
              </a:rPr>
              <a:t>Define system quality</a:t>
            </a:r>
          </a:p>
        </p:txBody>
      </p:sp>
      <p:sp>
        <p:nvSpPr>
          <p:cNvPr id="26" name="TextBox 25"/>
          <p:cNvSpPr txBox="1"/>
          <p:nvPr/>
        </p:nvSpPr>
        <p:spPr>
          <a:xfrm>
            <a:off x="6775704" y="4581144"/>
            <a:ext cx="4041648" cy="283464"/>
          </a:xfrm>
          <a:prstGeom prst="rect">
            <a:avLst/>
          </a:prstGeom>
          <a:noFill/>
        </p:spPr>
        <p:txBody>
          <a:bodyPr wrap="square" lIns="9144" rIns="9144" tIns="9144" bIns="9144" anchor="ctr">
            <a:spAutoFit/>
          </a:bodyPr>
          <a:lstStyle/>
          <a:p>
            <a:pPr algn="l">
              <a:spcBef>
                <a:spcPts val="0"/>
              </a:spcBef>
              <a:spcAft>
                <a:spcPts val="0"/>
              </a:spcAft>
            </a:pPr>
            <a:r>
              <a:rPr sz="1480" b="0" i="0">
                <a:solidFill>
                  <a:srgbClr val="233039"/>
                </a:solidFill>
                <a:latin typeface="Arial"/>
              </a:rPr>
              <a:t>Use measurable targets.</a:t>
            </a:r>
          </a:p>
        </p:txBody>
      </p:sp>
      <p:sp>
        <p:nvSpPr>
          <p:cNvPr id="27" name="TextBox 26"/>
          <p:cNvSpPr txBox="1"/>
          <p:nvPr/>
        </p:nvSpPr>
        <p:spPr>
          <a:xfrm>
            <a:off x="3977639" y="5833872"/>
            <a:ext cx="4251960" cy="28346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CE1C29"/>
                </a:solidFill>
                <a:latin typeface="Arial"/>
              </a:rPr>
              <a:t>Thank you!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44752" cy="365760"/>
          </a:xfrm>
          <a:prstGeom prst="rect">
            <a:avLst/>
          </a:prstGeom>
          <a:noFill/>
        </p:spPr>
        <p:txBody>
          <a:bodyPr wrap="square" lIns="36576" rIns="36576" tIns="22860" bIns="22860" anchor="ctr">
            <a:spAutoFit/>
          </a:bodyPr>
          <a:lstStyle/>
          <a:p>
            <a:pPr algn="l">
              <a:spcBef>
                <a:spcPts val="0"/>
              </a:spcBef>
              <a:spcAft>
                <a:spcPts val="0"/>
              </a:spcAft>
            </a:pPr>
            <a:r>
              <a:rPr sz="1120" b="1">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36576" rIns="36576" tIns="22860" bIns="22860" anchor="ctr">
            <a:spAutoFit/>
          </a:bodyPr>
          <a:lstStyle/>
          <a:p>
            <a:pPr algn="l">
              <a:spcBef>
                <a:spcPts val="0"/>
              </a:spcBef>
              <a:spcAft>
                <a:spcPts val="0"/>
              </a:spcAft>
            </a:pPr>
            <a:r>
              <a:rPr sz="2520" b="1">
                <a:solidFill>
                  <a:srgbClr val="FFFFFF"/>
                </a:solidFill>
                <a:latin typeface="Arial"/>
              </a:rPr>
              <a:t>Checkpoint · Section 2.1</a:t>
            </a:r>
          </a:p>
        </p:txBody>
      </p:sp>
      <p:sp>
        <p:nvSpPr>
          <p:cNvPr id="5" name="TextBox 4"/>
          <p:cNvSpPr txBox="1"/>
          <p:nvPr/>
        </p:nvSpPr>
        <p:spPr>
          <a:xfrm>
            <a:off x="758952" y="1261872"/>
            <a:ext cx="10789920" cy="393192"/>
          </a:xfrm>
          <a:prstGeom prst="rect">
            <a:avLst/>
          </a:prstGeom>
          <a:noFill/>
        </p:spPr>
        <p:txBody>
          <a:bodyPr wrap="square" lIns="36576" rIns="36576" tIns="22860" bIns="22860" anchor="ctr">
            <a:spAutoFit/>
          </a:bodyPr>
          <a:lstStyle/>
          <a:p>
            <a:pPr algn="l">
              <a:spcBef>
                <a:spcPts val="0"/>
              </a:spcBef>
              <a:spcAft>
                <a:spcPts val="0"/>
              </a:spcAft>
            </a:pPr>
            <a:r>
              <a:rPr sz="1320" b="0">
                <a:solidFill>
                  <a:srgbClr val="627080"/>
                </a:solidFill>
                <a:latin typeface="Arial"/>
              </a:rPr>
              <a:t>The process is iterative. Can you choose the right next step?</a:t>
            </a:r>
          </a:p>
        </p:txBody>
      </p:sp>
      <p:sp>
        <p:nvSpPr>
          <p:cNvPr id="6" name="Rectangle 5"/>
          <p:cNvSpPr/>
          <p:nvPr/>
        </p:nvSpPr>
        <p:spPr>
          <a:xfrm>
            <a:off x="768096" y="6327648"/>
            <a:ext cx="10716768" cy="10972"/>
          </a:xfrm>
          <a:prstGeom prst="rect">
            <a:avLst/>
          </a:prstGeom>
          <a:solidFill>
            <a:srgbClr val="D7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201168"/>
          </a:xfrm>
          <a:prstGeom prst="rect">
            <a:avLst/>
          </a:prstGeom>
          <a:noFill/>
        </p:spPr>
        <p:txBody>
          <a:bodyPr wrap="square" lIns="36576" rIns="36576" tIns="22860" bIns="22860" anchor="ctr">
            <a:spAutoFit/>
          </a:bodyPr>
          <a:lstStyle/>
          <a:p>
            <a:pPr algn="l">
              <a:spcBef>
                <a:spcPts val="0"/>
              </a:spcBef>
              <a:spcAft>
                <a:spcPts val="0"/>
              </a:spcAft>
            </a:pPr>
            <a:r>
              <a:rPr sz="900" b="0">
                <a:solidFill>
                  <a:srgbClr val="8A929B"/>
                </a:solidFill>
                <a:latin typeface="Arial"/>
              </a:rPr>
              <a:t>Source: book.agentic-swe.dev/chapter_2.html  •  Sections 2.1–2.3</a:t>
            </a:r>
          </a:p>
        </p:txBody>
      </p:sp>
      <p:sp>
        <p:nvSpPr>
          <p:cNvPr id="8" name="TextBox 7"/>
          <p:cNvSpPr txBox="1"/>
          <p:nvPr/>
        </p:nvSpPr>
        <p:spPr>
          <a:xfrm>
            <a:off x="10981944" y="6345936"/>
            <a:ext cx="685800" cy="256032"/>
          </a:xfrm>
          <a:prstGeom prst="rect">
            <a:avLst/>
          </a:prstGeom>
          <a:noFill/>
        </p:spPr>
        <p:txBody>
          <a:bodyPr wrap="square" lIns="36576" rIns="36576" tIns="22860" bIns="22860" anchor="ctr">
            <a:spAutoFit/>
          </a:bodyPr>
          <a:lstStyle/>
          <a:p>
            <a:pPr algn="r"/>
            <a:r>
              <a:rPr sz="900">
                <a:solidFill>
                  <a:srgbClr val="627080"/>
                </a:solidFill>
                <a:latin typeface="Arial"/>
              </a:rPr>
              <a:t>05 / 20</a:t>
            </a:r>
          </a:p>
        </p:txBody>
      </p:sp>
      <p:sp>
        <p:nvSpPr>
          <p:cNvPr id="9" name="Rounded Rectangle 8"/>
          <p:cNvSpPr/>
          <p:nvPr/>
        </p:nvSpPr>
        <p:spPr>
          <a:xfrm>
            <a:off x="731520" y="1865376"/>
            <a:ext cx="5175504" cy="4050791"/>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05256" y="2002536"/>
            <a:ext cx="1143000" cy="310896"/>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29968"/>
            <a:ext cx="1024128" cy="228600"/>
          </a:xfrm>
          <a:prstGeom prst="rect">
            <a:avLst/>
          </a:prstGeom>
          <a:noFill/>
        </p:spPr>
        <p:txBody>
          <a:bodyPr wrap="square" lIns="0" rIns="0" tIns="22860" bIns="22860" anchor="ctr">
            <a:spAutoFit/>
          </a:bodyPr>
          <a:lstStyle/>
          <a:p>
            <a:pPr algn="ctr">
              <a:spcBef>
                <a:spcPts val="0"/>
              </a:spcBef>
              <a:spcAft>
                <a:spcPts val="0"/>
              </a:spcAft>
            </a:pPr>
            <a:r>
              <a:rPr sz="1100" b="1">
                <a:solidFill>
                  <a:srgbClr val="FFFFFF"/>
                </a:solidFill>
                <a:latin typeface="Arial"/>
              </a:rPr>
              <a:t>QUESTION 1</a:t>
            </a:r>
          </a:p>
        </p:txBody>
      </p:sp>
      <p:sp>
        <p:nvSpPr>
          <p:cNvPr id="12" name="TextBox 11"/>
          <p:cNvSpPr txBox="1"/>
          <p:nvPr/>
        </p:nvSpPr>
        <p:spPr>
          <a:xfrm>
            <a:off x="932688" y="2414016"/>
            <a:ext cx="4736592" cy="548640"/>
          </a:xfrm>
          <a:prstGeom prst="rect">
            <a:avLst/>
          </a:prstGeom>
          <a:noFill/>
        </p:spPr>
        <p:txBody>
          <a:bodyPr wrap="square" lIns="36576" rIns="36576" tIns="22860" bIns="22860" anchor="ctr">
            <a:spAutoFit/>
          </a:bodyPr>
          <a:lstStyle/>
          <a:p>
            <a:pPr algn="l">
              <a:spcBef>
                <a:spcPts val="0"/>
              </a:spcBef>
              <a:spcAft>
                <a:spcPts val="0"/>
              </a:spcAft>
            </a:pPr>
            <a:r>
              <a:rPr sz="1610" b="1">
                <a:solidFill>
                  <a:srgbClr val="22324B"/>
                </a:solidFill>
                <a:latin typeface="Arial"/>
              </a:rPr>
              <a:t>Which activity confirms that written requirements reflect stakeholder needs?</a:t>
            </a:r>
          </a:p>
        </p:txBody>
      </p:sp>
      <p:sp>
        <p:nvSpPr>
          <p:cNvPr id="13" name="Rounded Rectangle 12"/>
          <p:cNvSpPr/>
          <p:nvPr/>
        </p:nvSpPr>
        <p:spPr>
          <a:xfrm>
            <a:off x="905256" y="3118104"/>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87552" y="3200400"/>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218688"/>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A</a:t>
            </a:r>
          </a:p>
        </p:txBody>
      </p:sp>
      <p:sp>
        <p:nvSpPr>
          <p:cNvPr id="16" name="TextBox 15"/>
          <p:cNvSpPr txBox="1"/>
          <p:nvPr/>
        </p:nvSpPr>
        <p:spPr>
          <a:xfrm>
            <a:off x="1435608" y="3168396"/>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Analysis</a:t>
            </a:r>
          </a:p>
        </p:txBody>
      </p:sp>
      <p:sp>
        <p:nvSpPr>
          <p:cNvPr id="17" name="Rounded Rectangle 16"/>
          <p:cNvSpPr/>
          <p:nvPr/>
        </p:nvSpPr>
        <p:spPr>
          <a:xfrm>
            <a:off x="905256" y="3749039"/>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7552" y="3831335"/>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3849624"/>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B</a:t>
            </a:r>
          </a:p>
        </p:txBody>
      </p:sp>
      <p:sp>
        <p:nvSpPr>
          <p:cNvPr id="20" name="TextBox 19"/>
          <p:cNvSpPr txBox="1"/>
          <p:nvPr/>
        </p:nvSpPr>
        <p:spPr>
          <a:xfrm>
            <a:off x="1435608" y="3799331"/>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Specification</a:t>
            </a:r>
          </a:p>
        </p:txBody>
      </p:sp>
      <p:sp>
        <p:nvSpPr>
          <p:cNvPr id="21" name="Rounded Rectangle 20"/>
          <p:cNvSpPr/>
          <p:nvPr/>
        </p:nvSpPr>
        <p:spPr>
          <a:xfrm>
            <a:off x="905256" y="4379976"/>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87552" y="4462272"/>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 y="4480560"/>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C</a:t>
            </a:r>
          </a:p>
        </p:txBody>
      </p:sp>
      <p:sp>
        <p:nvSpPr>
          <p:cNvPr id="24" name="TextBox 23"/>
          <p:cNvSpPr txBox="1"/>
          <p:nvPr/>
        </p:nvSpPr>
        <p:spPr>
          <a:xfrm>
            <a:off x="1435608" y="4430268"/>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Validation</a:t>
            </a:r>
          </a:p>
        </p:txBody>
      </p:sp>
      <p:sp>
        <p:nvSpPr>
          <p:cNvPr id="25" name="Rounded Rectangle 24"/>
          <p:cNvSpPr/>
          <p:nvPr/>
        </p:nvSpPr>
        <p:spPr>
          <a:xfrm>
            <a:off x="905256" y="5010912"/>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7552" y="5093208"/>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 y="5111496"/>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D</a:t>
            </a:r>
          </a:p>
        </p:txBody>
      </p:sp>
      <p:sp>
        <p:nvSpPr>
          <p:cNvPr id="28" name="TextBox 27"/>
          <p:cNvSpPr txBox="1"/>
          <p:nvPr/>
        </p:nvSpPr>
        <p:spPr>
          <a:xfrm>
            <a:off x="1435608" y="5061204"/>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Elicitation</a:t>
            </a:r>
          </a:p>
        </p:txBody>
      </p:sp>
      <p:sp>
        <p:nvSpPr>
          <p:cNvPr id="29" name="Rounded Rectangle 28"/>
          <p:cNvSpPr/>
          <p:nvPr/>
        </p:nvSpPr>
        <p:spPr>
          <a:xfrm>
            <a:off x="6272783" y="1865376"/>
            <a:ext cx="5175504" cy="4050791"/>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46520" y="2002536"/>
            <a:ext cx="1143000" cy="310896"/>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01383" y="2029968"/>
            <a:ext cx="1024128" cy="228600"/>
          </a:xfrm>
          <a:prstGeom prst="rect">
            <a:avLst/>
          </a:prstGeom>
          <a:noFill/>
        </p:spPr>
        <p:txBody>
          <a:bodyPr wrap="square" lIns="0" rIns="0" tIns="22860" bIns="22860" anchor="ctr">
            <a:spAutoFit/>
          </a:bodyPr>
          <a:lstStyle/>
          <a:p>
            <a:pPr algn="ctr">
              <a:spcBef>
                <a:spcPts val="0"/>
              </a:spcBef>
              <a:spcAft>
                <a:spcPts val="0"/>
              </a:spcAft>
            </a:pPr>
            <a:r>
              <a:rPr sz="1100" b="1">
                <a:solidFill>
                  <a:srgbClr val="FFFFFF"/>
                </a:solidFill>
                <a:latin typeface="Arial"/>
              </a:rPr>
              <a:t>QUESTION 2</a:t>
            </a:r>
          </a:p>
        </p:txBody>
      </p:sp>
      <p:sp>
        <p:nvSpPr>
          <p:cNvPr id="32" name="TextBox 31"/>
          <p:cNvSpPr txBox="1"/>
          <p:nvPr/>
        </p:nvSpPr>
        <p:spPr>
          <a:xfrm>
            <a:off x="6473951" y="2414016"/>
            <a:ext cx="4736592" cy="548640"/>
          </a:xfrm>
          <a:prstGeom prst="rect">
            <a:avLst/>
          </a:prstGeom>
          <a:noFill/>
        </p:spPr>
        <p:txBody>
          <a:bodyPr wrap="square" lIns="36576" rIns="36576" tIns="22860" bIns="22860" anchor="ctr">
            <a:spAutoFit/>
          </a:bodyPr>
          <a:lstStyle/>
          <a:p>
            <a:pPr algn="l">
              <a:spcBef>
                <a:spcPts val="0"/>
              </a:spcBef>
              <a:spcAft>
                <a:spcPts val="0"/>
              </a:spcAft>
            </a:pPr>
            <a:r>
              <a:rPr sz="1610" b="1">
                <a:solidFill>
                  <a:srgbClr val="22324B"/>
                </a:solidFill>
                <a:latin typeface="Arial"/>
              </a:rPr>
              <a:t>Validation reveals a missing business rule. What should the team do next?</a:t>
            </a:r>
          </a:p>
        </p:txBody>
      </p:sp>
      <p:sp>
        <p:nvSpPr>
          <p:cNvPr id="33" name="Rounded Rectangle 32"/>
          <p:cNvSpPr/>
          <p:nvPr/>
        </p:nvSpPr>
        <p:spPr>
          <a:xfrm>
            <a:off x="6446520" y="3118104"/>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28816" y="3200400"/>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59" y="3218688"/>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A</a:t>
            </a:r>
          </a:p>
        </p:txBody>
      </p:sp>
      <p:sp>
        <p:nvSpPr>
          <p:cNvPr id="36" name="TextBox 35"/>
          <p:cNvSpPr txBox="1"/>
          <p:nvPr/>
        </p:nvSpPr>
        <p:spPr>
          <a:xfrm>
            <a:off x="6976871" y="3168396"/>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End the process after validation</a:t>
            </a:r>
          </a:p>
        </p:txBody>
      </p:sp>
      <p:sp>
        <p:nvSpPr>
          <p:cNvPr id="37" name="Rounded Rectangle 36"/>
          <p:cNvSpPr/>
          <p:nvPr/>
        </p:nvSpPr>
        <p:spPr>
          <a:xfrm>
            <a:off x="6446520" y="3749039"/>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28816" y="3831335"/>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59" y="3849624"/>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B</a:t>
            </a:r>
          </a:p>
        </p:txBody>
      </p:sp>
      <p:sp>
        <p:nvSpPr>
          <p:cNvPr id="40" name="TextBox 39"/>
          <p:cNvSpPr txBox="1"/>
          <p:nvPr/>
        </p:nvSpPr>
        <p:spPr>
          <a:xfrm>
            <a:off x="6976871" y="3799331"/>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Return to elicitation and analysis</a:t>
            </a:r>
          </a:p>
        </p:txBody>
      </p:sp>
      <p:sp>
        <p:nvSpPr>
          <p:cNvPr id="41" name="Rounded Rectangle 40"/>
          <p:cNvSpPr/>
          <p:nvPr/>
        </p:nvSpPr>
        <p:spPr>
          <a:xfrm>
            <a:off x="6446520" y="4379976"/>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528816" y="4462272"/>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59" y="4480560"/>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C</a:t>
            </a:r>
          </a:p>
        </p:txBody>
      </p:sp>
      <p:sp>
        <p:nvSpPr>
          <p:cNvPr id="44" name="TextBox 43"/>
          <p:cNvSpPr txBox="1"/>
          <p:nvPr/>
        </p:nvSpPr>
        <p:spPr>
          <a:xfrm>
            <a:off x="6976871" y="4430268"/>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Build from the unchanged document</a:t>
            </a:r>
          </a:p>
        </p:txBody>
      </p:sp>
      <p:sp>
        <p:nvSpPr>
          <p:cNvPr id="45" name="Rounded Rectangle 44"/>
          <p:cNvSpPr/>
          <p:nvPr/>
        </p:nvSpPr>
        <p:spPr>
          <a:xfrm>
            <a:off x="6446520" y="5010912"/>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528816" y="5093208"/>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37959" y="5111496"/>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D</a:t>
            </a:r>
          </a:p>
        </p:txBody>
      </p:sp>
      <p:sp>
        <p:nvSpPr>
          <p:cNvPr id="48" name="TextBox 47"/>
          <p:cNvSpPr txBox="1"/>
          <p:nvPr/>
        </p:nvSpPr>
        <p:spPr>
          <a:xfrm>
            <a:off x="6976871" y="5061204"/>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Wait until the product is released</a:t>
            </a:r>
          </a:p>
        </p:txBody>
      </p:sp>
      <p:sp>
        <p:nvSpPr>
          <p:cNvPr id="49" name="TextBox 48"/>
          <p:cNvSpPr txBox="1"/>
          <p:nvPr/>
        </p:nvSpPr>
        <p:spPr>
          <a:xfrm>
            <a:off x="1042415" y="6007608"/>
            <a:ext cx="10131552" cy="228600"/>
          </a:xfrm>
          <a:prstGeom prst="rect">
            <a:avLst/>
          </a:prstGeom>
          <a:noFill/>
        </p:spPr>
        <p:txBody>
          <a:bodyPr wrap="square" lIns="36576" rIns="36576" tIns="22860" bIns="22860" anchor="ctr">
            <a:spAutoFit/>
          </a:bodyPr>
          <a:lstStyle/>
          <a:p>
            <a:pPr algn="ctr">
              <a:spcBef>
                <a:spcPts val="0"/>
              </a:spcBef>
              <a:spcAft>
                <a:spcPts val="0"/>
              </a:spcAft>
            </a:pPr>
            <a:r>
              <a:rPr sz="1110" b="1">
                <a:solidFill>
                  <a:srgbClr val="CD1B2E"/>
                </a:solidFill>
                <a:latin typeface="Arial"/>
              </a:rPr>
              <a:t>Vote with your fingers: 1 = A, 2 = B, 3 = C, 4 = 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44752" cy="365760"/>
          </a:xfrm>
          <a:prstGeom prst="rect">
            <a:avLst/>
          </a:prstGeom>
          <a:noFill/>
        </p:spPr>
        <p:txBody>
          <a:bodyPr wrap="square" lIns="36576" rIns="36576" tIns="22860" bIns="22860" anchor="ctr">
            <a:spAutoFit/>
          </a:bodyPr>
          <a:lstStyle/>
          <a:p>
            <a:pPr algn="l">
              <a:spcBef>
                <a:spcPts val="0"/>
              </a:spcBef>
              <a:spcAft>
                <a:spcPts val="0"/>
              </a:spcAft>
            </a:pPr>
            <a:r>
              <a:rPr sz="1120" b="1">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36576" rIns="36576" tIns="22860" bIns="22860" anchor="ctr">
            <a:spAutoFit/>
          </a:bodyPr>
          <a:lstStyle/>
          <a:p>
            <a:pPr algn="l">
              <a:spcBef>
                <a:spcPts val="0"/>
              </a:spcBef>
              <a:spcAft>
                <a:spcPts val="0"/>
              </a:spcAft>
            </a:pPr>
            <a:r>
              <a:rPr sz="2520" b="1">
                <a:solidFill>
                  <a:srgbClr val="FFFFFF"/>
                </a:solidFill>
                <a:latin typeface="Arial"/>
              </a:rPr>
              <a:t>Answer reveal · 2.1 Requirements engineering</a:t>
            </a:r>
          </a:p>
        </p:txBody>
      </p:sp>
      <p:sp>
        <p:nvSpPr>
          <p:cNvPr id="5" name="TextBox 4"/>
          <p:cNvSpPr txBox="1"/>
          <p:nvPr/>
        </p:nvSpPr>
        <p:spPr>
          <a:xfrm>
            <a:off x="758952" y="1261872"/>
            <a:ext cx="10789920" cy="393192"/>
          </a:xfrm>
          <a:prstGeom prst="rect">
            <a:avLst/>
          </a:prstGeom>
          <a:noFill/>
        </p:spPr>
        <p:txBody>
          <a:bodyPr wrap="square" lIns="36576" rIns="36576" tIns="22860" bIns="22860" anchor="ctr">
            <a:spAutoFit/>
          </a:bodyPr>
          <a:lstStyle/>
          <a:p>
            <a:pPr algn="l">
              <a:spcBef>
                <a:spcPts val="0"/>
              </a:spcBef>
              <a:spcAft>
                <a:spcPts val="0"/>
              </a:spcAft>
            </a:pPr>
            <a:r>
              <a:rPr sz="1320" b="0">
                <a:solidFill>
                  <a:srgbClr val="627080"/>
                </a:solidFill>
                <a:latin typeface="Arial"/>
              </a:rPr>
              <a:t>Why these choices are correct</a:t>
            </a:r>
          </a:p>
        </p:txBody>
      </p:sp>
      <p:sp>
        <p:nvSpPr>
          <p:cNvPr id="6" name="Rectangle 5"/>
          <p:cNvSpPr/>
          <p:nvPr/>
        </p:nvSpPr>
        <p:spPr>
          <a:xfrm>
            <a:off x="768096" y="6327648"/>
            <a:ext cx="10716768" cy="10972"/>
          </a:xfrm>
          <a:prstGeom prst="rect">
            <a:avLst/>
          </a:prstGeom>
          <a:solidFill>
            <a:srgbClr val="D7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201168"/>
          </a:xfrm>
          <a:prstGeom prst="rect">
            <a:avLst/>
          </a:prstGeom>
          <a:noFill/>
        </p:spPr>
        <p:txBody>
          <a:bodyPr wrap="square" lIns="36576" rIns="36576" tIns="22860" bIns="22860" anchor="ctr">
            <a:spAutoFit/>
          </a:bodyPr>
          <a:lstStyle/>
          <a:p>
            <a:pPr algn="l">
              <a:spcBef>
                <a:spcPts val="0"/>
              </a:spcBef>
              <a:spcAft>
                <a:spcPts val="0"/>
              </a:spcAft>
            </a:pPr>
            <a:r>
              <a:rPr sz="900" b="0">
                <a:solidFill>
                  <a:srgbClr val="8A929B"/>
                </a:solidFill>
                <a:latin typeface="Arial"/>
              </a:rPr>
              <a:t>Source: book.agentic-swe.dev/chapter_2.html  •  Sections 2.1–2.3</a:t>
            </a:r>
          </a:p>
        </p:txBody>
      </p:sp>
      <p:sp>
        <p:nvSpPr>
          <p:cNvPr id="8" name="TextBox 7"/>
          <p:cNvSpPr txBox="1"/>
          <p:nvPr/>
        </p:nvSpPr>
        <p:spPr>
          <a:xfrm>
            <a:off x="10981944" y="6345936"/>
            <a:ext cx="685800" cy="256032"/>
          </a:xfrm>
          <a:prstGeom prst="rect">
            <a:avLst/>
          </a:prstGeom>
          <a:noFill/>
        </p:spPr>
        <p:txBody>
          <a:bodyPr wrap="square" lIns="36576" rIns="36576" tIns="22860" bIns="22860" anchor="ctr">
            <a:spAutoFit/>
          </a:bodyPr>
          <a:lstStyle/>
          <a:p>
            <a:pPr algn="r"/>
            <a:r>
              <a:rPr sz="900">
                <a:solidFill>
                  <a:srgbClr val="627080"/>
                </a:solidFill>
                <a:latin typeface="Arial"/>
              </a:rPr>
              <a:t>06 / 20</a:t>
            </a:r>
          </a:p>
        </p:txBody>
      </p:sp>
      <p:sp>
        <p:nvSpPr>
          <p:cNvPr id="9" name="Rounded Rectangle 8"/>
          <p:cNvSpPr/>
          <p:nvPr/>
        </p:nvSpPr>
        <p:spPr>
          <a:xfrm>
            <a:off x="749808" y="1847088"/>
            <a:ext cx="5157216" cy="3474720"/>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23544" y="2029968"/>
            <a:ext cx="749808" cy="557784"/>
          </a:xfrm>
          <a:prstGeom prst="roundRect">
            <a:avLst>
              <a:gd name="adj" fmla="val 14000"/>
            </a:avLst>
          </a:prstGeom>
          <a:solidFill>
            <a:srgbClr val="19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7" y="2084831"/>
            <a:ext cx="640080" cy="429768"/>
          </a:xfrm>
          <a:prstGeom prst="rect">
            <a:avLst/>
          </a:prstGeom>
          <a:noFill/>
        </p:spPr>
        <p:txBody>
          <a:bodyPr wrap="square" lIns="36576" rIns="36576" tIns="22860" bIns="22860" anchor="ctr">
            <a:spAutoFit/>
          </a:bodyPr>
          <a:lstStyle/>
          <a:p>
            <a:pPr algn="ctr">
              <a:spcBef>
                <a:spcPts val="0"/>
              </a:spcBef>
              <a:spcAft>
                <a:spcPts val="0"/>
              </a:spcAft>
            </a:pPr>
            <a:r>
              <a:rPr sz="2400" b="1">
                <a:solidFill>
                  <a:srgbClr val="FFFFFF"/>
                </a:solidFill>
                <a:latin typeface="Arial"/>
              </a:rPr>
              <a:t>C</a:t>
            </a:r>
          </a:p>
        </p:txBody>
      </p:sp>
      <p:sp>
        <p:nvSpPr>
          <p:cNvPr id="12" name="TextBox 11"/>
          <p:cNvSpPr txBox="1"/>
          <p:nvPr/>
        </p:nvSpPr>
        <p:spPr>
          <a:xfrm>
            <a:off x="1837943" y="2075688"/>
            <a:ext cx="3483864" cy="237744"/>
          </a:xfrm>
          <a:prstGeom prst="rect">
            <a:avLst/>
          </a:prstGeom>
          <a:noFill/>
        </p:spPr>
        <p:txBody>
          <a:bodyPr wrap="square" lIns="36576" rIns="36576" tIns="22860" bIns="22860" anchor="ctr">
            <a:spAutoFit/>
          </a:bodyPr>
          <a:lstStyle/>
          <a:p>
            <a:pPr algn="l">
              <a:spcBef>
                <a:spcPts val="0"/>
              </a:spcBef>
              <a:spcAft>
                <a:spcPts val="0"/>
              </a:spcAft>
            </a:pPr>
            <a:r>
              <a:rPr sz="1160" b="1">
                <a:solidFill>
                  <a:srgbClr val="627080"/>
                </a:solidFill>
                <a:latin typeface="Arial"/>
              </a:rPr>
              <a:t>QUESTION 1</a:t>
            </a:r>
          </a:p>
        </p:txBody>
      </p:sp>
      <p:sp>
        <p:nvSpPr>
          <p:cNvPr id="13" name="TextBox 12"/>
          <p:cNvSpPr txBox="1"/>
          <p:nvPr/>
        </p:nvSpPr>
        <p:spPr>
          <a:xfrm>
            <a:off x="960120" y="2761488"/>
            <a:ext cx="4727448" cy="694944"/>
          </a:xfrm>
          <a:prstGeom prst="rect">
            <a:avLst/>
          </a:prstGeom>
          <a:noFill/>
        </p:spPr>
        <p:txBody>
          <a:bodyPr wrap="square" lIns="36576" rIns="36576" tIns="22860" bIns="22860" anchor="ctr">
            <a:spAutoFit/>
          </a:bodyPr>
          <a:lstStyle/>
          <a:p>
            <a:pPr algn="l">
              <a:spcBef>
                <a:spcPts val="0"/>
              </a:spcBef>
              <a:spcAft>
                <a:spcPts val="0"/>
              </a:spcAft>
            </a:pPr>
            <a:r>
              <a:rPr sz="2120" b="1">
                <a:solidFill>
                  <a:srgbClr val="174B7B"/>
                </a:solidFill>
                <a:latin typeface="Arial"/>
              </a:rPr>
              <a:t>Validation</a:t>
            </a:r>
          </a:p>
        </p:txBody>
      </p:sp>
      <p:sp>
        <p:nvSpPr>
          <p:cNvPr id="14" name="Rounded Rectangle 13"/>
          <p:cNvSpPr/>
          <p:nvPr/>
        </p:nvSpPr>
        <p:spPr>
          <a:xfrm>
            <a:off x="950976" y="3730752"/>
            <a:ext cx="4754880" cy="1179576"/>
          </a:xfrm>
          <a:prstGeom prst="roundRect">
            <a:avLst>
              <a:gd name="adj" fmla="val 14000"/>
            </a:avLst>
          </a:prstGeom>
          <a:solidFill>
            <a:srgbClr val="E9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 y="3840480"/>
            <a:ext cx="4443984" cy="941832"/>
          </a:xfrm>
          <a:prstGeom prst="rect">
            <a:avLst/>
          </a:prstGeom>
          <a:noFill/>
        </p:spPr>
        <p:txBody>
          <a:bodyPr wrap="square" lIns="36576" rIns="36576" tIns="22860" bIns="22860" anchor="ctr">
            <a:spAutoFit/>
          </a:bodyPr>
          <a:lstStyle/>
          <a:p>
            <a:pPr algn="l">
              <a:spcBef>
                <a:spcPts val="0"/>
              </a:spcBef>
              <a:spcAft>
                <a:spcPts val="0"/>
              </a:spcAft>
            </a:pPr>
            <a:r>
              <a:rPr sz="1510" b="0">
                <a:solidFill>
                  <a:srgbClr val="22324B"/>
                </a:solidFill>
                <a:latin typeface="Arial"/>
              </a:rPr>
              <a:t>Validation checks the documented requirements against what stakeholders actually need.</a:t>
            </a:r>
          </a:p>
        </p:txBody>
      </p:sp>
      <p:sp>
        <p:nvSpPr>
          <p:cNvPr id="16" name="Rounded Rectangle 15"/>
          <p:cNvSpPr/>
          <p:nvPr/>
        </p:nvSpPr>
        <p:spPr>
          <a:xfrm>
            <a:off x="6291072" y="1847088"/>
            <a:ext cx="5157216" cy="3474720"/>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64808" y="2029968"/>
            <a:ext cx="749808" cy="557784"/>
          </a:xfrm>
          <a:prstGeom prst="roundRect">
            <a:avLst>
              <a:gd name="adj" fmla="val 14000"/>
            </a:avLst>
          </a:prstGeom>
          <a:solidFill>
            <a:srgbClr val="19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084831"/>
            <a:ext cx="640080" cy="429768"/>
          </a:xfrm>
          <a:prstGeom prst="rect">
            <a:avLst/>
          </a:prstGeom>
          <a:noFill/>
        </p:spPr>
        <p:txBody>
          <a:bodyPr wrap="square" lIns="36576" rIns="36576" tIns="22860" bIns="22860" anchor="ctr">
            <a:spAutoFit/>
          </a:bodyPr>
          <a:lstStyle/>
          <a:p>
            <a:pPr algn="ctr">
              <a:spcBef>
                <a:spcPts val="0"/>
              </a:spcBef>
              <a:spcAft>
                <a:spcPts val="0"/>
              </a:spcAft>
            </a:pPr>
            <a:r>
              <a:rPr sz="2400" b="1">
                <a:solidFill>
                  <a:srgbClr val="FFFFFF"/>
                </a:solidFill>
                <a:latin typeface="Arial"/>
              </a:rPr>
              <a:t>B</a:t>
            </a:r>
          </a:p>
        </p:txBody>
      </p:sp>
      <p:sp>
        <p:nvSpPr>
          <p:cNvPr id="19" name="TextBox 18"/>
          <p:cNvSpPr txBox="1"/>
          <p:nvPr/>
        </p:nvSpPr>
        <p:spPr>
          <a:xfrm>
            <a:off x="7379208" y="2075688"/>
            <a:ext cx="3483864" cy="237744"/>
          </a:xfrm>
          <a:prstGeom prst="rect">
            <a:avLst/>
          </a:prstGeom>
          <a:noFill/>
        </p:spPr>
        <p:txBody>
          <a:bodyPr wrap="square" lIns="36576" rIns="36576" tIns="22860" bIns="22860" anchor="ctr">
            <a:spAutoFit/>
          </a:bodyPr>
          <a:lstStyle/>
          <a:p>
            <a:pPr algn="l">
              <a:spcBef>
                <a:spcPts val="0"/>
              </a:spcBef>
              <a:spcAft>
                <a:spcPts val="0"/>
              </a:spcAft>
            </a:pPr>
            <a:r>
              <a:rPr sz="1160" b="1">
                <a:solidFill>
                  <a:srgbClr val="627080"/>
                </a:solidFill>
                <a:latin typeface="Arial"/>
              </a:rPr>
              <a:t>QUESTION 2</a:t>
            </a:r>
          </a:p>
        </p:txBody>
      </p:sp>
      <p:sp>
        <p:nvSpPr>
          <p:cNvPr id="20" name="TextBox 19"/>
          <p:cNvSpPr txBox="1"/>
          <p:nvPr/>
        </p:nvSpPr>
        <p:spPr>
          <a:xfrm>
            <a:off x="6501384" y="2761488"/>
            <a:ext cx="4727448" cy="694944"/>
          </a:xfrm>
          <a:prstGeom prst="rect">
            <a:avLst/>
          </a:prstGeom>
          <a:noFill/>
        </p:spPr>
        <p:txBody>
          <a:bodyPr wrap="square" lIns="36576" rIns="36576" tIns="22860" bIns="22860" anchor="ctr">
            <a:spAutoFit/>
          </a:bodyPr>
          <a:lstStyle/>
          <a:p>
            <a:pPr algn="l">
              <a:spcBef>
                <a:spcPts val="0"/>
              </a:spcBef>
              <a:spcAft>
                <a:spcPts val="0"/>
              </a:spcAft>
            </a:pPr>
            <a:r>
              <a:rPr sz="2120" b="1">
                <a:solidFill>
                  <a:srgbClr val="174B7B"/>
                </a:solidFill>
                <a:latin typeface="Arial"/>
              </a:rPr>
              <a:t>Return to elicitation and analysis</a:t>
            </a:r>
          </a:p>
        </p:txBody>
      </p:sp>
      <p:sp>
        <p:nvSpPr>
          <p:cNvPr id="21" name="Rounded Rectangle 20"/>
          <p:cNvSpPr/>
          <p:nvPr/>
        </p:nvSpPr>
        <p:spPr>
          <a:xfrm>
            <a:off x="6492240" y="3730752"/>
            <a:ext cx="4754880" cy="1179576"/>
          </a:xfrm>
          <a:prstGeom prst="roundRect">
            <a:avLst>
              <a:gd name="adj" fmla="val 14000"/>
            </a:avLst>
          </a:prstGeom>
          <a:solidFill>
            <a:srgbClr val="E9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3840480"/>
            <a:ext cx="4443984" cy="941832"/>
          </a:xfrm>
          <a:prstGeom prst="rect">
            <a:avLst/>
          </a:prstGeom>
          <a:noFill/>
        </p:spPr>
        <p:txBody>
          <a:bodyPr wrap="square" lIns="36576" rIns="36576" tIns="22860" bIns="22860" anchor="ctr">
            <a:spAutoFit/>
          </a:bodyPr>
          <a:lstStyle/>
          <a:p>
            <a:pPr algn="l">
              <a:spcBef>
                <a:spcPts val="0"/>
              </a:spcBef>
              <a:spcAft>
                <a:spcPts val="0"/>
              </a:spcAft>
            </a:pPr>
            <a:r>
              <a:rPr sz="1510" b="0">
                <a:solidFill>
                  <a:srgbClr val="22324B"/>
                </a:solidFill>
                <a:latin typeface="Arial"/>
              </a:rPr>
              <a:t>The four activities repeat. New gaps call for more discussion, analysis, and an updated specification.</a:t>
            </a:r>
          </a:p>
        </p:txBody>
      </p:sp>
      <p:sp>
        <p:nvSpPr>
          <p:cNvPr id="23" name="Rounded Rectangle 22"/>
          <p:cNvSpPr/>
          <p:nvPr/>
        </p:nvSpPr>
        <p:spPr>
          <a:xfrm>
            <a:off x="969264" y="5623560"/>
            <a:ext cx="10250424" cy="484632"/>
          </a:xfrm>
          <a:prstGeom prst="roundRect">
            <a:avLst>
              <a:gd name="adj" fmla="val 14000"/>
            </a:avLst>
          </a:prstGeom>
          <a:solidFill>
            <a:srgbClr val="E1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715000"/>
            <a:ext cx="9902952" cy="274320"/>
          </a:xfrm>
          <a:prstGeom prst="rect">
            <a:avLst/>
          </a:prstGeom>
          <a:noFill/>
        </p:spPr>
        <p:txBody>
          <a:bodyPr wrap="square" lIns="36576" rIns="36576" tIns="22860" bIns="22860" anchor="ctr">
            <a:spAutoFit/>
          </a:bodyPr>
          <a:lstStyle/>
          <a:p>
            <a:pPr algn="ctr">
              <a:spcBef>
                <a:spcPts val="0"/>
              </a:spcBef>
              <a:spcAft>
                <a:spcPts val="0"/>
              </a:spcAft>
            </a:pPr>
            <a:r>
              <a:rPr sz="1310" b="1">
                <a:solidFill>
                  <a:srgbClr val="174B7B"/>
                </a:solidFill>
                <a:latin typeface="Arial"/>
              </a:rPr>
              <a:t>Key idea  ·  Elicit → analyse → specify → validate → iterate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44752" cy="365760"/>
          </a:xfrm>
          <a:prstGeom prst="rect">
            <a:avLst/>
          </a:prstGeom>
          <a:noFill/>
        </p:spPr>
        <p:txBody>
          <a:bodyPr wrap="square" lIns="36576" rIns="36576" tIns="22860" bIns="22860" anchor="ctr">
            <a:spAutoFit/>
          </a:bodyPr>
          <a:lstStyle/>
          <a:p>
            <a:pPr algn="l">
              <a:spcBef>
                <a:spcPts val="0"/>
              </a:spcBef>
              <a:spcAft>
                <a:spcPts val="0"/>
              </a:spcAft>
            </a:pPr>
            <a:r>
              <a:rPr sz="1120" b="1">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36576" rIns="36576" tIns="22860" bIns="22860" anchor="ctr">
            <a:spAutoFit/>
          </a:bodyPr>
          <a:lstStyle/>
          <a:p>
            <a:pPr algn="l">
              <a:spcBef>
                <a:spcPts val="0"/>
              </a:spcBef>
              <a:spcAft>
                <a:spcPts val="0"/>
              </a:spcAft>
            </a:pPr>
            <a:r>
              <a:rPr sz="2520" b="1">
                <a:solidFill>
                  <a:srgbClr val="FFFFFF"/>
                </a:solidFill>
                <a:latin typeface="Arial"/>
              </a:rPr>
              <a:t>Checkpoint · Section 2.2</a:t>
            </a:r>
          </a:p>
        </p:txBody>
      </p:sp>
      <p:sp>
        <p:nvSpPr>
          <p:cNvPr id="5" name="TextBox 4"/>
          <p:cNvSpPr txBox="1"/>
          <p:nvPr/>
        </p:nvSpPr>
        <p:spPr>
          <a:xfrm>
            <a:off x="758952" y="1261872"/>
            <a:ext cx="10789920" cy="393192"/>
          </a:xfrm>
          <a:prstGeom prst="rect">
            <a:avLst/>
          </a:prstGeom>
          <a:noFill/>
        </p:spPr>
        <p:txBody>
          <a:bodyPr wrap="square" lIns="36576" rIns="36576" tIns="22860" bIns="22860" anchor="ctr">
            <a:spAutoFit/>
          </a:bodyPr>
          <a:lstStyle/>
          <a:p>
            <a:pPr algn="l">
              <a:spcBef>
                <a:spcPts val="0"/>
              </a:spcBef>
              <a:spcAft>
                <a:spcPts val="0"/>
              </a:spcAft>
            </a:pPr>
            <a:r>
              <a:rPr sz="1320" b="0">
                <a:solidFill>
                  <a:srgbClr val="627080"/>
                </a:solidFill>
                <a:latin typeface="Arial"/>
              </a:rPr>
              <a:t>Pick the technique that best fits the stakeholder problem.</a:t>
            </a:r>
          </a:p>
        </p:txBody>
      </p:sp>
      <p:sp>
        <p:nvSpPr>
          <p:cNvPr id="6" name="Rectangle 5"/>
          <p:cNvSpPr/>
          <p:nvPr/>
        </p:nvSpPr>
        <p:spPr>
          <a:xfrm>
            <a:off x="768096" y="6327648"/>
            <a:ext cx="10716768" cy="10972"/>
          </a:xfrm>
          <a:prstGeom prst="rect">
            <a:avLst/>
          </a:prstGeom>
          <a:solidFill>
            <a:srgbClr val="D7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201168"/>
          </a:xfrm>
          <a:prstGeom prst="rect">
            <a:avLst/>
          </a:prstGeom>
          <a:noFill/>
        </p:spPr>
        <p:txBody>
          <a:bodyPr wrap="square" lIns="36576" rIns="36576" tIns="22860" bIns="22860" anchor="ctr">
            <a:spAutoFit/>
          </a:bodyPr>
          <a:lstStyle/>
          <a:p>
            <a:pPr algn="l">
              <a:spcBef>
                <a:spcPts val="0"/>
              </a:spcBef>
              <a:spcAft>
                <a:spcPts val="0"/>
              </a:spcAft>
            </a:pPr>
            <a:r>
              <a:rPr sz="900" b="0">
                <a:solidFill>
                  <a:srgbClr val="8A929B"/>
                </a:solidFill>
                <a:latin typeface="Arial"/>
              </a:rPr>
              <a:t>Source: book.agentic-swe.dev/chapter_2.html  •  Sections 2.1–2.3</a:t>
            </a:r>
          </a:p>
        </p:txBody>
      </p:sp>
      <p:sp>
        <p:nvSpPr>
          <p:cNvPr id="8" name="TextBox 7"/>
          <p:cNvSpPr txBox="1"/>
          <p:nvPr/>
        </p:nvSpPr>
        <p:spPr>
          <a:xfrm>
            <a:off x="10981944" y="6345936"/>
            <a:ext cx="685800" cy="256032"/>
          </a:xfrm>
          <a:prstGeom prst="rect">
            <a:avLst/>
          </a:prstGeom>
          <a:noFill/>
        </p:spPr>
        <p:txBody>
          <a:bodyPr wrap="square" lIns="36576" rIns="36576" tIns="22860" bIns="22860" anchor="ctr">
            <a:spAutoFit/>
          </a:bodyPr>
          <a:lstStyle/>
          <a:p>
            <a:pPr algn="r"/>
            <a:r>
              <a:rPr sz="900">
                <a:solidFill>
                  <a:srgbClr val="627080"/>
                </a:solidFill>
                <a:latin typeface="Arial"/>
              </a:rPr>
              <a:t>12 / 20</a:t>
            </a:r>
          </a:p>
        </p:txBody>
      </p:sp>
      <p:sp>
        <p:nvSpPr>
          <p:cNvPr id="9" name="Rounded Rectangle 8"/>
          <p:cNvSpPr/>
          <p:nvPr/>
        </p:nvSpPr>
        <p:spPr>
          <a:xfrm>
            <a:off x="731520" y="1865376"/>
            <a:ext cx="5175504" cy="4050791"/>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05256" y="2002536"/>
            <a:ext cx="1143000" cy="310896"/>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29968"/>
            <a:ext cx="1024128" cy="228600"/>
          </a:xfrm>
          <a:prstGeom prst="rect">
            <a:avLst/>
          </a:prstGeom>
          <a:noFill/>
        </p:spPr>
        <p:txBody>
          <a:bodyPr wrap="square" lIns="0" rIns="0" tIns="22860" bIns="22860" anchor="ctr">
            <a:spAutoFit/>
          </a:bodyPr>
          <a:lstStyle/>
          <a:p>
            <a:pPr algn="ctr">
              <a:spcBef>
                <a:spcPts val="0"/>
              </a:spcBef>
              <a:spcAft>
                <a:spcPts val="0"/>
              </a:spcAft>
            </a:pPr>
            <a:r>
              <a:rPr sz="1100" b="1">
                <a:solidFill>
                  <a:srgbClr val="FFFFFF"/>
                </a:solidFill>
                <a:latin typeface="Arial"/>
              </a:rPr>
              <a:t>QUESTION 1</a:t>
            </a:r>
          </a:p>
        </p:txBody>
      </p:sp>
      <p:sp>
        <p:nvSpPr>
          <p:cNvPr id="12" name="TextBox 11"/>
          <p:cNvSpPr txBox="1"/>
          <p:nvPr/>
        </p:nvSpPr>
        <p:spPr>
          <a:xfrm>
            <a:off x="932688" y="2414016"/>
            <a:ext cx="4736592" cy="548640"/>
          </a:xfrm>
          <a:prstGeom prst="rect">
            <a:avLst/>
          </a:prstGeom>
          <a:noFill/>
        </p:spPr>
        <p:txBody>
          <a:bodyPr wrap="square" lIns="36576" rIns="36576" tIns="22860" bIns="22860" anchor="ctr">
            <a:spAutoFit/>
          </a:bodyPr>
          <a:lstStyle/>
          <a:p>
            <a:pPr algn="l">
              <a:spcBef>
                <a:spcPts val="0"/>
              </a:spcBef>
              <a:spcAft>
                <a:spcPts val="0"/>
              </a:spcAft>
            </a:pPr>
            <a:r>
              <a:rPr sz="1610" b="1">
                <a:solidFill>
                  <a:srgbClr val="22324B"/>
                </a:solidFill>
                <a:latin typeface="Arial"/>
              </a:rPr>
              <a:t>Users forget to mention workarounds. What is the best way to discover them?</a:t>
            </a:r>
          </a:p>
        </p:txBody>
      </p:sp>
      <p:sp>
        <p:nvSpPr>
          <p:cNvPr id="13" name="Rounded Rectangle 12"/>
          <p:cNvSpPr/>
          <p:nvPr/>
        </p:nvSpPr>
        <p:spPr>
          <a:xfrm>
            <a:off x="905256" y="3118104"/>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87552" y="3200400"/>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218688"/>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A</a:t>
            </a:r>
          </a:p>
        </p:txBody>
      </p:sp>
      <p:sp>
        <p:nvSpPr>
          <p:cNvPr id="16" name="TextBox 15"/>
          <p:cNvSpPr txBox="1"/>
          <p:nvPr/>
        </p:nvSpPr>
        <p:spPr>
          <a:xfrm>
            <a:off x="1435608" y="3168396"/>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Structured interviews only</a:t>
            </a:r>
          </a:p>
        </p:txBody>
      </p:sp>
      <p:sp>
        <p:nvSpPr>
          <p:cNvPr id="17" name="Rounded Rectangle 16"/>
          <p:cNvSpPr/>
          <p:nvPr/>
        </p:nvSpPr>
        <p:spPr>
          <a:xfrm>
            <a:off x="905256" y="3749039"/>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7552" y="3831335"/>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3849624"/>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B</a:t>
            </a:r>
          </a:p>
        </p:txBody>
      </p:sp>
      <p:sp>
        <p:nvSpPr>
          <p:cNvPr id="20" name="TextBox 19"/>
          <p:cNvSpPr txBox="1"/>
          <p:nvPr/>
        </p:nvSpPr>
        <p:spPr>
          <a:xfrm>
            <a:off x="1435608" y="3799331"/>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Existing policy manuals</a:t>
            </a:r>
          </a:p>
        </p:txBody>
      </p:sp>
      <p:sp>
        <p:nvSpPr>
          <p:cNvPr id="21" name="Rounded Rectangle 20"/>
          <p:cNvSpPr/>
          <p:nvPr/>
        </p:nvSpPr>
        <p:spPr>
          <a:xfrm>
            <a:off x="905256" y="4379976"/>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87552" y="4462272"/>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 y="4480560"/>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C</a:t>
            </a:r>
          </a:p>
        </p:txBody>
      </p:sp>
      <p:sp>
        <p:nvSpPr>
          <p:cNvPr id="24" name="TextBox 23"/>
          <p:cNvSpPr txBox="1"/>
          <p:nvPr/>
        </p:nvSpPr>
        <p:spPr>
          <a:xfrm>
            <a:off x="1435608" y="4430268"/>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Observation in their workplace</a:t>
            </a:r>
          </a:p>
        </p:txBody>
      </p:sp>
      <p:sp>
        <p:nvSpPr>
          <p:cNvPr id="25" name="Rounded Rectangle 24"/>
          <p:cNvSpPr/>
          <p:nvPr/>
        </p:nvSpPr>
        <p:spPr>
          <a:xfrm>
            <a:off x="905256" y="5010912"/>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7552" y="5093208"/>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 y="5111496"/>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D</a:t>
            </a:r>
          </a:p>
        </p:txBody>
      </p:sp>
      <p:sp>
        <p:nvSpPr>
          <p:cNvPr id="28" name="TextBox 27"/>
          <p:cNvSpPr txBox="1"/>
          <p:nvPr/>
        </p:nvSpPr>
        <p:spPr>
          <a:xfrm>
            <a:off x="1435608" y="5061204"/>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A clickable mockup</a:t>
            </a:r>
          </a:p>
        </p:txBody>
      </p:sp>
      <p:sp>
        <p:nvSpPr>
          <p:cNvPr id="29" name="Rounded Rectangle 28"/>
          <p:cNvSpPr/>
          <p:nvPr/>
        </p:nvSpPr>
        <p:spPr>
          <a:xfrm>
            <a:off x="6272783" y="1865376"/>
            <a:ext cx="5175504" cy="4050791"/>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46520" y="2002536"/>
            <a:ext cx="1143000" cy="310896"/>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01383" y="2029968"/>
            <a:ext cx="1024128" cy="228600"/>
          </a:xfrm>
          <a:prstGeom prst="rect">
            <a:avLst/>
          </a:prstGeom>
          <a:noFill/>
        </p:spPr>
        <p:txBody>
          <a:bodyPr wrap="square" lIns="0" rIns="0" tIns="22860" bIns="22860" anchor="ctr">
            <a:spAutoFit/>
          </a:bodyPr>
          <a:lstStyle/>
          <a:p>
            <a:pPr algn="ctr">
              <a:spcBef>
                <a:spcPts val="0"/>
              </a:spcBef>
              <a:spcAft>
                <a:spcPts val="0"/>
              </a:spcAft>
            </a:pPr>
            <a:r>
              <a:rPr sz="1100" b="1">
                <a:solidFill>
                  <a:srgbClr val="FFFFFF"/>
                </a:solidFill>
                <a:latin typeface="Arial"/>
              </a:rPr>
              <a:t>QUESTION 2</a:t>
            </a:r>
          </a:p>
        </p:txBody>
      </p:sp>
      <p:sp>
        <p:nvSpPr>
          <p:cNvPr id="32" name="TextBox 31"/>
          <p:cNvSpPr txBox="1"/>
          <p:nvPr/>
        </p:nvSpPr>
        <p:spPr>
          <a:xfrm>
            <a:off x="6473951" y="2414016"/>
            <a:ext cx="4736592" cy="548640"/>
          </a:xfrm>
          <a:prstGeom prst="rect">
            <a:avLst/>
          </a:prstGeom>
          <a:noFill/>
        </p:spPr>
        <p:txBody>
          <a:bodyPr wrap="square" lIns="36576" rIns="36576" tIns="22860" bIns="22860" anchor="ctr">
            <a:spAutoFit/>
          </a:bodyPr>
          <a:lstStyle/>
          <a:p>
            <a:pPr algn="l">
              <a:spcBef>
                <a:spcPts val="0"/>
              </a:spcBef>
              <a:spcAft>
                <a:spcPts val="0"/>
              </a:spcAft>
            </a:pPr>
            <a:r>
              <a:rPr sz="1610" b="1">
                <a:solidFill>
                  <a:srgbClr val="22324B"/>
                </a:solidFill>
                <a:latin typeface="Arial"/>
              </a:rPr>
              <a:t>Two stakeholder groups disagree on priorities. Which method best builds agreement?</a:t>
            </a:r>
          </a:p>
        </p:txBody>
      </p:sp>
      <p:sp>
        <p:nvSpPr>
          <p:cNvPr id="33" name="Rounded Rectangle 32"/>
          <p:cNvSpPr/>
          <p:nvPr/>
        </p:nvSpPr>
        <p:spPr>
          <a:xfrm>
            <a:off x="6446520" y="3118104"/>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28816" y="3200400"/>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59" y="3218688"/>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A</a:t>
            </a:r>
          </a:p>
        </p:txBody>
      </p:sp>
      <p:sp>
        <p:nvSpPr>
          <p:cNvPr id="36" name="TextBox 35"/>
          <p:cNvSpPr txBox="1"/>
          <p:nvPr/>
        </p:nvSpPr>
        <p:spPr>
          <a:xfrm>
            <a:off x="6976871" y="3168396"/>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Separate interviews only</a:t>
            </a:r>
          </a:p>
        </p:txBody>
      </p:sp>
      <p:sp>
        <p:nvSpPr>
          <p:cNvPr id="37" name="Rounded Rectangle 36"/>
          <p:cNvSpPr/>
          <p:nvPr/>
        </p:nvSpPr>
        <p:spPr>
          <a:xfrm>
            <a:off x="6446520" y="3749039"/>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28816" y="3831335"/>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59" y="3849624"/>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B</a:t>
            </a:r>
          </a:p>
        </p:txBody>
      </p:sp>
      <p:sp>
        <p:nvSpPr>
          <p:cNvPr id="40" name="TextBox 39"/>
          <p:cNvSpPr txBox="1"/>
          <p:nvPr/>
        </p:nvSpPr>
        <p:spPr>
          <a:xfrm>
            <a:off x="6976871" y="3799331"/>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Facilitated requirements workshop</a:t>
            </a:r>
          </a:p>
        </p:txBody>
      </p:sp>
      <p:sp>
        <p:nvSpPr>
          <p:cNvPr id="41" name="Rounded Rectangle 40"/>
          <p:cNvSpPr/>
          <p:nvPr/>
        </p:nvSpPr>
        <p:spPr>
          <a:xfrm>
            <a:off x="6446520" y="4379976"/>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528816" y="4462272"/>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59" y="4480560"/>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C</a:t>
            </a:r>
          </a:p>
        </p:txBody>
      </p:sp>
      <p:sp>
        <p:nvSpPr>
          <p:cNvPr id="44" name="TextBox 43"/>
          <p:cNvSpPr txBox="1"/>
          <p:nvPr/>
        </p:nvSpPr>
        <p:spPr>
          <a:xfrm>
            <a:off x="6976871" y="4430268"/>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Individual observation only</a:t>
            </a:r>
          </a:p>
        </p:txBody>
      </p:sp>
      <p:sp>
        <p:nvSpPr>
          <p:cNvPr id="45" name="Rounded Rectangle 44"/>
          <p:cNvSpPr/>
          <p:nvPr/>
        </p:nvSpPr>
        <p:spPr>
          <a:xfrm>
            <a:off x="6446520" y="5010912"/>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528816" y="5093208"/>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37959" y="5111496"/>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D</a:t>
            </a:r>
          </a:p>
        </p:txBody>
      </p:sp>
      <p:sp>
        <p:nvSpPr>
          <p:cNvPr id="48" name="TextBox 47"/>
          <p:cNvSpPr txBox="1"/>
          <p:nvPr/>
        </p:nvSpPr>
        <p:spPr>
          <a:xfrm>
            <a:off x="6976871" y="5061204"/>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Document review alone</a:t>
            </a:r>
          </a:p>
        </p:txBody>
      </p:sp>
      <p:sp>
        <p:nvSpPr>
          <p:cNvPr id="49" name="TextBox 48"/>
          <p:cNvSpPr txBox="1"/>
          <p:nvPr/>
        </p:nvSpPr>
        <p:spPr>
          <a:xfrm>
            <a:off x="1042415" y="6007608"/>
            <a:ext cx="10131552" cy="228600"/>
          </a:xfrm>
          <a:prstGeom prst="rect">
            <a:avLst/>
          </a:prstGeom>
          <a:noFill/>
        </p:spPr>
        <p:txBody>
          <a:bodyPr wrap="square" lIns="36576" rIns="36576" tIns="22860" bIns="22860" anchor="ctr">
            <a:spAutoFit/>
          </a:bodyPr>
          <a:lstStyle/>
          <a:p>
            <a:pPr algn="ctr">
              <a:spcBef>
                <a:spcPts val="0"/>
              </a:spcBef>
              <a:spcAft>
                <a:spcPts val="0"/>
              </a:spcAft>
            </a:pPr>
            <a:r>
              <a:rPr sz="1110" b="1">
                <a:solidFill>
                  <a:srgbClr val="CD1B2E"/>
                </a:solidFill>
                <a:latin typeface="Arial"/>
              </a:rPr>
              <a:t>Think first, then compare answers with a neighbor.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44752" cy="365760"/>
          </a:xfrm>
          <a:prstGeom prst="rect">
            <a:avLst/>
          </a:prstGeom>
          <a:noFill/>
        </p:spPr>
        <p:txBody>
          <a:bodyPr wrap="square" lIns="36576" rIns="36576" tIns="22860" bIns="22860" anchor="ctr">
            <a:spAutoFit/>
          </a:bodyPr>
          <a:lstStyle/>
          <a:p>
            <a:pPr algn="l">
              <a:spcBef>
                <a:spcPts val="0"/>
              </a:spcBef>
              <a:spcAft>
                <a:spcPts val="0"/>
              </a:spcAft>
            </a:pPr>
            <a:r>
              <a:rPr sz="1120" b="1">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36576" rIns="36576" tIns="22860" bIns="22860" anchor="ctr">
            <a:spAutoFit/>
          </a:bodyPr>
          <a:lstStyle/>
          <a:p>
            <a:pPr algn="l">
              <a:spcBef>
                <a:spcPts val="0"/>
              </a:spcBef>
              <a:spcAft>
                <a:spcPts val="0"/>
              </a:spcAft>
            </a:pPr>
            <a:r>
              <a:rPr sz="2520" b="1">
                <a:solidFill>
                  <a:srgbClr val="FFFFFF"/>
                </a:solidFill>
                <a:latin typeface="Arial"/>
              </a:rPr>
              <a:t>Answer reveal · 2.2 Eliciting requirements</a:t>
            </a:r>
          </a:p>
        </p:txBody>
      </p:sp>
      <p:sp>
        <p:nvSpPr>
          <p:cNvPr id="5" name="TextBox 4"/>
          <p:cNvSpPr txBox="1"/>
          <p:nvPr/>
        </p:nvSpPr>
        <p:spPr>
          <a:xfrm>
            <a:off x="758952" y="1261872"/>
            <a:ext cx="10789920" cy="393192"/>
          </a:xfrm>
          <a:prstGeom prst="rect">
            <a:avLst/>
          </a:prstGeom>
          <a:noFill/>
        </p:spPr>
        <p:txBody>
          <a:bodyPr wrap="square" lIns="36576" rIns="36576" tIns="22860" bIns="22860" anchor="ctr">
            <a:spAutoFit/>
          </a:bodyPr>
          <a:lstStyle/>
          <a:p>
            <a:pPr algn="l">
              <a:spcBef>
                <a:spcPts val="0"/>
              </a:spcBef>
              <a:spcAft>
                <a:spcPts val="0"/>
              </a:spcAft>
            </a:pPr>
            <a:r>
              <a:rPr sz="1320" b="0">
                <a:solidFill>
                  <a:srgbClr val="627080"/>
                </a:solidFill>
                <a:latin typeface="Arial"/>
              </a:rPr>
              <a:t>Why these choices are correct</a:t>
            </a:r>
          </a:p>
        </p:txBody>
      </p:sp>
      <p:sp>
        <p:nvSpPr>
          <p:cNvPr id="6" name="Rectangle 5"/>
          <p:cNvSpPr/>
          <p:nvPr/>
        </p:nvSpPr>
        <p:spPr>
          <a:xfrm>
            <a:off x="768096" y="6327648"/>
            <a:ext cx="10716768" cy="10972"/>
          </a:xfrm>
          <a:prstGeom prst="rect">
            <a:avLst/>
          </a:prstGeom>
          <a:solidFill>
            <a:srgbClr val="D7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201168"/>
          </a:xfrm>
          <a:prstGeom prst="rect">
            <a:avLst/>
          </a:prstGeom>
          <a:noFill/>
        </p:spPr>
        <p:txBody>
          <a:bodyPr wrap="square" lIns="36576" rIns="36576" tIns="22860" bIns="22860" anchor="ctr">
            <a:spAutoFit/>
          </a:bodyPr>
          <a:lstStyle/>
          <a:p>
            <a:pPr algn="l">
              <a:spcBef>
                <a:spcPts val="0"/>
              </a:spcBef>
              <a:spcAft>
                <a:spcPts val="0"/>
              </a:spcAft>
            </a:pPr>
            <a:r>
              <a:rPr sz="900" b="0">
                <a:solidFill>
                  <a:srgbClr val="8A929B"/>
                </a:solidFill>
                <a:latin typeface="Arial"/>
              </a:rPr>
              <a:t>Source: book.agentic-swe.dev/chapter_2.html  •  Sections 2.1–2.3</a:t>
            </a:r>
          </a:p>
        </p:txBody>
      </p:sp>
      <p:sp>
        <p:nvSpPr>
          <p:cNvPr id="8" name="TextBox 7"/>
          <p:cNvSpPr txBox="1"/>
          <p:nvPr/>
        </p:nvSpPr>
        <p:spPr>
          <a:xfrm>
            <a:off x="10981944" y="6345936"/>
            <a:ext cx="685800" cy="256032"/>
          </a:xfrm>
          <a:prstGeom prst="rect">
            <a:avLst/>
          </a:prstGeom>
          <a:noFill/>
        </p:spPr>
        <p:txBody>
          <a:bodyPr wrap="square" lIns="36576" rIns="36576" tIns="22860" bIns="22860" anchor="ctr">
            <a:spAutoFit/>
          </a:bodyPr>
          <a:lstStyle/>
          <a:p>
            <a:pPr algn="r"/>
            <a:r>
              <a:rPr sz="900">
                <a:solidFill>
                  <a:srgbClr val="627080"/>
                </a:solidFill>
                <a:latin typeface="Arial"/>
              </a:rPr>
              <a:t>13 / 20</a:t>
            </a:r>
          </a:p>
        </p:txBody>
      </p:sp>
      <p:sp>
        <p:nvSpPr>
          <p:cNvPr id="9" name="Rounded Rectangle 8"/>
          <p:cNvSpPr/>
          <p:nvPr/>
        </p:nvSpPr>
        <p:spPr>
          <a:xfrm>
            <a:off x="749808" y="1847088"/>
            <a:ext cx="5157216" cy="3474720"/>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23544" y="2029968"/>
            <a:ext cx="749808" cy="557784"/>
          </a:xfrm>
          <a:prstGeom prst="roundRect">
            <a:avLst>
              <a:gd name="adj" fmla="val 14000"/>
            </a:avLst>
          </a:prstGeom>
          <a:solidFill>
            <a:srgbClr val="19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7" y="2084831"/>
            <a:ext cx="640080" cy="429768"/>
          </a:xfrm>
          <a:prstGeom prst="rect">
            <a:avLst/>
          </a:prstGeom>
          <a:noFill/>
        </p:spPr>
        <p:txBody>
          <a:bodyPr wrap="square" lIns="36576" rIns="36576" tIns="22860" bIns="22860" anchor="ctr">
            <a:spAutoFit/>
          </a:bodyPr>
          <a:lstStyle/>
          <a:p>
            <a:pPr algn="ctr">
              <a:spcBef>
                <a:spcPts val="0"/>
              </a:spcBef>
              <a:spcAft>
                <a:spcPts val="0"/>
              </a:spcAft>
            </a:pPr>
            <a:r>
              <a:rPr sz="2400" b="1">
                <a:solidFill>
                  <a:srgbClr val="FFFFFF"/>
                </a:solidFill>
                <a:latin typeface="Arial"/>
              </a:rPr>
              <a:t>C</a:t>
            </a:r>
          </a:p>
        </p:txBody>
      </p:sp>
      <p:sp>
        <p:nvSpPr>
          <p:cNvPr id="12" name="TextBox 11"/>
          <p:cNvSpPr txBox="1"/>
          <p:nvPr/>
        </p:nvSpPr>
        <p:spPr>
          <a:xfrm>
            <a:off x="1837943" y="2075688"/>
            <a:ext cx="3483864" cy="237744"/>
          </a:xfrm>
          <a:prstGeom prst="rect">
            <a:avLst/>
          </a:prstGeom>
          <a:noFill/>
        </p:spPr>
        <p:txBody>
          <a:bodyPr wrap="square" lIns="36576" rIns="36576" tIns="22860" bIns="22860" anchor="ctr">
            <a:spAutoFit/>
          </a:bodyPr>
          <a:lstStyle/>
          <a:p>
            <a:pPr algn="l">
              <a:spcBef>
                <a:spcPts val="0"/>
              </a:spcBef>
              <a:spcAft>
                <a:spcPts val="0"/>
              </a:spcAft>
            </a:pPr>
            <a:r>
              <a:rPr sz="1160" b="1">
                <a:solidFill>
                  <a:srgbClr val="627080"/>
                </a:solidFill>
                <a:latin typeface="Arial"/>
              </a:rPr>
              <a:t>QUESTION 1</a:t>
            </a:r>
          </a:p>
        </p:txBody>
      </p:sp>
      <p:sp>
        <p:nvSpPr>
          <p:cNvPr id="13" name="TextBox 12"/>
          <p:cNvSpPr txBox="1"/>
          <p:nvPr/>
        </p:nvSpPr>
        <p:spPr>
          <a:xfrm>
            <a:off x="960120" y="2761488"/>
            <a:ext cx="4727448" cy="694944"/>
          </a:xfrm>
          <a:prstGeom prst="rect">
            <a:avLst/>
          </a:prstGeom>
          <a:noFill/>
        </p:spPr>
        <p:txBody>
          <a:bodyPr wrap="square" lIns="36576" rIns="36576" tIns="22860" bIns="22860" anchor="ctr">
            <a:spAutoFit/>
          </a:bodyPr>
          <a:lstStyle/>
          <a:p>
            <a:pPr algn="l">
              <a:spcBef>
                <a:spcPts val="0"/>
              </a:spcBef>
              <a:spcAft>
                <a:spcPts val="0"/>
              </a:spcAft>
            </a:pPr>
            <a:r>
              <a:rPr sz="2120" b="1">
                <a:solidFill>
                  <a:srgbClr val="174B7B"/>
                </a:solidFill>
                <a:latin typeface="Arial"/>
              </a:rPr>
              <a:t>Observation in their workplace</a:t>
            </a:r>
          </a:p>
        </p:txBody>
      </p:sp>
      <p:sp>
        <p:nvSpPr>
          <p:cNvPr id="14" name="Rounded Rectangle 13"/>
          <p:cNvSpPr/>
          <p:nvPr/>
        </p:nvSpPr>
        <p:spPr>
          <a:xfrm>
            <a:off x="950976" y="3730752"/>
            <a:ext cx="4754880" cy="1179576"/>
          </a:xfrm>
          <a:prstGeom prst="roundRect">
            <a:avLst>
              <a:gd name="adj" fmla="val 14000"/>
            </a:avLst>
          </a:prstGeom>
          <a:solidFill>
            <a:srgbClr val="E9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 y="3840480"/>
            <a:ext cx="4443984" cy="941832"/>
          </a:xfrm>
          <a:prstGeom prst="rect">
            <a:avLst/>
          </a:prstGeom>
          <a:noFill/>
        </p:spPr>
        <p:txBody>
          <a:bodyPr wrap="square" lIns="36576" rIns="36576" tIns="22860" bIns="22860" anchor="ctr">
            <a:spAutoFit/>
          </a:bodyPr>
          <a:lstStyle/>
          <a:p>
            <a:pPr algn="l">
              <a:spcBef>
                <a:spcPts val="0"/>
              </a:spcBef>
              <a:spcAft>
                <a:spcPts val="0"/>
              </a:spcAft>
            </a:pPr>
            <a:r>
              <a:rPr sz="1510" b="0">
                <a:solidFill>
                  <a:srgbClr val="22324B"/>
                </a:solidFill>
                <a:latin typeface="Arial"/>
              </a:rPr>
              <a:t>Watching real work reveals tacit habits and workarounds people may not mention in interviews.</a:t>
            </a:r>
          </a:p>
        </p:txBody>
      </p:sp>
      <p:sp>
        <p:nvSpPr>
          <p:cNvPr id="16" name="Rounded Rectangle 15"/>
          <p:cNvSpPr/>
          <p:nvPr/>
        </p:nvSpPr>
        <p:spPr>
          <a:xfrm>
            <a:off x="6291072" y="1847088"/>
            <a:ext cx="5157216" cy="3474720"/>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64808" y="2029968"/>
            <a:ext cx="749808" cy="557784"/>
          </a:xfrm>
          <a:prstGeom prst="roundRect">
            <a:avLst>
              <a:gd name="adj" fmla="val 14000"/>
            </a:avLst>
          </a:prstGeom>
          <a:solidFill>
            <a:srgbClr val="19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084831"/>
            <a:ext cx="640080" cy="429768"/>
          </a:xfrm>
          <a:prstGeom prst="rect">
            <a:avLst/>
          </a:prstGeom>
          <a:noFill/>
        </p:spPr>
        <p:txBody>
          <a:bodyPr wrap="square" lIns="36576" rIns="36576" tIns="22860" bIns="22860" anchor="ctr">
            <a:spAutoFit/>
          </a:bodyPr>
          <a:lstStyle/>
          <a:p>
            <a:pPr algn="ctr">
              <a:spcBef>
                <a:spcPts val="0"/>
              </a:spcBef>
              <a:spcAft>
                <a:spcPts val="0"/>
              </a:spcAft>
            </a:pPr>
            <a:r>
              <a:rPr sz="2400" b="1">
                <a:solidFill>
                  <a:srgbClr val="FFFFFF"/>
                </a:solidFill>
                <a:latin typeface="Arial"/>
              </a:rPr>
              <a:t>B</a:t>
            </a:r>
          </a:p>
        </p:txBody>
      </p:sp>
      <p:sp>
        <p:nvSpPr>
          <p:cNvPr id="19" name="TextBox 18"/>
          <p:cNvSpPr txBox="1"/>
          <p:nvPr/>
        </p:nvSpPr>
        <p:spPr>
          <a:xfrm>
            <a:off x="7379208" y="2075688"/>
            <a:ext cx="3483864" cy="237744"/>
          </a:xfrm>
          <a:prstGeom prst="rect">
            <a:avLst/>
          </a:prstGeom>
          <a:noFill/>
        </p:spPr>
        <p:txBody>
          <a:bodyPr wrap="square" lIns="36576" rIns="36576" tIns="22860" bIns="22860" anchor="ctr">
            <a:spAutoFit/>
          </a:bodyPr>
          <a:lstStyle/>
          <a:p>
            <a:pPr algn="l">
              <a:spcBef>
                <a:spcPts val="0"/>
              </a:spcBef>
              <a:spcAft>
                <a:spcPts val="0"/>
              </a:spcAft>
            </a:pPr>
            <a:r>
              <a:rPr sz="1160" b="1">
                <a:solidFill>
                  <a:srgbClr val="627080"/>
                </a:solidFill>
                <a:latin typeface="Arial"/>
              </a:rPr>
              <a:t>QUESTION 2</a:t>
            </a:r>
          </a:p>
        </p:txBody>
      </p:sp>
      <p:sp>
        <p:nvSpPr>
          <p:cNvPr id="20" name="TextBox 19"/>
          <p:cNvSpPr txBox="1"/>
          <p:nvPr/>
        </p:nvSpPr>
        <p:spPr>
          <a:xfrm>
            <a:off x="6501384" y="2761488"/>
            <a:ext cx="4727448" cy="694944"/>
          </a:xfrm>
          <a:prstGeom prst="rect">
            <a:avLst/>
          </a:prstGeom>
          <a:noFill/>
        </p:spPr>
        <p:txBody>
          <a:bodyPr wrap="square" lIns="36576" rIns="36576" tIns="22860" bIns="22860" anchor="ctr">
            <a:spAutoFit/>
          </a:bodyPr>
          <a:lstStyle/>
          <a:p>
            <a:pPr algn="l">
              <a:spcBef>
                <a:spcPts val="0"/>
              </a:spcBef>
              <a:spcAft>
                <a:spcPts val="0"/>
              </a:spcAft>
            </a:pPr>
            <a:r>
              <a:rPr sz="2120" b="1">
                <a:solidFill>
                  <a:srgbClr val="174B7B"/>
                </a:solidFill>
                <a:latin typeface="Arial"/>
              </a:rPr>
              <a:t>Facilitated requirements workshop</a:t>
            </a:r>
          </a:p>
        </p:txBody>
      </p:sp>
      <p:sp>
        <p:nvSpPr>
          <p:cNvPr id="21" name="Rounded Rectangle 20"/>
          <p:cNvSpPr/>
          <p:nvPr/>
        </p:nvSpPr>
        <p:spPr>
          <a:xfrm>
            <a:off x="6492240" y="3730752"/>
            <a:ext cx="4754880" cy="1179576"/>
          </a:xfrm>
          <a:prstGeom prst="roundRect">
            <a:avLst>
              <a:gd name="adj" fmla="val 14000"/>
            </a:avLst>
          </a:prstGeom>
          <a:solidFill>
            <a:srgbClr val="E9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3840480"/>
            <a:ext cx="4443984" cy="941832"/>
          </a:xfrm>
          <a:prstGeom prst="rect">
            <a:avLst/>
          </a:prstGeom>
          <a:noFill/>
        </p:spPr>
        <p:txBody>
          <a:bodyPr wrap="square" lIns="36576" rIns="36576" tIns="22860" bIns="22860" anchor="ctr">
            <a:spAutoFit/>
          </a:bodyPr>
          <a:lstStyle/>
          <a:p>
            <a:pPr algn="l">
              <a:spcBef>
                <a:spcPts val="0"/>
              </a:spcBef>
              <a:spcAft>
                <a:spcPts val="0"/>
              </a:spcAft>
            </a:pPr>
            <a:r>
              <a:rPr sz="1510" b="0">
                <a:solidFill>
                  <a:srgbClr val="22324B"/>
                </a:solidFill>
                <a:latin typeface="Arial"/>
              </a:rPr>
              <a:t>Workshops bring stakeholders together to resolve conflicts and build shared understanding.</a:t>
            </a:r>
          </a:p>
        </p:txBody>
      </p:sp>
      <p:sp>
        <p:nvSpPr>
          <p:cNvPr id="23" name="Rounded Rectangle 22"/>
          <p:cNvSpPr/>
          <p:nvPr/>
        </p:nvSpPr>
        <p:spPr>
          <a:xfrm>
            <a:off x="969264" y="5623560"/>
            <a:ext cx="10250424" cy="484632"/>
          </a:xfrm>
          <a:prstGeom prst="roundRect">
            <a:avLst>
              <a:gd name="adj" fmla="val 14000"/>
            </a:avLst>
          </a:prstGeom>
          <a:solidFill>
            <a:srgbClr val="E1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715000"/>
            <a:ext cx="9902952" cy="274320"/>
          </a:xfrm>
          <a:prstGeom prst="rect">
            <a:avLst/>
          </a:prstGeom>
          <a:noFill/>
        </p:spPr>
        <p:txBody>
          <a:bodyPr wrap="square" lIns="36576" rIns="36576" tIns="22860" bIns="22860" anchor="ctr">
            <a:spAutoFit/>
          </a:bodyPr>
          <a:lstStyle/>
          <a:p>
            <a:pPr algn="ctr">
              <a:spcBef>
                <a:spcPts val="0"/>
              </a:spcBef>
              <a:spcAft>
                <a:spcPts val="0"/>
              </a:spcAft>
            </a:pPr>
            <a:r>
              <a:rPr sz="1310" b="1">
                <a:solidFill>
                  <a:srgbClr val="174B7B"/>
                </a:solidFill>
                <a:latin typeface="Arial"/>
              </a:rPr>
              <a:t>Key idea  ·  Select elicitation methods based on the information you need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44752" cy="365760"/>
          </a:xfrm>
          <a:prstGeom prst="rect">
            <a:avLst/>
          </a:prstGeom>
          <a:noFill/>
        </p:spPr>
        <p:txBody>
          <a:bodyPr wrap="square" lIns="36576" rIns="36576" tIns="22860" bIns="22860" anchor="ctr">
            <a:spAutoFit/>
          </a:bodyPr>
          <a:lstStyle/>
          <a:p>
            <a:pPr algn="l">
              <a:spcBef>
                <a:spcPts val="0"/>
              </a:spcBef>
              <a:spcAft>
                <a:spcPts val="0"/>
              </a:spcAft>
            </a:pPr>
            <a:r>
              <a:rPr sz="1120" b="1">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36576" rIns="36576" tIns="22860" bIns="22860" anchor="ctr">
            <a:spAutoFit/>
          </a:bodyPr>
          <a:lstStyle/>
          <a:p>
            <a:pPr algn="l">
              <a:spcBef>
                <a:spcPts val="0"/>
              </a:spcBef>
              <a:spcAft>
                <a:spcPts val="0"/>
              </a:spcAft>
            </a:pPr>
            <a:r>
              <a:rPr sz="2520" b="1">
                <a:solidFill>
                  <a:srgbClr val="FFFFFF"/>
                </a:solidFill>
                <a:latin typeface="Arial"/>
              </a:rPr>
              <a:t>Checkpoint · Section 2.3</a:t>
            </a:r>
          </a:p>
        </p:txBody>
      </p:sp>
      <p:sp>
        <p:nvSpPr>
          <p:cNvPr id="5" name="TextBox 4"/>
          <p:cNvSpPr txBox="1"/>
          <p:nvPr/>
        </p:nvSpPr>
        <p:spPr>
          <a:xfrm>
            <a:off x="758952" y="1261872"/>
            <a:ext cx="10789920" cy="393192"/>
          </a:xfrm>
          <a:prstGeom prst="rect">
            <a:avLst/>
          </a:prstGeom>
          <a:noFill/>
        </p:spPr>
        <p:txBody>
          <a:bodyPr wrap="square" lIns="36576" rIns="36576" tIns="22860" bIns="22860" anchor="ctr">
            <a:spAutoFit/>
          </a:bodyPr>
          <a:lstStyle/>
          <a:p>
            <a:pPr algn="l">
              <a:spcBef>
                <a:spcPts val="0"/>
              </a:spcBef>
              <a:spcAft>
                <a:spcPts val="0"/>
              </a:spcAft>
            </a:pPr>
            <a:r>
              <a:rPr sz="1320" b="0">
                <a:solidFill>
                  <a:srgbClr val="627080"/>
                </a:solidFill>
                <a:latin typeface="Arial"/>
              </a:rPr>
              <a:t>Recognize WHAT the system does versus HOW WELL it does it.</a:t>
            </a:r>
          </a:p>
        </p:txBody>
      </p:sp>
      <p:sp>
        <p:nvSpPr>
          <p:cNvPr id="6" name="Rectangle 5"/>
          <p:cNvSpPr/>
          <p:nvPr/>
        </p:nvSpPr>
        <p:spPr>
          <a:xfrm>
            <a:off x="768096" y="6327648"/>
            <a:ext cx="10716768" cy="10972"/>
          </a:xfrm>
          <a:prstGeom prst="rect">
            <a:avLst/>
          </a:prstGeom>
          <a:solidFill>
            <a:srgbClr val="D7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201168"/>
          </a:xfrm>
          <a:prstGeom prst="rect">
            <a:avLst/>
          </a:prstGeom>
          <a:noFill/>
        </p:spPr>
        <p:txBody>
          <a:bodyPr wrap="square" lIns="36576" rIns="36576" tIns="22860" bIns="22860" anchor="ctr">
            <a:spAutoFit/>
          </a:bodyPr>
          <a:lstStyle/>
          <a:p>
            <a:pPr algn="l">
              <a:spcBef>
                <a:spcPts val="0"/>
              </a:spcBef>
              <a:spcAft>
                <a:spcPts val="0"/>
              </a:spcAft>
            </a:pPr>
            <a:r>
              <a:rPr sz="900" b="0">
                <a:solidFill>
                  <a:srgbClr val="8A929B"/>
                </a:solidFill>
                <a:latin typeface="Arial"/>
              </a:rPr>
              <a:t>Source: book.agentic-swe.dev/chapter_2.html  •  Sections 2.1–2.3</a:t>
            </a:r>
          </a:p>
        </p:txBody>
      </p:sp>
      <p:sp>
        <p:nvSpPr>
          <p:cNvPr id="8" name="TextBox 7"/>
          <p:cNvSpPr txBox="1"/>
          <p:nvPr/>
        </p:nvSpPr>
        <p:spPr>
          <a:xfrm>
            <a:off x="10981944" y="6345936"/>
            <a:ext cx="685800" cy="256032"/>
          </a:xfrm>
          <a:prstGeom prst="rect">
            <a:avLst/>
          </a:prstGeom>
          <a:noFill/>
        </p:spPr>
        <p:txBody>
          <a:bodyPr wrap="square" lIns="36576" rIns="36576" tIns="22860" bIns="22860" anchor="ctr">
            <a:spAutoFit/>
          </a:bodyPr>
          <a:lstStyle/>
          <a:p>
            <a:pPr algn="r"/>
            <a:r>
              <a:rPr sz="900">
                <a:solidFill>
                  <a:srgbClr val="627080"/>
                </a:solidFill>
                <a:latin typeface="Arial"/>
              </a:rPr>
              <a:t>18 / 20</a:t>
            </a:r>
          </a:p>
        </p:txBody>
      </p:sp>
      <p:sp>
        <p:nvSpPr>
          <p:cNvPr id="9" name="Rounded Rectangle 8"/>
          <p:cNvSpPr/>
          <p:nvPr/>
        </p:nvSpPr>
        <p:spPr>
          <a:xfrm>
            <a:off x="731520" y="1865376"/>
            <a:ext cx="5175504" cy="4050791"/>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05256" y="2002536"/>
            <a:ext cx="1143000" cy="310896"/>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29968"/>
            <a:ext cx="1024128" cy="228600"/>
          </a:xfrm>
          <a:prstGeom prst="rect">
            <a:avLst/>
          </a:prstGeom>
          <a:noFill/>
        </p:spPr>
        <p:txBody>
          <a:bodyPr wrap="square" lIns="0" rIns="0" tIns="22860" bIns="22860" anchor="ctr">
            <a:spAutoFit/>
          </a:bodyPr>
          <a:lstStyle/>
          <a:p>
            <a:pPr algn="ctr">
              <a:spcBef>
                <a:spcPts val="0"/>
              </a:spcBef>
              <a:spcAft>
                <a:spcPts val="0"/>
              </a:spcAft>
            </a:pPr>
            <a:r>
              <a:rPr sz="1100" b="1">
                <a:solidFill>
                  <a:srgbClr val="FFFFFF"/>
                </a:solidFill>
                <a:latin typeface="Arial"/>
              </a:rPr>
              <a:t>QUESTION 1</a:t>
            </a:r>
          </a:p>
        </p:txBody>
      </p:sp>
      <p:sp>
        <p:nvSpPr>
          <p:cNvPr id="12" name="TextBox 11"/>
          <p:cNvSpPr txBox="1"/>
          <p:nvPr/>
        </p:nvSpPr>
        <p:spPr>
          <a:xfrm>
            <a:off x="932688" y="2414016"/>
            <a:ext cx="4736592" cy="548640"/>
          </a:xfrm>
          <a:prstGeom prst="rect">
            <a:avLst/>
          </a:prstGeom>
          <a:noFill/>
        </p:spPr>
        <p:txBody>
          <a:bodyPr wrap="square" lIns="36576" rIns="36576" tIns="22860" bIns="22860" anchor="ctr">
            <a:spAutoFit/>
          </a:bodyPr>
          <a:lstStyle/>
          <a:p>
            <a:pPr algn="l">
              <a:spcBef>
                <a:spcPts val="0"/>
              </a:spcBef>
              <a:spcAft>
                <a:spcPts val="0"/>
              </a:spcAft>
            </a:pPr>
            <a:r>
              <a:rPr sz="1610" b="1">
                <a:solidFill>
                  <a:srgbClr val="22324B"/>
                </a:solidFill>
                <a:latin typeface="Arial"/>
              </a:rPr>
              <a:t>Which statement is a functional requirement for a task-management app?</a:t>
            </a:r>
          </a:p>
        </p:txBody>
      </p:sp>
      <p:sp>
        <p:nvSpPr>
          <p:cNvPr id="13" name="Rounded Rectangle 12"/>
          <p:cNvSpPr/>
          <p:nvPr/>
        </p:nvSpPr>
        <p:spPr>
          <a:xfrm>
            <a:off x="905256" y="3118104"/>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87552" y="3200400"/>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218688"/>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A</a:t>
            </a:r>
          </a:p>
        </p:txBody>
      </p:sp>
      <p:sp>
        <p:nvSpPr>
          <p:cNvPr id="16" name="TextBox 15"/>
          <p:cNvSpPr txBox="1"/>
          <p:nvPr/>
        </p:nvSpPr>
        <p:spPr>
          <a:xfrm>
            <a:off x="1435608" y="3168396"/>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Managers can assign tasks to members</a:t>
            </a:r>
          </a:p>
        </p:txBody>
      </p:sp>
      <p:sp>
        <p:nvSpPr>
          <p:cNvPr id="17" name="Rounded Rectangle 16"/>
          <p:cNvSpPr/>
          <p:nvPr/>
        </p:nvSpPr>
        <p:spPr>
          <a:xfrm>
            <a:off x="905256" y="3749039"/>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7552" y="3831335"/>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3849624"/>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B</a:t>
            </a:r>
          </a:p>
        </p:txBody>
      </p:sp>
      <p:sp>
        <p:nvSpPr>
          <p:cNvPr id="20" name="TextBox 19"/>
          <p:cNvSpPr txBox="1"/>
          <p:nvPr/>
        </p:nvSpPr>
        <p:spPr>
          <a:xfrm>
            <a:off x="1435608" y="3799331"/>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The system achieves 99.9% uptime</a:t>
            </a:r>
          </a:p>
        </p:txBody>
      </p:sp>
      <p:sp>
        <p:nvSpPr>
          <p:cNvPr id="21" name="Rounded Rectangle 20"/>
          <p:cNvSpPr/>
          <p:nvPr/>
        </p:nvSpPr>
        <p:spPr>
          <a:xfrm>
            <a:off x="905256" y="4379976"/>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87552" y="4462272"/>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 y="4480560"/>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C</a:t>
            </a:r>
          </a:p>
        </p:txBody>
      </p:sp>
      <p:sp>
        <p:nvSpPr>
          <p:cNvPr id="24" name="TextBox 23"/>
          <p:cNvSpPr txBox="1"/>
          <p:nvPr/>
        </p:nvSpPr>
        <p:spPr>
          <a:xfrm>
            <a:off x="1435608" y="4430268"/>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Stored task data uses encryption</a:t>
            </a:r>
          </a:p>
        </p:txBody>
      </p:sp>
      <p:sp>
        <p:nvSpPr>
          <p:cNvPr id="25" name="Rounded Rectangle 24"/>
          <p:cNvSpPr/>
          <p:nvPr/>
        </p:nvSpPr>
        <p:spPr>
          <a:xfrm>
            <a:off x="905256" y="5010912"/>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7552" y="5093208"/>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 y="5111496"/>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D</a:t>
            </a:r>
          </a:p>
        </p:txBody>
      </p:sp>
      <p:sp>
        <p:nvSpPr>
          <p:cNvPr id="28" name="TextBox 27"/>
          <p:cNvSpPr txBox="1"/>
          <p:nvPr/>
        </p:nvSpPr>
        <p:spPr>
          <a:xfrm>
            <a:off x="1435608" y="5061204"/>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The API meets a response-time target</a:t>
            </a:r>
          </a:p>
        </p:txBody>
      </p:sp>
      <p:sp>
        <p:nvSpPr>
          <p:cNvPr id="29" name="Rounded Rectangle 28"/>
          <p:cNvSpPr/>
          <p:nvPr/>
        </p:nvSpPr>
        <p:spPr>
          <a:xfrm>
            <a:off x="6272783" y="1865376"/>
            <a:ext cx="5175504" cy="4050791"/>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46520" y="2002536"/>
            <a:ext cx="1143000" cy="310896"/>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01383" y="2029968"/>
            <a:ext cx="1024128" cy="228600"/>
          </a:xfrm>
          <a:prstGeom prst="rect">
            <a:avLst/>
          </a:prstGeom>
          <a:noFill/>
        </p:spPr>
        <p:txBody>
          <a:bodyPr wrap="square" lIns="0" rIns="0" tIns="22860" bIns="22860" anchor="ctr">
            <a:spAutoFit/>
          </a:bodyPr>
          <a:lstStyle/>
          <a:p>
            <a:pPr algn="ctr">
              <a:spcBef>
                <a:spcPts val="0"/>
              </a:spcBef>
              <a:spcAft>
                <a:spcPts val="0"/>
              </a:spcAft>
            </a:pPr>
            <a:r>
              <a:rPr sz="1100" b="1">
                <a:solidFill>
                  <a:srgbClr val="FFFFFF"/>
                </a:solidFill>
                <a:latin typeface="Arial"/>
              </a:rPr>
              <a:t>QUESTION 2</a:t>
            </a:r>
          </a:p>
        </p:txBody>
      </p:sp>
      <p:sp>
        <p:nvSpPr>
          <p:cNvPr id="32" name="TextBox 31"/>
          <p:cNvSpPr txBox="1"/>
          <p:nvPr/>
        </p:nvSpPr>
        <p:spPr>
          <a:xfrm>
            <a:off x="6473951" y="2414016"/>
            <a:ext cx="4736592" cy="548640"/>
          </a:xfrm>
          <a:prstGeom prst="rect">
            <a:avLst/>
          </a:prstGeom>
          <a:noFill/>
        </p:spPr>
        <p:txBody>
          <a:bodyPr wrap="square" lIns="36576" rIns="36576" tIns="22860" bIns="22860" anchor="ctr">
            <a:spAutoFit/>
          </a:bodyPr>
          <a:lstStyle/>
          <a:p>
            <a:pPr algn="l">
              <a:spcBef>
                <a:spcPts val="0"/>
              </a:spcBef>
              <a:spcAft>
                <a:spcPts val="0"/>
              </a:spcAft>
            </a:pPr>
            <a:r>
              <a:rPr sz="1610" b="1">
                <a:solidFill>
                  <a:srgbClr val="22324B"/>
                </a:solidFill>
                <a:latin typeface="Arial"/>
              </a:rPr>
              <a:t>Which non-functional requirement is objectively measurable?</a:t>
            </a:r>
          </a:p>
        </p:txBody>
      </p:sp>
      <p:sp>
        <p:nvSpPr>
          <p:cNvPr id="33" name="Rounded Rectangle 32"/>
          <p:cNvSpPr/>
          <p:nvPr/>
        </p:nvSpPr>
        <p:spPr>
          <a:xfrm>
            <a:off x="6446520" y="3118104"/>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28816" y="3200400"/>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59" y="3218688"/>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A</a:t>
            </a:r>
          </a:p>
        </p:txBody>
      </p:sp>
      <p:sp>
        <p:nvSpPr>
          <p:cNvPr id="36" name="TextBox 35"/>
          <p:cNvSpPr txBox="1"/>
          <p:nvPr/>
        </p:nvSpPr>
        <p:spPr>
          <a:xfrm>
            <a:off x="6976871" y="3168396"/>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The interface should feel intuitive</a:t>
            </a:r>
          </a:p>
        </p:txBody>
      </p:sp>
      <p:sp>
        <p:nvSpPr>
          <p:cNvPr id="37" name="Rounded Rectangle 36"/>
          <p:cNvSpPr/>
          <p:nvPr/>
        </p:nvSpPr>
        <p:spPr>
          <a:xfrm>
            <a:off x="6446520" y="3749039"/>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28816" y="3831335"/>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59" y="3849624"/>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B</a:t>
            </a:r>
          </a:p>
        </p:txBody>
      </p:sp>
      <p:sp>
        <p:nvSpPr>
          <p:cNvPr id="40" name="TextBox 39"/>
          <p:cNvSpPr txBox="1"/>
          <p:nvPr/>
        </p:nvSpPr>
        <p:spPr>
          <a:xfrm>
            <a:off x="6976871" y="3799331"/>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The application should look modern</a:t>
            </a:r>
          </a:p>
        </p:txBody>
      </p:sp>
      <p:sp>
        <p:nvSpPr>
          <p:cNvPr id="41" name="Rounded Rectangle 40"/>
          <p:cNvSpPr/>
          <p:nvPr/>
        </p:nvSpPr>
        <p:spPr>
          <a:xfrm>
            <a:off x="6446520" y="4379976"/>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528816" y="4462272"/>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59" y="4480560"/>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C</a:t>
            </a:r>
          </a:p>
        </p:txBody>
      </p:sp>
      <p:sp>
        <p:nvSpPr>
          <p:cNvPr id="44" name="TextBox 43"/>
          <p:cNvSpPr txBox="1"/>
          <p:nvPr/>
        </p:nvSpPr>
        <p:spPr>
          <a:xfrm>
            <a:off x="6976871" y="4430268"/>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The service should be very reliable</a:t>
            </a:r>
          </a:p>
        </p:txBody>
      </p:sp>
      <p:sp>
        <p:nvSpPr>
          <p:cNvPr id="45" name="Rounded Rectangle 44"/>
          <p:cNvSpPr/>
          <p:nvPr/>
        </p:nvSpPr>
        <p:spPr>
          <a:xfrm>
            <a:off x="6446520" y="5010912"/>
            <a:ext cx="4818888" cy="521207"/>
          </a:xfrm>
          <a:prstGeom prst="roundRect">
            <a:avLst>
              <a:gd name="adj" fmla="val 14000"/>
            </a:avLst>
          </a:prstGeom>
          <a:solidFill>
            <a:srgbClr val="F4F7FA"/>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528816" y="5093208"/>
            <a:ext cx="356616" cy="347472"/>
          </a:xfrm>
          <a:prstGeom prst="roundRect">
            <a:avLst>
              <a:gd name="adj" fmla="val 14000"/>
            </a:avLst>
          </a:prstGeom>
          <a:solidFill>
            <a:srgbClr val="174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37959" y="5111496"/>
            <a:ext cx="329184" cy="292608"/>
          </a:xfrm>
          <a:prstGeom prst="rect">
            <a:avLst/>
          </a:prstGeom>
          <a:noFill/>
        </p:spPr>
        <p:txBody>
          <a:bodyPr wrap="square" lIns="0" rIns="0" tIns="22860" bIns="22860" anchor="ctr">
            <a:spAutoFit/>
          </a:bodyPr>
          <a:lstStyle/>
          <a:p>
            <a:pPr algn="ctr">
              <a:spcBef>
                <a:spcPts val="0"/>
              </a:spcBef>
              <a:spcAft>
                <a:spcPts val="0"/>
              </a:spcAft>
            </a:pPr>
            <a:r>
              <a:rPr sz="1200" b="1">
                <a:solidFill>
                  <a:srgbClr val="FFFFFF"/>
                </a:solidFill>
                <a:latin typeface="Arial"/>
              </a:rPr>
              <a:t>D</a:t>
            </a:r>
          </a:p>
        </p:txBody>
      </p:sp>
      <p:sp>
        <p:nvSpPr>
          <p:cNvPr id="48" name="TextBox 47"/>
          <p:cNvSpPr txBox="1"/>
          <p:nvPr/>
        </p:nvSpPr>
        <p:spPr>
          <a:xfrm>
            <a:off x="6976871" y="5061204"/>
            <a:ext cx="4123944" cy="420624"/>
          </a:xfrm>
          <a:prstGeom prst="rect">
            <a:avLst/>
          </a:prstGeom>
          <a:noFill/>
        </p:spPr>
        <p:txBody>
          <a:bodyPr wrap="square" lIns="36576" rIns="36576" tIns="22860" bIns="22860" anchor="ctr">
            <a:spAutoFit/>
          </a:bodyPr>
          <a:lstStyle/>
          <a:p>
            <a:pPr algn="l">
              <a:spcBef>
                <a:spcPts val="0"/>
              </a:spcBef>
              <a:spcAft>
                <a:spcPts val="0"/>
              </a:spcAft>
            </a:pPr>
            <a:r>
              <a:rPr sz="1370" b="0">
                <a:solidFill>
                  <a:srgbClr val="22324B"/>
                </a:solidFill>
                <a:latin typeface="Arial"/>
              </a:rPr>
              <a:t>95% of requests finish within 200 ms at 1,000 concurrent users</a:t>
            </a:r>
          </a:p>
        </p:txBody>
      </p:sp>
      <p:sp>
        <p:nvSpPr>
          <p:cNvPr id="49" name="TextBox 48"/>
          <p:cNvSpPr txBox="1"/>
          <p:nvPr/>
        </p:nvSpPr>
        <p:spPr>
          <a:xfrm>
            <a:off x="1042415" y="6007608"/>
            <a:ext cx="10131552" cy="228600"/>
          </a:xfrm>
          <a:prstGeom prst="rect">
            <a:avLst/>
          </a:prstGeom>
          <a:noFill/>
        </p:spPr>
        <p:txBody>
          <a:bodyPr wrap="square" lIns="36576" rIns="36576" tIns="22860" bIns="22860" anchor="ctr">
            <a:spAutoFit/>
          </a:bodyPr>
          <a:lstStyle/>
          <a:p>
            <a:pPr algn="ctr">
              <a:spcBef>
                <a:spcPts val="0"/>
              </a:spcBef>
              <a:spcAft>
                <a:spcPts val="0"/>
              </a:spcAft>
            </a:pPr>
            <a:r>
              <a:rPr sz="1110" b="1">
                <a:solidFill>
                  <a:srgbClr val="CD1B2E"/>
                </a:solidFill>
                <a:latin typeface="Arial"/>
              </a:rPr>
              <a:t>Show your vote, then explain your choice in one sentence.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44752" cy="365760"/>
          </a:xfrm>
          <a:prstGeom prst="rect">
            <a:avLst/>
          </a:prstGeom>
          <a:noFill/>
        </p:spPr>
        <p:txBody>
          <a:bodyPr wrap="square" lIns="36576" rIns="36576" tIns="22860" bIns="22860" anchor="ctr">
            <a:spAutoFit/>
          </a:bodyPr>
          <a:lstStyle/>
          <a:p>
            <a:pPr algn="l">
              <a:spcBef>
                <a:spcPts val="0"/>
              </a:spcBef>
              <a:spcAft>
                <a:spcPts val="0"/>
              </a:spcAft>
            </a:pPr>
            <a:r>
              <a:rPr sz="1120" b="1">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36576" rIns="36576" tIns="22860" bIns="22860" anchor="ctr">
            <a:spAutoFit/>
          </a:bodyPr>
          <a:lstStyle/>
          <a:p>
            <a:pPr algn="l">
              <a:spcBef>
                <a:spcPts val="0"/>
              </a:spcBef>
              <a:spcAft>
                <a:spcPts val="0"/>
              </a:spcAft>
            </a:pPr>
            <a:r>
              <a:rPr sz="2520" b="1">
                <a:solidFill>
                  <a:srgbClr val="FFFFFF"/>
                </a:solidFill>
                <a:latin typeface="Arial"/>
              </a:rPr>
              <a:t>Answer reveal · 2.3 Requirement types</a:t>
            </a:r>
          </a:p>
        </p:txBody>
      </p:sp>
      <p:sp>
        <p:nvSpPr>
          <p:cNvPr id="5" name="TextBox 4"/>
          <p:cNvSpPr txBox="1"/>
          <p:nvPr/>
        </p:nvSpPr>
        <p:spPr>
          <a:xfrm>
            <a:off x="758952" y="1261872"/>
            <a:ext cx="10789920" cy="393192"/>
          </a:xfrm>
          <a:prstGeom prst="rect">
            <a:avLst/>
          </a:prstGeom>
          <a:noFill/>
        </p:spPr>
        <p:txBody>
          <a:bodyPr wrap="square" lIns="36576" rIns="36576" tIns="22860" bIns="22860" anchor="ctr">
            <a:spAutoFit/>
          </a:bodyPr>
          <a:lstStyle/>
          <a:p>
            <a:pPr algn="l">
              <a:spcBef>
                <a:spcPts val="0"/>
              </a:spcBef>
              <a:spcAft>
                <a:spcPts val="0"/>
              </a:spcAft>
            </a:pPr>
            <a:r>
              <a:rPr sz="1320" b="0">
                <a:solidFill>
                  <a:srgbClr val="627080"/>
                </a:solidFill>
                <a:latin typeface="Arial"/>
              </a:rPr>
              <a:t>Why these choices are correct</a:t>
            </a:r>
          </a:p>
        </p:txBody>
      </p:sp>
      <p:sp>
        <p:nvSpPr>
          <p:cNvPr id="6" name="Rectangle 5"/>
          <p:cNvSpPr/>
          <p:nvPr/>
        </p:nvSpPr>
        <p:spPr>
          <a:xfrm>
            <a:off x="768096" y="6327648"/>
            <a:ext cx="10716768" cy="10972"/>
          </a:xfrm>
          <a:prstGeom prst="rect">
            <a:avLst/>
          </a:prstGeom>
          <a:solidFill>
            <a:srgbClr val="D7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201168"/>
          </a:xfrm>
          <a:prstGeom prst="rect">
            <a:avLst/>
          </a:prstGeom>
          <a:noFill/>
        </p:spPr>
        <p:txBody>
          <a:bodyPr wrap="square" lIns="36576" rIns="36576" tIns="22860" bIns="22860" anchor="ctr">
            <a:spAutoFit/>
          </a:bodyPr>
          <a:lstStyle/>
          <a:p>
            <a:pPr algn="l">
              <a:spcBef>
                <a:spcPts val="0"/>
              </a:spcBef>
              <a:spcAft>
                <a:spcPts val="0"/>
              </a:spcAft>
            </a:pPr>
            <a:r>
              <a:rPr sz="900" b="0">
                <a:solidFill>
                  <a:srgbClr val="8A929B"/>
                </a:solidFill>
                <a:latin typeface="Arial"/>
              </a:rPr>
              <a:t>Source: book.agentic-swe.dev/chapter_2.html  •  Sections 2.1–2.3</a:t>
            </a:r>
          </a:p>
        </p:txBody>
      </p:sp>
      <p:sp>
        <p:nvSpPr>
          <p:cNvPr id="8" name="TextBox 7"/>
          <p:cNvSpPr txBox="1"/>
          <p:nvPr/>
        </p:nvSpPr>
        <p:spPr>
          <a:xfrm>
            <a:off x="10981944" y="6345936"/>
            <a:ext cx="685800" cy="256032"/>
          </a:xfrm>
          <a:prstGeom prst="rect">
            <a:avLst/>
          </a:prstGeom>
          <a:noFill/>
        </p:spPr>
        <p:txBody>
          <a:bodyPr wrap="square" lIns="36576" rIns="36576" tIns="22860" bIns="22860" anchor="ctr">
            <a:spAutoFit/>
          </a:bodyPr>
          <a:lstStyle/>
          <a:p>
            <a:pPr algn="r"/>
            <a:r>
              <a:rPr sz="900">
                <a:solidFill>
                  <a:srgbClr val="627080"/>
                </a:solidFill>
                <a:latin typeface="Arial"/>
              </a:rPr>
              <a:t>19 / 20</a:t>
            </a:r>
          </a:p>
        </p:txBody>
      </p:sp>
      <p:sp>
        <p:nvSpPr>
          <p:cNvPr id="9" name="Rounded Rectangle 8"/>
          <p:cNvSpPr/>
          <p:nvPr/>
        </p:nvSpPr>
        <p:spPr>
          <a:xfrm>
            <a:off x="749808" y="1847088"/>
            <a:ext cx="5157216" cy="3474720"/>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23544" y="2029968"/>
            <a:ext cx="749808" cy="557784"/>
          </a:xfrm>
          <a:prstGeom prst="roundRect">
            <a:avLst>
              <a:gd name="adj" fmla="val 14000"/>
            </a:avLst>
          </a:prstGeom>
          <a:solidFill>
            <a:srgbClr val="19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7" y="2084831"/>
            <a:ext cx="640080" cy="429768"/>
          </a:xfrm>
          <a:prstGeom prst="rect">
            <a:avLst/>
          </a:prstGeom>
          <a:noFill/>
        </p:spPr>
        <p:txBody>
          <a:bodyPr wrap="square" lIns="36576" rIns="36576" tIns="22860" bIns="22860" anchor="ctr">
            <a:spAutoFit/>
          </a:bodyPr>
          <a:lstStyle/>
          <a:p>
            <a:pPr algn="ctr">
              <a:spcBef>
                <a:spcPts val="0"/>
              </a:spcBef>
              <a:spcAft>
                <a:spcPts val="0"/>
              </a:spcAft>
            </a:pPr>
            <a:r>
              <a:rPr sz="2400" b="1">
                <a:solidFill>
                  <a:srgbClr val="FFFFFF"/>
                </a:solidFill>
                <a:latin typeface="Arial"/>
              </a:rPr>
              <a:t>A</a:t>
            </a:r>
          </a:p>
        </p:txBody>
      </p:sp>
      <p:sp>
        <p:nvSpPr>
          <p:cNvPr id="12" name="TextBox 11"/>
          <p:cNvSpPr txBox="1"/>
          <p:nvPr/>
        </p:nvSpPr>
        <p:spPr>
          <a:xfrm>
            <a:off x="1837943" y="2075688"/>
            <a:ext cx="3483864" cy="237744"/>
          </a:xfrm>
          <a:prstGeom prst="rect">
            <a:avLst/>
          </a:prstGeom>
          <a:noFill/>
        </p:spPr>
        <p:txBody>
          <a:bodyPr wrap="square" lIns="36576" rIns="36576" tIns="22860" bIns="22860" anchor="ctr">
            <a:spAutoFit/>
          </a:bodyPr>
          <a:lstStyle/>
          <a:p>
            <a:pPr algn="l">
              <a:spcBef>
                <a:spcPts val="0"/>
              </a:spcBef>
              <a:spcAft>
                <a:spcPts val="0"/>
              </a:spcAft>
            </a:pPr>
            <a:r>
              <a:rPr sz="1160" b="1">
                <a:solidFill>
                  <a:srgbClr val="627080"/>
                </a:solidFill>
                <a:latin typeface="Arial"/>
              </a:rPr>
              <a:t>QUESTION 1</a:t>
            </a:r>
          </a:p>
        </p:txBody>
      </p:sp>
      <p:sp>
        <p:nvSpPr>
          <p:cNvPr id="13" name="TextBox 12"/>
          <p:cNvSpPr txBox="1"/>
          <p:nvPr/>
        </p:nvSpPr>
        <p:spPr>
          <a:xfrm>
            <a:off x="960120" y="2761488"/>
            <a:ext cx="4727448" cy="694944"/>
          </a:xfrm>
          <a:prstGeom prst="rect">
            <a:avLst/>
          </a:prstGeom>
          <a:noFill/>
        </p:spPr>
        <p:txBody>
          <a:bodyPr wrap="square" lIns="36576" rIns="36576" tIns="22860" bIns="22860" anchor="ctr">
            <a:spAutoFit/>
          </a:bodyPr>
          <a:lstStyle/>
          <a:p>
            <a:pPr algn="l">
              <a:spcBef>
                <a:spcPts val="0"/>
              </a:spcBef>
              <a:spcAft>
                <a:spcPts val="0"/>
              </a:spcAft>
            </a:pPr>
            <a:r>
              <a:rPr sz="2120" b="1">
                <a:solidFill>
                  <a:srgbClr val="174B7B"/>
                </a:solidFill>
                <a:latin typeface="Arial"/>
              </a:rPr>
              <a:t>Managers can assign tasks to members</a:t>
            </a:r>
          </a:p>
        </p:txBody>
      </p:sp>
      <p:sp>
        <p:nvSpPr>
          <p:cNvPr id="14" name="Rounded Rectangle 13"/>
          <p:cNvSpPr/>
          <p:nvPr/>
        </p:nvSpPr>
        <p:spPr>
          <a:xfrm>
            <a:off x="950976" y="3730752"/>
            <a:ext cx="4754880" cy="1179576"/>
          </a:xfrm>
          <a:prstGeom prst="roundRect">
            <a:avLst>
              <a:gd name="adj" fmla="val 14000"/>
            </a:avLst>
          </a:prstGeom>
          <a:solidFill>
            <a:srgbClr val="E9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 y="3840480"/>
            <a:ext cx="4443984" cy="941832"/>
          </a:xfrm>
          <a:prstGeom prst="rect">
            <a:avLst/>
          </a:prstGeom>
          <a:noFill/>
        </p:spPr>
        <p:txBody>
          <a:bodyPr wrap="square" lIns="36576" rIns="36576" tIns="22860" bIns="22860" anchor="ctr">
            <a:spAutoFit/>
          </a:bodyPr>
          <a:lstStyle/>
          <a:p>
            <a:pPr algn="l">
              <a:spcBef>
                <a:spcPts val="0"/>
              </a:spcBef>
              <a:spcAft>
                <a:spcPts val="0"/>
              </a:spcAft>
            </a:pPr>
            <a:r>
              <a:rPr sz="1510" b="0">
                <a:solidFill>
                  <a:srgbClr val="22324B"/>
                </a:solidFill>
                <a:latin typeface="Arial"/>
              </a:rPr>
              <a:t>Assigning tasks is a system feature. The other options describe quality attributes or constraints.</a:t>
            </a:r>
          </a:p>
        </p:txBody>
      </p:sp>
      <p:sp>
        <p:nvSpPr>
          <p:cNvPr id="16" name="Rounded Rectangle 15"/>
          <p:cNvSpPr/>
          <p:nvPr/>
        </p:nvSpPr>
        <p:spPr>
          <a:xfrm>
            <a:off x="6291072" y="1847088"/>
            <a:ext cx="5157216" cy="3474720"/>
          </a:xfrm>
          <a:prstGeom prst="roundRect">
            <a:avLst>
              <a:gd name="adj" fmla="val 14000"/>
            </a:avLst>
          </a:prstGeom>
          <a:solidFill>
            <a:srgbClr val="FFFFFF"/>
          </a:solidFill>
          <a:ln w="1143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64808" y="2029968"/>
            <a:ext cx="749808" cy="557784"/>
          </a:xfrm>
          <a:prstGeom prst="roundRect">
            <a:avLst>
              <a:gd name="adj" fmla="val 14000"/>
            </a:avLst>
          </a:prstGeom>
          <a:solidFill>
            <a:srgbClr val="19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084831"/>
            <a:ext cx="640080" cy="429768"/>
          </a:xfrm>
          <a:prstGeom prst="rect">
            <a:avLst/>
          </a:prstGeom>
          <a:noFill/>
        </p:spPr>
        <p:txBody>
          <a:bodyPr wrap="square" lIns="36576" rIns="36576" tIns="22860" bIns="22860" anchor="ctr">
            <a:spAutoFit/>
          </a:bodyPr>
          <a:lstStyle/>
          <a:p>
            <a:pPr algn="ctr">
              <a:spcBef>
                <a:spcPts val="0"/>
              </a:spcBef>
              <a:spcAft>
                <a:spcPts val="0"/>
              </a:spcAft>
            </a:pPr>
            <a:r>
              <a:rPr sz="2400" b="1">
                <a:solidFill>
                  <a:srgbClr val="FFFFFF"/>
                </a:solidFill>
                <a:latin typeface="Arial"/>
              </a:rPr>
              <a:t>D</a:t>
            </a:r>
          </a:p>
        </p:txBody>
      </p:sp>
      <p:sp>
        <p:nvSpPr>
          <p:cNvPr id="19" name="TextBox 18"/>
          <p:cNvSpPr txBox="1"/>
          <p:nvPr/>
        </p:nvSpPr>
        <p:spPr>
          <a:xfrm>
            <a:off x="7379208" y="2075688"/>
            <a:ext cx="3483864" cy="237744"/>
          </a:xfrm>
          <a:prstGeom prst="rect">
            <a:avLst/>
          </a:prstGeom>
          <a:noFill/>
        </p:spPr>
        <p:txBody>
          <a:bodyPr wrap="square" lIns="36576" rIns="36576" tIns="22860" bIns="22860" anchor="ctr">
            <a:spAutoFit/>
          </a:bodyPr>
          <a:lstStyle/>
          <a:p>
            <a:pPr algn="l">
              <a:spcBef>
                <a:spcPts val="0"/>
              </a:spcBef>
              <a:spcAft>
                <a:spcPts val="0"/>
              </a:spcAft>
            </a:pPr>
            <a:r>
              <a:rPr sz="1160" b="1">
                <a:solidFill>
                  <a:srgbClr val="627080"/>
                </a:solidFill>
                <a:latin typeface="Arial"/>
              </a:rPr>
              <a:t>QUESTION 2</a:t>
            </a:r>
          </a:p>
        </p:txBody>
      </p:sp>
      <p:sp>
        <p:nvSpPr>
          <p:cNvPr id="20" name="TextBox 19"/>
          <p:cNvSpPr txBox="1"/>
          <p:nvPr/>
        </p:nvSpPr>
        <p:spPr>
          <a:xfrm>
            <a:off x="6501384" y="2761488"/>
            <a:ext cx="4727448" cy="694944"/>
          </a:xfrm>
          <a:prstGeom prst="rect">
            <a:avLst/>
          </a:prstGeom>
          <a:noFill/>
        </p:spPr>
        <p:txBody>
          <a:bodyPr wrap="square" lIns="36576" rIns="36576" tIns="22860" bIns="22860" anchor="ctr">
            <a:spAutoFit/>
          </a:bodyPr>
          <a:lstStyle/>
          <a:p>
            <a:pPr algn="l">
              <a:spcBef>
                <a:spcPts val="0"/>
              </a:spcBef>
              <a:spcAft>
                <a:spcPts val="0"/>
              </a:spcAft>
            </a:pPr>
            <a:r>
              <a:rPr sz="1850" b="1">
                <a:solidFill>
                  <a:srgbClr val="174B7B"/>
                </a:solidFill>
                <a:latin typeface="Arial"/>
              </a:rPr>
              <a:t>95% of requests finish within 200 ms at 1,000 concurrent users</a:t>
            </a:r>
          </a:p>
        </p:txBody>
      </p:sp>
      <p:sp>
        <p:nvSpPr>
          <p:cNvPr id="21" name="Rounded Rectangle 20"/>
          <p:cNvSpPr/>
          <p:nvPr/>
        </p:nvSpPr>
        <p:spPr>
          <a:xfrm>
            <a:off x="6492240" y="3730752"/>
            <a:ext cx="4754880" cy="1179576"/>
          </a:xfrm>
          <a:prstGeom prst="roundRect">
            <a:avLst>
              <a:gd name="adj" fmla="val 14000"/>
            </a:avLst>
          </a:prstGeom>
          <a:solidFill>
            <a:srgbClr val="E9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3840480"/>
            <a:ext cx="4443984" cy="941832"/>
          </a:xfrm>
          <a:prstGeom prst="rect">
            <a:avLst/>
          </a:prstGeom>
          <a:noFill/>
        </p:spPr>
        <p:txBody>
          <a:bodyPr wrap="square" lIns="36576" rIns="36576" tIns="22860" bIns="22860" anchor="ctr">
            <a:spAutoFit/>
          </a:bodyPr>
          <a:lstStyle/>
          <a:p>
            <a:pPr algn="l">
              <a:spcBef>
                <a:spcPts val="0"/>
              </a:spcBef>
              <a:spcAft>
                <a:spcPts val="0"/>
              </a:spcAft>
            </a:pPr>
            <a:r>
              <a:rPr sz="1510" b="0">
                <a:solidFill>
                  <a:srgbClr val="22324B"/>
                </a:solidFill>
                <a:latin typeface="Arial"/>
              </a:rPr>
              <a:t>A 95th-percentile response time under a specified load can be tested; vague adjectives cannot.</a:t>
            </a:r>
          </a:p>
        </p:txBody>
      </p:sp>
      <p:sp>
        <p:nvSpPr>
          <p:cNvPr id="23" name="Rounded Rectangle 22"/>
          <p:cNvSpPr/>
          <p:nvPr/>
        </p:nvSpPr>
        <p:spPr>
          <a:xfrm>
            <a:off x="969264" y="5623560"/>
            <a:ext cx="10250424" cy="484632"/>
          </a:xfrm>
          <a:prstGeom prst="roundRect">
            <a:avLst>
              <a:gd name="adj" fmla="val 14000"/>
            </a:avLst>
          </a:prstGeom>
          <a:solidFill>
            <a:srgbClr val="E1E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715000"/>
            <a:ext cx="9902952" cy="274320"/>
          </a:xfrm>
          <a:prstGeom prst="rect">
            <a:avLst/>
          </a:prstGeom>
          <a:noFill/>
        </p:spPr>
        <p:txBody>
          <a:bodyPr wrap="square" lIns="36576" rIns="36576" tIns="22860" bIns="22860" anchor="ctr">
            <a:spAutoFit/>
          </a:bodyPr>
          <a:lstStyle/>
          <a:p>
            <a:pPr algn="ctr">
              <a:spcBef>
                <a:spcPts val="0"/>
              </a:spcBef>
              <a:spcAft>
                <a:spcPts val="0"/>
              </a:spcAft>
            </a:pPr>
            <a:r>
              <a:rPr sz="1310" b="1">
                <a:solidFill>
                  <a:srgbClr val="174B7B"/>
                </a:solidFill>
                <a:latin typeface="Arial"/>
              </a:rPr>
              <a:t>Key idea  ·  Features describe WHAT; measurable quality targets describe HOW WELL</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2026-07-23T07:23:44Z</dcterms:created>
  <dc:creator/>
  <dc:title>Requirements Engineering and Specification (2.1–2.3) | COMP5320 Template</dc:title>
  <dc:subject>Presentation adapted to the uploaded COMP5320 Slide Template</dc:subject>
</cp:coreProperties>
</file>