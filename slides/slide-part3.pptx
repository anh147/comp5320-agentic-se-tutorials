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notesMasterIdLst>
    <p:notesMasterId r:id="rId5"/>
  </p:notesMasterIdLst>
  <p:sldIdLst>
    <p:sldId id="257" r:id="rId3"/>
    <p:sldId id="258" r:id="rId4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26"/>
  </p:normalViewPr>
  <p:slideViewPr>
    <p:cSldViewPr snapToGrid="0">
      <p:cViewPr varScale="1">
        <p:scale>
          <a:sx n="116" d="100"/>
          <a:sy n="116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7C590-75AE-284E-B683-75C2F7A0CB7A}" type="datetimeFigureOut">
              <a:rPr lang="en-VN" smtClean="0"/>
              <a:t>10/16/26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9C047-033E-9041-8F68-69CF59E12E0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5114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092200" y="3230563"/>
            <a:ext cx="8737600" cy="2643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49638" y="839788"/>
            <a:ext cx="4022725" cy="2263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609601" y="157734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9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609600" y="1577342"/>
            <a:ext cx="530352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6278880" y="1577342"/>
            <a:ext cx="530352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27645" lvl="0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855290" lvl="1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282934" lvl="2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710579" lvl="3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138223" lvl="4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565868" lvl="5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993512" lvl="6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421157" lvl="7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848802" lvl="8" indent="-21382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7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9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97"/>
            </a:lvl1pPr>
            <a:lvl2pPr marL="418488" indent="0" algn="ctr">
              <a:buNone/>
              <a:defRPr sz="1831"/>
            </a:lvl2pPr>
            <a:lvl3pPr marL="836977" indent="0" algn="ctr">
              <a:buNone/>
              <a:defRPr sz="1647"/>
            </a:lvl3pPr>
            <a:lvl4pPr marL="1255464" indent="0" algn="ctr">
              <a:buNone/>
              <a:defRPr sz="1464"/>
            </a:lvl4pPr>
            <a:lvl5pPr marL="1673953" indent="0" algn="ctr">
              <a:buNone/>
              <a:defRPr sz="1464"/>
            </a:lvl5pPr>
            <a:lvl6pPr marL="2092441" indent="0" algn="ctr">
              <a:buNone/>
              <a:defRPr sz="1464"/>
            </a:lvl6pPr>
            <a:lvl7pPr marL="2510929" indent="0" algn="ctr">
              <a:buNone/>
              <a:defRPr sz="1464"/>
            </a:lvl7pPr>
            <a:lvl8pPr marL="2929417" indent="0" algn="ctr">
              <a:buNone/>
              <a:defRPr sz="1464"/>
            </a:lvl8pPr>
            <a:lvl9pPr marL="3347905" indent="0" algn="ctr">
              <a:buNone/>
              <a:defRPr sz="146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4286F-3B79-47DD-B4AB-CF9262BA2746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B5B0-D7EF-4AF8-9324-0F8294FC8D04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28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549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197">
                <a:solidFill>
                  <a:schemeClr val="tx1">
                    <a:tint val="75000"/>
                  </a:schemeClr>
                </a:solidFill>
              </a:defRPr>
            </a:lvl1pPr>
            <a:lvl2pPr marL="418488" indent="0">
              <a:buNone/>
              <a:defRPr sz="1831">
                <a:solidFill>
                  <a:schemeClr val="tx1">
                    <a:tint val="75000"/>
                  </a:schemeClr>
                </a:solidFill>
              </a:defRPr>
            </a:lvl2pPr>
            <a:lvl3pPr marL="836977" indent="0">
              <a:buNone/>
              <a:defRPr sz="1647">
                <a:solidFill>
                  <a:schemeClr val="tx1">
                    <a:tint val="75000"/>
                  </a:schemeClr>
                </a:solidFill>
              </a:defRPr>
            </a:lvl3pPr>
            <a:lvl4pPr marL="1255464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4pPr>
            <a:lvl5pPr marL="1673953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5pPr>
            <a:lvl6pPr marL="2092441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6pPr>
            <a:lvl7pPr marL="2510929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7pPr>
            <a:lvl8pPr marL="2929417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8pPr>
            <a:lvl9pPr marL="3347905" indent="0">
              <a:buNone/>
              <a:defRPr sz="14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DD11-8D78-4E28-AF17-2BCD8FF8AF90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09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B370-002C-42C2-AF9D-76AFF8B714EF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52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8" cy="823912"/>
          </a:xfrm>
        </p:spPr>
        <p:txBody>
          <a:bodyPr anchor="b"/>
          <a:lstStyle>
            <a:lvl1pPr marL="0" indent="0">
              <a:buNone/>
              <a:defRPr sz="2197" b="1"/>
            </a:lvl1pPr>
            <a:lvl2pPr marL="418488" indent="0">
              <a:buNone/>
              <a:defRPr sz="1831" b="1"/>
            </a:lvl2pPr>
            <a:lvl3pPr marL="836977" indent="0">
              <a:buNone/>
              <a:defRPr sz="1647" b="1"/>
            </a:lvl3pPr>
            <a:lvl4pPr marL="1255464" indent="0">
              <a:buNone/>
              <a:defRPr sz="1464" b="1"/>
            </a:lvl4pPr>
            <a:lvl5pPr marL="1673953" indent="0">
              <a:buNone/>
              <a:defRPr sz="1464" b="1"/>
            </a:lvl5pPr>
            <a:lvl6pPr marL="2092441" indent="0">
              <a:buNone/>
              <a:defRPr sz="1464" b="1"/>
            </a:lvl6pPr>
            <a:lvl7pPr marL="2510929" indent="0">
              <a:buNone/>
              <a:defRPr sz="1464" b="1"/>
            </a:lvl7pPr>
            <a:lvl8pPr marL="2929417" indent="0">
              <a:buNone/>
              <a:defRPr sz="1464" b="1"/>
            </a:lvl8pPr>
            <a:lvl9pPr marL="3347905" indent="0">
              <a:buNone/>
              <a:defRPr sz="14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197" b="1"/>
            </a:lvl1pPr>
            <a:lvl2pPr marL="418488" indent="0">
              <a:buNone/>
              <a:defRPr sz="1831" b="1"/>
            </a:lvl2pPr>
            <a:lvl3pPr marL="836977" indent="0">
              <a:buNone/>
              <a:defRPr sz="1647" b="1"/>
            </a:lvl3pPr>
            <a:lvl4pPr marL="1255464" indent="0">
              <a:buNone/>
              <a:defRPr sz="1464" b="1"/>
            </a:lvl4pPr>
            <a:lvl5pPr marL="1673953" indent="0">
              <a:buNone/>
              <a:defRPr sz="1464" b="1"/>
            </a:lvl5pPr>
            <a:lvl6pPr marL="2092441" indent="0">
              <a:buNone/>
              <a:defRPr sz="1464" b="1"/>
            </a:lvl6pPr>
            <a:lvl7pPr marL="2510929" indent="0">
              <a:buNone/>
              <a:defRPr sz="1464" b="1"/>
            </a:lvl7pPr>
            <a:lvl8pPr marL="2929417" indent="0">
              <a:buNone/>
              <a:defRPr sz="1464" b="1"/>
            </a:lvl8pPr>
            <a:lvl9pPr marL="3347905" indent="0">
              <a:buNone/>
              <a:defRPr sz="14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CD98-D908-42A0-BD26-9F4BB6DD8D66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1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575154"/>
          </a:xfrm>
        </p:spPr>
        <p:txBody>
          <a:bodyPr>
            <a:normAutofit/>
          </a:bodyPr>
          <a:lstStyle>
            <a:lvl1pPr>
              <a:defRPr sz="25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DB8CF-264A-4D1E-B609-80DC3D6276E3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83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93028-83A9-494C-856E-9F9B50E18A56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137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93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2930"/>
            </a:lvl1pPr>
            <a:lvl2pPr>
              <a:defRPr sz="2563"/>
            </a:lvl2pPr>
            <a:lvl3pPr>
              <a:defRPr sz="2197"/>
            </a:lvl3pPr>
            <a:lvl4pPr>
              <a:defRPr sz="1831"/>
            </a:lvl4pPr>
            <a:lvl5pPr>
              <a:defRPr sz="1831"/>
            </a:lvl5pPr>
            <a:lvl6pPr>
              <a:defRPr sz="1831"/>
            </a:lvl6pPr>
            <a:lvl7pPr>
              <a:defRPr sz="1831"/>
            </a:lvl7pPr>
            <a:lvl8pPr>
              <a:defRPr sz="1831"/>
            </a:lvl8pPr>
            <a:lvl9pPr>
              <a:defRPr sz="183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464"/>
            </a:lvl1pPr>
            <a:lvl2pPr marL="418488" indent="0">
              <a:buNone/>
              <a:defRPr sz="1281"/>
            </a:lvl2pPr>
            <a:lvl3pPr marL="836977" indent="0">
              <a:buNone/>
              <a:defRPr sz="1098"/>
            </a:lvl3pPr>
            <a:lvl4pPr marL="1255464" indent="0">
              <a:buNone/>
              <a:defRPr sz="916"/>
            </a:lvl4pPr>
            <a:lvl5pPr marL="1673953" indent="0">
              <a:buNone/>
              <a:defRPr sz="916"/>
            </a:lvl5pPr>
            <a:lvl6pPr marL="2092441" indent="0">
              <a:buNone/>
              <a:defRPr sz="916"/>
            </a:lvl6pPr>
            <a:lvl7pPr marL="2510929" indent="0">
              <a:buNone/>
              <a:defRPr sz="916"/>
            </a:lvl7pPr>
            <a:lvl8pPr marL="2929417" indent="0">
              <a:buNone/>
              <a:defRPr sz="916"/>
            </a:lvl8pPr>
            <a:lvl9pPr marL="3347905" indent="0">
              <a:buNone/>
              <a:defRPr sz="9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20F6-D3C8-4ABF-840E-A0A6B712D63D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910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93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2930"/>
            </a:lvl1pPr>
            <a:lvl2pPr marL="418488" indent="0">
              <a:buNone/>
              <a:defRPr sz="2563"/>
            </a:lvl2pPr>
            <a:lvl3pPr marL="836977" indent="0">
              <a:buNone/>
              <a:defRPr sz="2197"/>
            </a:lvl3pPr>
            <a:lvl4pPr marL="1255464" indent="0">
              <a:buNone/>
              <a:defRPr sz="1831"/>
            </a:lvl4pPr>
            <a:lvl5pPr marL="1673953" indent="0">
              <a:buNone/>
              <a:defRPr sz="1831"/>
            </a:lvl5pPr>
            <a:lvl6pPr marL="2092441" indent="0">
              <a:buNone/>
              <a:defRPr sz="1831"/>
            </a:lvl6pPr>
            <a:lvl7pPr marL="2510929" indent="0">
              <a:buNone/>
              <a:defRPr sz="1831"/>
            </a:lvl7pPr>
            <a:lvl8pPr marL="2929417" indent="0">
              <a:buNone/>
              <a:defRPr sz="1831"/>
            </a:lvl8pPr>
            <a:lvl9pPr marL="3347905" indent="0">
              <a:buNone/>
              <a:defRPr sz="183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464"/>
            </a:lvl1pPr>
            <a:lvl2pPr marL="418488" indent="0">
              <a:buNone/>
              <a:defRPr sz="1281"/>
            </a:lvl2pPr>
            <a:lvl3pPr marL="836977" indent="0">
              <a:buNone/>
              <a:defRPr sz="1098"/>
            </a:lvl3pPr>
            <a:lvl4pPr marL="1255464" indent="0">
              <a:buNone/>
              <a:defRPr sz="916"/>
            </a:lvl4pPr>
            <a:lvl5pPr marL="1673953" indent="0">
              <a:buNone/>
              <a:defRPr sz="916"/>
            </a:lvl5pPr>
            <a:lvl6pPr marL="2092441" indent="0">
              <a:buNone/>
              <a:defRPr sz="916"/>
            </a:lvl6pPr>
            <a:lvl7pPr marL="2510929" indent="0">
              <a:buNone/>
              <a:defRPr sz="916"/>
            </a:lvl7pPr>
            <a:lvl8pPr marL="2929417" indent="0">
              <a:buNone/>
              <a:defRPr sz="916"/>
            </a:lvl8pPr>
            <a:lvl9pPr marL="3347905" indent="0">
              <a:buNone/>
              <a:defRPr sz="9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4A061-A3A4-4F28-BFBF-DB68608CD089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69262-F7F1-4587-9AC7-1347EB649FC8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39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01F4-5C53-4625-AC21-0FD87364DF29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298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3" Type="http://schemas.openxmlformats.org/officeDocument/2006/relationships/tags" Target="../tags/tag1.xml"/><Relationship Id="rId14" Type="http://schemas.openxmlformats.org/officeDocument/2006/relationships/tags" Target="../tags/tag2.xml"/><Relationship Id="rId15" Type="http://schemas.openxmlformats.org/officeDocument/2006/relationships/image" Target="../media/image1.jpg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609601" y="27432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609601" y="1577342"/>
            <a:ext cx="1097280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145280" y="6377942"/>
            <a:ext cx="390144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dt" idx="10"/>
          </p:nvPr>
        </p:nvSpPr>
        <p:spPr>
          <a:xfrm>
            <a:off x="609600" y="6377942"/>
            <a:ext cx="2804160" cy="25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18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2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109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1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E13A4401-5792-45FD-9D47-40440E88AF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327708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95" imgH="394" progId="TCLayout.ActiveDocument.1">
                  <p:embed/>
                </p:oleObj>
              </mc:Choice>
              <mc:Fallback>
                <p:oleObj name="think-cell Slide" r:id="rId16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E13A4401-5792-45FD-9D47-40440E88AF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81283630-E18F-48B7-8612-E4E88DD394A1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028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0B7F5-CCF6-4093-989D-75F2192D8F70}" type="datetime1">
              <a:rPr lang="en-US" smtClean="0"/>
              <a:t>10/16/26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818FA-C6A0-467E-9B44-4A8CF732BC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l" defTabSz="836977" rtl="0" eaLnBrk="1" latinLnBrk="0" hangingPunct="1">
        <a:lnSpc>
          <a:spcPct val="90000"/>
        </a:lnSpc>
        <a:spcBef>
          <a:spcPct val="0"/>
        </a:spcBef>
        <a:buNone/>
        <a:defRPr sz="40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9244" indent="-209244" algn="l" defTabSz="836977" rtl="0" eaLnBrk="1" latinLnBrk="0" hangingPunct="1">
        <a:lnSpc>
          <a:spcPct val="90000"/>
        </a:lnSpc>
        <a:spcBef>
          <a:spcPts val="916"/>
        </a:spcBef>
        <a:buFont typeface="Arial" panose="020B0604020202020204" pitchFamily="34" charset="0"/>
        <a:buChar char="•"/>
        <a:defRPr sz="2563" kern="1200">
          <a:solidFill>
            <a:schemeClr val="tx1"/>
          </a:solidFill>
          <a:latin typeface="+mn-lt"/>
          <a:ea typeface="+mn-ea"/>
          <a:cs typeface="+mn-cs"/>
        </a:defRPr>
      </a:lvl1pPr>
      <a:lvl2pPr marL="627733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2pPr>
      <a:lvl3pPr marL="1046220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831" kern="1200">
          <a:solidFill>
            <a:schemeClr val="tx1"/>
          </a:solidFill>
          <a:latin typeface="+mn-lt"/>
          <a:ea typeface="+mn-ea"/>
          <a:cs typeface="+mn-cs"/>
        </a:defRPr>
      </a:lvl3pPr>
      <a:lvl4pPr marL="1464708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4pPr>
      <a:lvl5pPr marL="1883197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5pPr>
      <a:lvl6pPr marL="2301685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6pPr>
      <a:lvl7pPr marL="2720173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7pPr>
      <a:lvl8pPr marL="3138661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8pPr>
      <a:lvl9pPr marL="3557149" indent="-209244" algn="l" defTabSz="836977" rtl="0" eaLnBrk="1" latinLnBrk="0" hangingPunct="1">
        <a:lnSpc>
          <a:spcPct val="90000"/>
        </a:lnSpc>
        <a:spcBef>
          <a:spcPts val="458"/>
        </a:spcBef>
        <a:buFont typeface="Arial" panose="020B0604020202020204" pitchFamily="34" charset="0"/>
        <a:buChar char="•"/>
        <a:defRPr sz="16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1pPr>
      <a:lvl2pPr marL="418488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2pPr>
      <a:lvl3pPr marL="836977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3pPr>
      <a:lvl4pPr marL="1255464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4pPr>
      <a:lvl5pPr marL="1673953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5pPr>
      <a:lvl6pPr marL="2092441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6pPr>
      <a:lvl7pPr marL="2510929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7pPr>
      <a:lvl8pPr marL="2929417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8pPr>
      <a:lvl9pPr marL="3347905" algn="l" defTabSz="836977" rtl="0" eaLnBrk="1" latinLnBrk="0" hangingPunct="1">
        <a:defRPr sz="16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1274842" y="1091409"/>
            <a:ext cx="9384961" cy="66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678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College of Engineering and Computer Science</a:t>
            </a:r>
            <a:endParaRPr kumimoji="0" sz="112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402110" y="3816800"/>
            <a:ext cx="2211449" cy="615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367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AY 25–26</a:t>
            </a:r>
            <a:endParaRPr kumimoji="0" sz="131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402110" y="2158446"/>
            <a:ext cx="4866488" cy="1601558"/>
          </a:xfrm>
          <a:prstGeom prst="rect">
            <a:avLst/>
          </a:prstGeom>
          <a:solidFill>
            <a:srgbClr val="C6202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85510" tIns="42743" rIns="85510" bIns="42743" anchor="ctr" anchorCtr="0">
            <a:noAutofit/>
          </a:bodyPr>
          <a:lstStyle/>
          <a:p>
            <a:pPr marL="0" marR="0" lvl="0" indent="0" algn="ctr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68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402110" y="2158446"/>
            <a:ext cx="5764810" cy="163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510" tIns="42743" rIns="85510" bIns="42743" anchor="t" anchorCtr="0">
            <a:spAutoFit/>
          </a:bodyPr>
          <a:lstStyle/>
          <a:p>
            <a:pPr marL="0" marR="0" lvl="0" indent="0" algn="l" defTabSz="83697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sz="1800" b="1">
                <a:solidFill>
                  <a:srgbClr val="FFFFFF"/>
                </a:solidFill>
                <a:latin typeface="Aptos"/>
              </a:rPr>
              <a:t>Advanced Software Engineering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Week: ___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Topic: Requirements Engineering &amp; Specification — Part 3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Sections 2.7–2.9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Team: ___</a:t>
            </a:r>
          </a:p>
        </p:txBody>
      </p:sp>
      <p:sp>
        <p:nvSpPr>
          <p:cNvPr id="51" name="Google Shape;51;p1"/>
          <p:cNvSpPr/>
          <p:nvPr/>
        </p:nvSpPr>
        <p:spPr>
          <a:xfrm>
            <a:off x="1402110" y="3857670"/>
            <a:ext cx="2373731" cy="518085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85510" tIns="42743" rIns="85510" bIns="42743" anchor="ctr" anchorCtr="0">
            <a:noAutofit/>
          </a:bodyPr>
          <a:lstStyle/>
          <a:p>
            <a:pPr marL="0" marR="0" lvl="0" indent="0" algn="ctr" defTabSz="85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68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8" y="164592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2.7 SCOPE CREEP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73152"/>
            <a:ext cx="9006840" cy="4937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Scope creep is uncontrolled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97864"/>
            <a:ext cx="10607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977"/>
                </a:solidFill>
                <a:latin typeface="Aptos"/>
              </a:rPr>
              <a:t>Change is normal. Unpriced, unapproved change is the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364224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D6977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4572000" cy="3520440"/>
          </a:xfrm>
          <a:prstGeom prst="roundRect">
            <a:avLst/>
          </a:prstGeom>
          <a:solidFill>
            <a:srgbClr val="FCE8EA"/>
          </a:solidFill>
          <a:ln w="12700">
            <a:solidFill>
              <a:srgbClr val="FC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182880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F1F2B"/>
                </a:solidFill>
                <a:latin typeface="Aptos"/>
              </a:rPr>
              <a:t>Original boundary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633472"/>
            <a:ext cx="14173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65476"/>
            <a:ext cx="1325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94877"/>
                </a:solidFill>
                <a:latin typeface="Aptos"/>
              </a:rPr>
              <a:t>Create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633472"/>
            <a:ext cx="14173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2665476"/>
            <a:ext cx="1325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94877"/>
                </a:solidFill>
                <a:latin typeface="Aptos"/>
              </a:rPr>
              <a:t>Assign owners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200400"/>
            <a:ext cx="14173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32404"/>
            <a:ext cx="1325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94877"/>
                </a:solidFill>
                <a:latin typeface="Aptos"/>
              </a:rPr>
              <a:t>Track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779776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CF1F2B"/>
                </a:solidFill>
                <a:latin typeface="Aptos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6" y="2267712"/>
            <a:ext cx="129844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2299716"/>
            <a:ext cx="1207007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F1F2B"/>
                </a:solidFill>
                <a:latin typeface="Aptos"/>
              </a:rPr>
              <a:t>Dark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2736" y="2825496"/>
            <a:ext cx="129844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8456" y="2857500"/>
            <a:ext cx="1207007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F1F2B"/>
                </a:solidFill>
                <a:latin typeface="Aptos"/>
              </a:rPr>
              <a:t>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2736" y="3383280"/>
            <a:ext cx="129844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415284"/>
            <a:ext cx="1207007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F1F2B"/>
                </a:solidFill>
                <a:latin typeface="Aptos"/>
              </a:rPr>
              <a:t>AI summaries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2736" y="3941064"/>
            <a:ext cx="129844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48456" y="3973068"/>
            <a:ext cx="1207007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F1F2B"/>
                </a:solidFill>
                <a:latin typeface="Aptos"/>
              </a:rPr>
              <a:t>Mobile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4315968"/>
            <a:ext cx="3886200" cy="6949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22B37"/>
                </a:solidFill>
                <a:latin typeface="Aptos"/>
              </a:rPr>
              <a:t>The boundary expands while time and budget stay fixed.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50992" y="1737360"/>
            <a:ext cx="571500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1737360"/>
            <a:ext cx="73152" cy="832104"/>
          </a:xfrm>
          <a:prstGeom prst="rect">
            <a:avLst/>
          </a:prstGeom>
          <a:solidFill>
            <a:srgbClr val="CF1F2B"/>
          </a:solidFill>
          <a:ln w="12700">
            <a:solidFill>
              <a:srgbClr val="CF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7024" y="1828800"/>
            <a:ext cx="51389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F1F2B"/>
                </a:solidFill>
                <a:latin typeface="Aptos"/>
              </a:rPr>
              <a:t>New requests after work starts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7024" y="2185415"/>
            <a:ext cx="513892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B37"/>
                </a:solidFill>
                <a:latin typeface="Aptos"/>
              </a:rPr>
              <a:t>A useful idea appears, but no trade-off is agreed.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50992" y="2706624"/>
            <a:ext cx="571500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50992" y="2706624"/>
            <a:ext cx="73152" cy="832104"/>
          </a:xfrm>
          <a:prstGeom prst="rect">
            <a:avLst/>
          </a:prstGeom>
          <a:solidFill>
            <a:srgbClr val="F6B742"/>
          </a:solidFill>
          <a:ln w="12700">
            <a:solidFill>
              <a:srgbClr val="F6B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7024" y="2798064"/>
            <a:ext cx="51389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B742"/>
                </a:solidFill>
                <a:latin typeface="Aptos"/>
              </a:rPr>
              <a:t>Ambiguous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7024" y="3154680"/>
            <a:ext cx="513892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B37"/>
                </a:solidFill>
                <a:latin typeface="Aptos"/>
              </a:rPr>
              <a:t>People interpret the same story differently.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50992" y="3675887"/>
            <a:ext cx="571500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50992" y="3675887"/>
            <a:ext cx="73152" cy="832104"/>
          </a:xfrm>
          <a:prstGeom prst="rect">
            <a:avLst/>
          </a:prstGeom>
          <a:solidFill>
            <a:srgbClr val="194877"/>
          </a:solidFill>
          <a:ln w="12700">
            <a:solidFill>
              <a:srgbClr val="19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07024" y="3767327"/>
            <a:ext cx="51389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4877"/>
                </a:solidFill>
                <a:latin typeface="Aptos"/>
              </a:rPr>
              <a:t>Gold-plating by the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7024" y="4123944"/>
            <a:ext cx="513892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B37"/>
                </a:solidFill>
                <a:latin typeface="Aptos"/>
              </a:rPr>
              <a:t>Extra features are added without approval.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50992" y="4645152"/>
            <a:ext cx="571500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50992" y="4645152"/>
            <a:ext cx="73152" cy="832104"/>
          </a:xfrm>
          <a:prstGeom prst="rect">
            <a:avLst/>
          </a:prstGeom>
          <a:solidFill>
            <a:srgbClr val="1F335F"/>
          </a:solidFill>
          <a:ln w="12700">
            <a:solidFill>
              <a:srgbClr val="1F3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07024" y="4736592"/>
            <a:ext cx="51389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35F"/>
                </a:solidFill>
                <a:latin typeface="Aptos"/>
              </a:rPr>
              <a:t>External change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7024" y="5093208"/>
            <a:ext cx="5138928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2B37"/>
                </a:solidFill>
                <a:latin typeface="Aptos"/>
              </a:rPr>
              <a:t>Regulation or dependencies create new work.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907024"/>
            <a:ext cx="106070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CF1F2B"/>
                </a:solidFill>
                <a:latin typeface="Aptos"/>
              </a:rPr>
              <a:t>SIGNAL: “While you are there, could you also…?”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8" y="164592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2.7 SCOPE CREEP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73152"/>
            <a:ext cx="9006840" cy="4937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Make every scope change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97864"/>
            <a:ext cx="10607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977"/>
                </a:solidFill>
                <a:latin typeface="Aptos"/>
              </a:rPr>
              <a:t>A lightweight change-control loop protects value, schedule, and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364224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D6977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24048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1572768"/>
            <a:ext cx="713232" cy="713232"/>
          </a:xfrm>
          <a:prstGeom prst="ellipse">
            <a:avLst/>
          </a:prstGeom>
          <a:solidFill>
            <a:srgbClr val="194877"/>
          </a:solidFill>
          <a:ln>
            <a:solidFill>
              <a:srgbClr val="19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700784"/>
            <a:ext cx="713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0592"/>
            <a:ext cx="203911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94877"/>
                </a:solidFill>
                <a:latin typeface="Apto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20116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Write the request and why it matters.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542032"/>
            <a:ext cx="384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D697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874519"/>
            <a:ext cx="24048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34256" y="1572768"/>
            <a:ext cx="713232" cy="713232"/>
          </a:xfrm>
          <a:prstGeom prst="ellipse">
            <a:avLst/>
          </a:prstGeom>
          <a:solidFill>
            <a:srgbClr val="194877"/>
          </a:solidFill>
          <a:ln>
            <a:solidFill>
              <a:srgbClr val="19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700784"/>
            <a:ext cx="713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450592"/>
            <a:ext cx="203911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94877"/>
                </a:solidFill>
                <a:latin typeface="Aptos"/>
              </a:rPr>
              <a:t>Assess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971800"/>
            <a:ext cx="20116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Estimate value, effort, risk, and dependencies.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42032"/>
            <a:ext cx="384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D697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1874519"/>
            <a:ext cx="24048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05472" y="1572768"/>
            <a:ext cx="713232" cy="713232"/>
          </a:xfrm>
          <a:prstGeom prst="ellipse">
            <a:avLst/>
          </a:prstGeom>
          <a:solidFill>
            <a:srgbClr val="CF1F2B"/>
          </a:solidFill>
          <a:ln>
            <a:solidFill>
              <a:srgbClr val="CF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5472" y="1700784"/>
            <a:ext cx="713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450592"/>
            <a:ext cx="203911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94877"/>
                </a:solidFill>
                <a:latin typeface="Aptos"/>
              </a:rPr>
              <a:t>Trade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971800"/>
            <a:ext cx="20116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Swap, defer, resize, or fund the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2542032"/>
            <a:ext cx="384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D6977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874519"/>
            <a:ext cx="24048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76688" y="1572768"/>
            <a:ext cx="713232" cy="713232"/>
          </a:xfrm>
          <a:prstGeom prst="ellipse">
            <a:avLst/>
          </a:prstGeom>
          <a:solidFill>
            <a:srgbClr val="194877"/>
          </a:solidFill>
          <a:ln>
            <a:solidFill>
              <a:srgbClr val="19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1700784"/>
            <a:ext cx="713232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450592"/>
            <a:ext cx="203911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94877"/>
                </a:solidFill>
                <a:latin typeface="Aptos"/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971800"/>
            <a:ext cx="20116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Name the decision owner and update the baseline.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617720"/>
            <a:ext cx="10222992" cy="1060704"/>
          </a:xfrm>
          <a:prstGeom prst="roundRect">
            <a:avLst/>
          </a:prstGeom>
          <a:solidFill>
            <a:srgbClr val="E0EEF9"/>
          </a:solidFill>
          <a:ln w="12700">
            <a:solidFill>
              <a:srgbClr val="E0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4828032"/>
            <a:ext cx="3291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94877"/>
                </a:solidFill>
                <a:latin typeface="Aptos"/>
              </a:rPr>
              <a:t>MoSCoW makes the boundary visible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782312"/>
            <a:ext cx="6263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22B37"/>
                </a:solidFill>
                <a:latin typeface="Aptos"/>
              </a:rPr>
              <a:t>Use Won’t Have (this release) to record deliberate exclusion — not forgotten 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925312"/>
            <a:ext cx="996696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F1F2B"/>
                </a:solidFill>
                <a:latin typeface="Aptos"/>
              </a:rPr>
              <a:t>RULE OF THUMB  •  No new scope without a named trade-off.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8" y="164592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2.8 ACCEPTANCE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73152"/>
            <a:ext cx="9006840" cy="4937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Acceptance criteria connect intent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97864"/>
            <a:ext cx="10607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977"/>
                </a:solidFill>
                <a:latin typeface="Aptos"/>
              </a:rPr>
              <a:t>They define the specific, testable conditions under which a story is accepted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364224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D6977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2971800" cy="2633472"/>
          </a:xfrm>
          <a:prstGeom prst="roundRect">
            <a:avLst/>
          </a:prstGeom>
          <a:solidFill>
            <a:srgbClr val="E0EEF9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73152" cy="2633472"/>
          </a:xfrm>
          <a:prstGeom prst="rect">
            <a:avLst/>
          </a:prstGeom>
          <a:solidFill>
            <a:srgbClr val="194877"/>
          </a:solidFill>
          <a:ln w="12700">
            <a:solidFill>
              <a:srgbClr val="19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93392"/>
            <a:ext cx="2560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94877"/>
                </a:solidFill>
                <a:latin typeface="Aptos"/>
              </a:rPr>
              <a:t>USER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95728"/>
            <a:ext cx="2560320" cy="19202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22B37"/>
                </a:solidFill>
                <a:latin typeface="Aptos"/>
              </a:rPr>
              <a:t>Who needs what — and why?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2" y="1828800"/>
            <a:ext cx="2971800" cy="2633472"/>
          </a:xfrm>
          <a:prstGeom prst="roundRect">
            <a:avLst/>
          </a:prstGeom>
          <a:solidFill>
            <a:srgbClr val="FCE8EA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1828800"/>
            <a:ext cx="73152" cy="2633472"/>
          </a:xfrm>
          <a:prstGeom prst="rect">
            <a:avLst/>
          </a:prstGeom>
          <a:solidFill>
            <a:srgbClr val="CF1F2B"/>
          </a:solidFill>
          <a:ln w="12700">
            <a:solidFill>
              <a:srgbClr val="CF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993392"/>
            <a:ext cx="2560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CF1F2B"/>
                </a:solidFill>
                <a:latin typeface="Aptos"/>
              </a:rPr>
              <a:t>ACCEPTANCE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395728"/>
            <a:ext cx="2560320" cy="19202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22B37"/>
                </a:solidFill>
                <a:latin typeface="Aptos"/>
              </a:rPr>
              <a:t>What observable outcomes must hold?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828800"/>
            <a:ext cx="2971800" cy="2633472"/>
          </a:xfrm>
          <a:prstGeom prst="roundRect">
            <a:avLst/>
          </a:prstGeom>
          <a:solidFill>
            <a:srgbClr val="E6F4ED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828800"/>
            <a:ext cx="73152" cy="2633472"/>
          </a:xfrm>
          <a:prstGeom prst="rect">
            <a:avLst/>
          </a:prstGeom>
          <a:solidFill>
            <a:srgbClr val="1F7A4E"/>
          </a:solidFill>
          <a:ln w="12700"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7656" y="1993392"/>
            <a:ext cx="25603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7A4E"/>
                </a:solidFill>
                <a:latin typeface="Aptos"/>
              </a:rPr>
              <a:t>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7656" y="2395728"/>
            <a:ext cx="2560320" cy="192023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22B37"/>
                </a:solidFill>
                <a:latin typeface="Aptos"/>
              </a:rPr>
              <a:t>What evidence confirms each outcome?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2770632"/>
            <a:ext cx="4572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D6977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770632"/>
            <a:ext cx="4572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D6977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56048"/>
            <a:ext cx="4892040" cy="960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22B37"/>
                </a:solidFill>
                <a:latin typeface="Aptos"/>
              </a:defRPr>
            </a:pPr>
            <a:r>
              <a:rPr b="1">
                <a:solidFill>
                  <a:srgbClr val="CF1F2B"/>
                </a:solidFill>
              </a:rPr>
              <a:t>•  </a:t>
            </a:r>
            <a:r>
              <a:rPr b="1" sz="1500">
                <a:solidFill>
                  <a:srgbClr val="222B37"/>
                </a:solidFill>
                <a:latin typeface="Aptos"/>
              </a:rPr>
              <a:t>Specific — </a:t>
            </a:r>
            <a:r>
              <a:rPr sz="1500">
                <a:solidFill>
                  <a:srgbClr val="222B37"/>
                </a:solidFill>
                <a:latin typeface="Aptos"/>
              </a:rPr>
              <a:t>one clear expected behavior</a:t>
            </a:r>
          </a:p>
          <a:p>
            <a:pPr>
              <a:spcAft>
                <a:spcPts val="300"/>
              </a:spcAft>
              <a:defRPr sz="1500">
                <a:solidFill>
                  <a:srgbClr val="222B37"/>
                </a:solidFill>
                <a:latin typeface="Aptos"/>
              </a:defRPr>
            </a:pPr>
            <a:r>
              <a:rPr b="1">
                <a:solidFill>
                  <a:srgbClr val="CF1F2B"/>
                </a:solidFill>
              </a:rPr>
              <a:t>•  </a:t>
            </a:r>
            <a:r>
              <a:rPr b="1" sz="1500">
                <a:solidFill>
                  <a:srgbClr val="222B37"/>
                </a:solidFill>
                <a:latin typeface="Aptos"/>
              </a:rPr>
              <a:t>Observable — </a:t>
            </a:r>
            <a:r>
              <a:rPr sz="1500">
                <a:solidFill>
                  <a:srgbClr val="222B37"/>
                </a:solidFill>
                <a:latin typeface="Aptos"/>
              </a:rPr>
              <a:t>state, response, message, or side effect</a:t>
            </a:r>
          </a:p>
          <a:p>
            <a:pPr>
              <a:spcAft>
                <a:spcPts val="300"/>
              </a:spcAft>
              <a:defRPr sz="1500">
                <a:solidFill>
                  <a:srgbClr val="222B37"/>
                </a:solidFill>
                <a:latin typeface="Aptos"/>
              </a:defRPr>
            </a:pPr>
            <a:r>
              <a:rPr b="1">
                <a:solidFill>
                  <a:srgbClr val="CF1F2B"/>
                </a:solidFill>
              </a:rPr>
              <a:t>•  </a:t>
            </a:r>
            <a:r>
              <a:rPr b="1" sz="1500">
                <a:solidFill>
                  <a:srgbClr val="222B37"/>
                </a:solidFill>
                <a:latin typeface="Aptos"/>
              </a:rPr>
              <a:t>Testable — </a:t>
            </a:r>
            <a:r>
              <a:rPr sz="1500">
                <a:solidFill>
                  <a:srgbClr val="222B37"/>
                </a:solidFill>
                <a:latin typeface="Aptos"/>
              </a:rPr>
              <a:t>pass/fail without subjective judgment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4956048"/>
            <a:ext cx="489204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22B37"/>
                </a:solidFill>
                <a:latin typeface="Aptos"/>
              </a:defRPr>
            </a:pPr>
            <a:r>
              <a:rPr b="1">
                <a:solidFill>
                  <a:srgbClr val="CF1F2B"/>
                </a:solidFill>
              </a:rPr>
              <a:t>•  </a:t>
            </a:r>
            <a:r>
              <a:rPr b="1" sz="1500">
                <a:solidFill>
                  <a:srgbClr val="222B37"/>
                </a:solidFill>
                <a:latin typeface="Aptos"/>
              </a:rPr>
              <a:t>Complete — </a:t>
            </a:r>
            <a:r>
              <a:rPr sz="1500">
                <a:solidFill>
                  <a:srgbClr val="222B37"/>
                </a:solidFill>
                <a:latin typeface="Aptos"/>
              </a:rPr>
              <a:t>happy path + errors + edge cases</a:t>
            </a:r>
          </a:p>
          <a:p>
            <a:pPr>
              <a:spcAft>
                <a:spcPts val="500"/>
              </a:spcAft>
              <a:defRPr sz="1500">
                <a:solidFill>
                  <a:srgbClr val="222B37"/>
                </a:solidFill>
                <a:latin typeface="Aptos"/>
              </a:defRPr>
            </a:pPr>
            <a:r>
              <a:rPr b="1">
                <a:solidFill>
                  <a:srgbClr val="CF1F2B"/>
                </a:solidFill>
              </a:rPr>
              <a:t>•  </a:t>
            </a:r>
            <a:r>
              <a:rPr b="1" sz="1500">
                <a:solidFill>
                  <a:srgbClr val="222B37"/>
                </a:solidFill>
                <a:latin typeface="Aptos"/>
              </a:rPr>
              <a:t>Business-facing — </a:t>
            </a:r>
            <a:r>
              <a:rPr sz="1500">
                <a:solidFill>
                  <a:srgbClr val="222B37"/>
                </a:solidFill>
                <a:latin typeface="Aptos"/>
              </a:rPr>
              <a:t>outcomes, not implementation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8" y="164592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2.8 ACCEPTANCE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73152"/>
            <a:ext cx="9006840" cy="4937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Gherkin: context → action →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97864"/>
            <a:ext cx="10607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977"/>
                </a:solidFill>
                <a:latin typeface="Aptos"/>
              </a:rPr>
              <a:t>A shared language readable by stakeholders, developers, and testers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364224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D6977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3310128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3310128" cy="640080"/>
          </a:xfrm>
          <a:prstGeom prst="roundRect">
            <a:avLst/>
          </a:prstGeom>
          <a:solidFill>
            <a:srgbClr val="194877"/>
          </a:solidFill>
          <a:ln w="12700">
            <a:solidFill>
              <a:srgbClr val="19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29384"/>
            <a:ext cx="29443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670048"/>
            <a:ext cx="2871216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94877"/>
                </a:solidFill>
                <a:latin typeface="Aptos"/>
              </a:rPr>
              <a:t>Initial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346704"/>
            <a:ext cx="2761488" cy="10241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22B37"/>
                </a:solidFill>
                <a:latin typeface="Aptos"/>
              </a:rPr>
              <a:t>the user is authenticated
and task 123 is unassigned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384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D6977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2856" y="1828800"/>
            <a:ext cx="3310128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2856" y="1828800"/>
            <a:ext cx="3310128" cy="640080"/>
          </a:xfrm>
          <a:prstGeom prst="roundRect">
            <a:avLst/>
          </a:prstGeom>
          <a:solidFill>
            <a:srgbClr val="CF1F2B"/>
          </a:solidFill>
          <a:ln w="12700">
            <a:solidFill>
              <a:srgbClr val="CF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1929384"/>
            <a:ext cx="29443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670048"/>
            <a:ext cx="2871216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F1F2B"/>
                </a:solidFill>
                <a:latin typeface="Aptos"/>
              </a:rPr>
              <a:t>Single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3346704"/>
            <a:ext cx="2761488" cy="10241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22B37"/>
                </a:solidFill>
                <a:latin typeface="Aptos"/>
              </a:rPr>
              <a:t>the manager assigns task 123
to Alice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3154680"/>
            <a:ext cx="38404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D697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75904" y="1828800"/>
            <a:ext cx="3310128" cy="3182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75904" y="1828800"/>
            <a:ext cx="3310128" cy="640080"/>
          </a:xfrm>
          <a:prstGeom prst="roundRect">
            <a:avLst/>
          </a:prstGeom>
          <a:solidFill>
            <a:srgbClr val="1F7A4E"/>
          </a:solidFill>
          <a:ln w="12700"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1929384"/>
            <a:ext cx="294436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THEN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670048"/>
            <a:ext cx="2871216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7A4E"/>
                </a:solidFill>
                <a:latin typeface="Aptos"/>
              </a:rPr>
              <a:t>Observable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3346704"/>
            <a:ext cx="2761488" cy="10241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22B37"/>
                </a:solidFill>
                <a:latin typeface="Aptos"/>
              </a:rPr>
              <a:t>the assignee is Alice
and a notification is queued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422392"/>
            <a:ext cx="10085832" cy="5669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584" y="5541264"/>
            <a:ext cx="971092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D6977"/>
                </a:solidFill>
                <a:latin typeface="Aptos"/>
              </a:rPr>
              <a:t>Write externally visible behavior. Avoid UI clicks, classes, database tables, and algorithm choices unless they are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8" y="164592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2.8 ACCEPTANCE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73152"/>
            <a:ext cx="9006840" cy="4937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One story needs more than the happy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97864"/>
            <a:ext cx="10607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977"/>
                </a:solidFill>
                <a:latin typeface="Aptos"/>
              </a:rPr>
              <a:t>Example story: As a project manager, I want to assign a task so ownership is clear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364224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D6977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856231"/>
            <a:ext cx="3429000" cy="3621024"/>
          </a:xfrm>
          <a:prstGeom prst="roundRect">
            <a:avLst/>
          </a:prstGeom>
          <a:solidFill>
            <a:srgbClr val="E6F4ED"/>
          </a:solidFill>
          <a:ln w="12700">
            <a:solidFill>
              <a:srgbClr val="E6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62456" y="2084831"/>
            <a:ext cx="19202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2116836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F7A4E"/>
                </a:solidFill>
                <a:latin typeface="Aptos"/>
              </a:rPr>
              <a:t>HAPPY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70632"/>
            <a:ext cx="2862072" cy="2176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Given task 123 and Alice are in the project
When the manager assigns task 123 to Alice
Then the task shows Alice as assignee
And Alice is notified within 5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56231"/>
            <a:ext cx="3429000" cy="3621024"/>
          </a:xfrm>
          <a:prstGeom prst="roundRect">
            <a:avLst/>
          </a:prstGeom>
          <a:solidFill>
            <a:srgbClr val="FCE8EA"/>
          </a:solidFill>
          <a:ln w="12700">
            <a:solidFill>
              <a:srgbClr val="FC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75504" y="2084831"/>
            <a:ext cx="19202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116836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CF1F2B"/>
                </a:solidFill>
                <a:latin typeface="Aptos"/>
              </a:rPr>
              <a:t>ERROR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770632"/>
            <a:ext cx="2862072" cy="2176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Given Bob is not a project member
When the manager assigns task 123 to Bob
Then the request is rejected
And the task remains unassigned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56231"/>
            <a:ext cx="3429000" cy="3621024"/>
          </a:xfrm>
          <a:prstGeom prst="roundRect">
            <a:avLst/>
          </a:prstGeom>
          <a:solidFill>
            <a:srgbClr val="E0EEF9"/>
          </a:solidFill>
          <a:ln w="12700">
            <a:solidFill>
              <a:srgbClr val="E0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88552" y="2084831"/>
            <a:ext cx="19202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2116836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94877"/>
                </a:solidFill>
                <a:latin typeface="Aptos"/>
              </a:rPr>
              <a:t>EDGE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2770632"/>
            <a:ext cx="2862072" cy="2176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Given task 123 is already assigned to Alice
When the same assignment is repeated
Then no duplicate notification is sent
And the assignee remains Alice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843016"/>
            <a:ext cx="10241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94877"/>
                </a:solidFill>
                <a:latin typeface="Aptos"/>
              </a:rPr>
              <a:t>Coverage question: What could succeed, fail, or happen twice?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8" y="164592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2.9 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73152"/>
            <a:ext cx="9006840" cy="4937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Acceptance criteria are local; the DoD is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97864"/>
            <a:ext cx="10607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977"/>
                </a:solidFill>
                <a:latin typeface="Aptos"/>
              </a:rPr>
              <a:t>Both must pass before a story can be called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364224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D6977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2212848" cy="640080"/>
          </a:xfrm>
          <a:prstGeom prst="roundRect">
            <a:avLst/>
          </a:prstGeom>
          <a:solidFill>
            <a:srgbClr val="194877"/>
          </a:solidFill>
          <a:ln w="12700">
            <a:solidFill>
              <a:srgbClr val="19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56816"/>
            <a:ext cx="1993391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1828800"/>
            <a:ext cx="3913632" cy="640080"/>
          </a:xfrm>
          <a:prstGeom prst="roundRect">
            <a:avLst/>
          </a:prstGeom>
          <a:solidFill>
            <a:srgbClr val="194877"/>
          </a:solidFill>
          <a:ln w="12700">
            <a:solidFill>
              <a:srgbClr val="194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56816"/>
            <a:ext cx="3694176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Acceptance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1828800"/>
            <a:ext cx="4297680" cy="640080"/>
          </a:xfrm>
          <a:prstGeom prst="roundRect">
            <a:avLst/>
          </a:prstGeom>
          <a:solidFill>
            <a:srgbClr val="1F7A4E"/>
          </a:solidFill>
          <a:ln w="12700"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1956816"/>
            <a:ext cx="4078224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Definition of 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596896"/>
            <a:ext cx="2212848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706624"/>
            <a:ext cx="1993391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2B37"/>
                </a:solidFill>
                <a:latin typeface="Aptos"/>
              </a:rPr>
              <a:t>Applies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90672" y="2596896"/>
            <a:ext cx="39136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706624"/>
            <a:ext cx="3694176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One specific 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8" y="2596896"/>
            <a:ext cx="4297680" cy="603504"/>
          </a:xfrm>
          <a:prstGeom prst="rect">
            <a:avLst/>
          </a:prstGeom>
          <a:solidFill>
            <a:srgbClr val="E6F4ED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0336" y="2706624"/>
            <a:ext cx="4078224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Every story / increment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319272"/>
            <a:ext cx="2212848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429000"/>
            <a:ext cx="1993391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2B37"/>
                </a:solidFill>
                <a:latin typeface="Aptos"/>
              </a:rPr>
              <a:t>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90672" y="3319272"/>
            <a:ext cx="39136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429000"/>
            <a:ext cx="3694176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Business behavior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8" y="3319272"/>
            <a:ext cx="4297680" cy="603504"/>
          </a:xfrm>
          <a:prstGeom prst="rect">
            <a:avLst/>
          </a:prstGeom>
          <a:solidFill>
            <a:srgbClr val="E6F4ED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3429000"/>
            <a:ext cx="4078224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Engineering quality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4041648"/>
            <a:ext cx="2212848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151376"/>
            <a:ext cx="1993391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2B37"/>
                </a:solidFill>
                <a:latin typeface="Aptos"/>
              </a:rPr>
              <a:t>Examples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0672" y="4041648"/>
            <a:ext cx="39136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151376"/>
            <a:ext cx="3694176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Valid assignment; permission error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8" y="4041648"/>
            <a:ext cx="4297680" cy="603504"/>
          </a:xfrm>
          <a:prstGeom prst="rect">
            <a:avLst/>
          </a:prstGeom>
          <a:solidFill>
            <a:srgbClr val="E6F4ED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151376"/>
            <a:ext cx="4078224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Tests, review, security,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4764024"/>
            <a:ext cx="2212848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873752"/>
            <a:ext cx="1993391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22B37"/>
                </a:solidFill>
                <a:latin typeface="Aptos"/>
              </a:rPr>
              <a:t>Changes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90672" y="4764024"/>
            <a:ext cx="391363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4873752"/>
            <a:ext cx="3694176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Story by story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4764024"/>
            <a:ext cx="4297680" cy="603504"/>
          </a:xfrm>
          <a:prstGeom prst="rect">
            <a:avLst/>
          </a:prstGeom>
          <a:solidFill>
            <a:srgbClr val="E6F4ED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4873752"/>
            <a:ext cx="4078224" cy="3566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22B37"/>
                </a:solidFill>
                <a:latin typeface="Aptos"/>
              </a:rPr>
              <a:t>By team agreement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5650992"/>
            <a:ext cx="9994392" cy="530352"/>
          </a:xfrm>
          <a:prstGeom prst="roundRect">
            <a:avLst/>
          </a:prstGeom>
          <a:solidFill>
            <a:srgbClr val="FCE8EA"/>
          </a:solidFill>
          <a:ln w="12700">
            <a:solidFill>
              <a:srgbClr val="FC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5769864"/>
            <a:ext cx="953719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CF1F2B"/>
                </a:solidFill>
                <a:latin typeface="Aptos"/>
              </a:rPr>
              <a:t>DONE = story-specific outcomes pass  +  team-wide quality gate passes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528" y="164592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2.9 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73152"/>
            <a:ext cx="9006840" cy="4937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A practical 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97864"/>
            <a:ext cx="10607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977"/>
                </a:solidFill>
                <a:latin typeface="Aptos"/>
              </a:rPr>
              <a:t>A shared checklist keeps “almost done” from becoming a permanent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364224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D6977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55648"/>
            <a:ext cx="51023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1984248"/>
            <a:ext cx="502920" cy="502920"/>
          </a:xfrm>
          <a:prstGeom prst="ellipse">
            <a:avLst/>
          </a:prstGeom>
          <a:solidFill>
            <a:srgbClr val="1F7A4E"/>
          </a:solidFill>
          <a:ln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48255"/>
            <a:ext cx="5029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883664"/>
            <a:ext cx="11704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94877"/>
                </a:solidFill>
                <a:latin typeface="Aptos"/>
              </a:rPr>
              <a:t>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1911095"/>
            <a:ext cx="2862072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22B37"/>
                </a:solidFill>
                <a:latin typeface="Aptos"/>
              </a:rPr>
              <a:t>All acceptance criteria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3368" y="1755648"/>
            <a:ext cx="51023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74536" y="1984248"/>
            <a:ext cx="502920" cy="502920"/>
          </a:xfrm>
          <a:prstGeom prst="ellipse">
            <a:avLst/>
          </a:prstGeom>
          <a:solidFill>
            <a:srgbClr val="1F7A4E"/>
          </a:solidFill>
          <a:ln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048255"/>
            <a:ext cx="5029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1883664"/>
            <a:ext cx="11704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94877"/>
                </a:solidFill>
                <a:latin typeface="Aptos"/>
              </a:rPr>
              <a:t>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911095"/>
            <a:ext cx="2862072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22B37"/>
                </a:solidFill>
                <a:latin typeface="Aptos"/>
              </a:rPr>
              <a:t>Unit + integration tests pass; ≥80% new-code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999232"/>
            <a:ext cx="51023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" y="3227832"/>
            <a:ext cx="502920" cy="502920"/>
          </a:xfrm>
          <a:prstGeom prst="ellipse">
            <a:avLst/>
          </a:prstGeom>
          <a:solidFill>
            <a:srgbClr val="1F7A4E"/>
          </a:solidFill>
          <a:ln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291840"/>
            <a:ext cx="5029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3127248"/>
            <a:ext cx="11704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94877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3154680"/>
            <a:ext cx="2862072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22B37"/>
                </a:solidFill>
                <a:latin typeface="Aptos"/>
              </a:rPr>
              <a:t>At least one teammate approves the 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73368" y="2999232"/>
            <a:ext cx="51023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74536" y="3227832"/>
            <a:ext cx="502920" cy="502920"/>
          </a:xfrm>
          <a:prstGeom prst="ellipse">
            <a:avLst/>
          </a:prstGeom>
          <a:solidFill>
            <a:srgbClr val="1F7A4E"/>
          </a:solidFill>
          <a:ln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3291840"/>
            <a:ext cx="5029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127248"/>
            <a:ext cx="11704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94877"/>
                </a:solidFill>
                <a:latin typeface="Aptos"/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3154680"/>
            <a:ext cx="2862072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22B37"/>
                </a:solidFill>
                <a:latin typeface="Aptos"/>
              </a:rPr>
              <a:t>Linter and type checker report no errors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242816"/>
            <a:ext cx="51023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976" y="4471416"/>
            <a:ext cx="502920" cy="502920"/>
          </a:xfrm>
          <a:prstGeom prst="ellipse">
            <a:avLst/>
          </a:prstGeom>
          <a:solidFill>
            <a:srgbClr val="1F7A4E"/>
          </a:solidFill>
          <a:ln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535424"/>
            <a:ext cx="5029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4370832"/>
            <a:ext cx="11704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94877"/>
                </a:solidFill>
                <a:latin typeface="Aptos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336" y="4398264"/>
            <a:ext cx="2862072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22B37"/>
                </a:solidFill>
                <a:latin typeface="Aptos"/>
              </a:rPr>
              <a:t>Automated scan introduces no new vulnerabilities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3368" y="4242816"/>
            <a:ext cx="51023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74536" y="4471416"/>
            <a:ext cx="502920" cy="502920"/>
          </a:xfrm>
          <a:prstGeom prst="ellipse">
            <a:avLst/>
          </a:prstGeom>
          <a:solidFill>
            <a:srgbClr val="1F7A4E"/>
          </a:solidFill>
          <a:ln>
            <a:solidFill>
              <a:srgbClr val="1F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4536" y="4535424"/>
            <a:ext cx="502920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370832"/>
            <a:ext cx="11704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94877"/>
                </a:solidFill>
                <a:latin typeface="Aptos"/>
              </a:rPr>
              <a:t>Release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4398264"/>
            <a:ext cx="2862072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22B37"/>
                </a:solidFill>
                <a:latin typeface="Aptos"/>
              </a:rPr>
              <a:t>Docs updated; deployed and smoke-tested in staging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5596128"/>
            <a:ext cx="10259568" cy="594360"/>
          </a:xfrm>
          <a:prstGeom prst="roundRect">
            <a:avLst/>
          </a:prstGeom>
          <a:solidFill>
            <a:srgbClr val="E0EEF9"/>
          </a:solidFill>
          <a:ln w="12700">
            <a:solidFill>
              <a:srgbClr val="E0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25296" y="5742432"/>
            <a:ext cx="971092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94877"/>
                </a:solidFill>
                <a:latin typeface="Aptos"/>
              </a:rPr>
              <a:t>The DoD should be ambitious enough to protect quality — and realistic enough to apply every time.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gmIN8Y7RrBznfXjvB9pw"/>
</p:tagLst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nUni_Presentation Template_Lanscape.pptx" id="{E1F4CCD0-938C-42AC-B7A5-662DF48ED140}" vid="{0F33D316-B7EA-414D-A0D5-064D0F69E1A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</Words>
  <Application>Microsoft Macintosh PowerPoint</Application>
  <PresentationFormat>Widescreen</PresentationFormat>
  <Paragraphs>7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1_Office Theme</vt:lpstr>
      <vt:lpstr>7_Office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Engineering &amp; Specification — Part 3</dc:title>
  <dc:creator>COMP5320 Advanced Software Engineering</dc:creator>
  <cp:lastModifiedBy>Le Duy Dung (CECS)</cp:lastModifiedBy>
  <cp:revision>2</cp:revision>
  <dcterms:created xsi:type="dcterms:W3CDTF">2026-07-23T07:23:44Z</dcterms:created>
  <dcterms:modified xsi:type="dcterms:W3CDTF">2026-10-16T10:08:20Z</dcterms:modified>
  <dc:subject>Sections 2.7 Scope Creep, 2.8 Acceptance Criteria, and 2.9 Definition of Done</dc:subject>
  <dc:description>Adapted for teaching from Agentic Software Engineering, Chapter 2, sections 2.7–2.9.</dc:description>
</cp:coreProperties>
</file>