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5" r:id="rId2"/>
  </p:sldMasterIdLst>
  <p:notesMasterIdLst>
    <p:notesMasterId r:id="rId22"/>
  </p:notesMasterIdLst>
  <p:sldIdLst>
    <p:sldId id="257" r:id="rId3"/>
    <p:sldId id="612" r:id="rId4"/>
    <p:sldId id="622" r:id="rId5"/>
    <p:sldId id="613" r:id="rId6"/>
    <p:sldId id="624" r:id="rId7"/>
    <p:sldId id="623" r:id="rId8"/>
    <p:sldId id="626" r:id="rId9"/>
    <p:sldId id="615" r:id="rId10"/>
    <p:sldId id="625" r:id="rId11"/>
    <p:sldId id="617" r:id="rId12"/>
    <p:sldId id="632" r:id="rId13"/>
    <p:sldId id="618" r:id="rId14"/>
    <p:sldId id="627" r:id="rId15"/>
    <p:sldId id="629" r:id="rId16"/>
    <p:sldId id="619" r:id="rId17"/>
    <p:sldId id="628" r:id="rId18"/>
    <p:sldId id="630" r:id="rId19"/>
    <p:sldId id="621" r:id="rId20"/>
    <p:sldId id="631" r:id="rId21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726"/>
  </p:normalViewPr>
  <p:slideViewPr>
    <p:cSldViewPr snapToGrid="0">
      <p:cViewPr varScale="1">
        <p:scale>
          <a:sx n="101" d="100"/>
          <a:sy n="101" d="100"/>
        </p:scale>
        <p:origin x="8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A7C590-75AE-284E-B683-75C2F7A0CB7A}" type="datetimeFigureOut">
              <a:rPr lang="en-VN" smtClean="0"/>
              <a:t>10/24/2026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9C047-033E-9041-8F68-69CF59E12E0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951149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1092200" y="3230563"/>
            <a:ext cx="8737600" cy="26431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49638" y="839788"/>
            <a:ext cx="4022725" cy="2263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ftr" idx="11"/>
          </p:nvPr>
        </p:nvSpPr>
        <p:spPr>
          <a:xfrm>
            <a:off x="4145280" y="6377942"/>
            <a:ext cx="390144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dt" idx="10"/>
          </p:nvPr>
        </p:nvSpPr>
        <p:spPr>
          <a:xfrm>
            <a:off x="609600" y="6377942"/>
            <a:ext cx="280416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18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7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609601" y="274322"/>
            <a:ext cx="1097280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1"/>
          </p:nvPr>
        </p:nvSpPr>
        <p:spPr>
          <a:xfrm>
            <a:off x="609601" y="1577342"/>
            <a:ext cx="1097280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27645" lvl="0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855290" lvl="1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282934" lvl="2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710579" lvl="3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138223" lvl="4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565868" lvl="5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2993512" lvl="6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421157" lvl="7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3848802" lvl="8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ftr" idx="11"/>
          </p:nvPr>
        </p:nvSpPr>
        <p:spPr>
          <a:xfrm>
            <a:off x="4145280" y="6377942"/>
            <a:ext cx="390144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dt" idx="10"/>
          </p:nvPr>
        </p:nvSpPr>
        <p:spPr>
          <a:xfrm>
            <a:off x="609600" y="6377942"/>
            <a:ext cx="280416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18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91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609601" y="274322"/>
            <a:ext cx="1097280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1"/>
          </p:nvPr>
        </p:nvSpPr>
        <p:spPr>
          <a:xfrm>
            <a:off x="609600" y="1577342"/>
            <a:ext cx="530352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27645" lvl="0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855290" lvl="1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282934" lvl="2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710579" lvl="3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138223" lvl="4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565868" lvl="5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2993512" lvl="6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421157" lvl="7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3848802" lvl="8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2"/>
          </p:nvPr>
        </p:nvSpPr>
        <p:spPr>
          <a:xfrm>
            <a:off x="6278880" y="1577342"/>
            <a:ext cx="530352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27645" lvl="0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855290" lvl="1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282934" lvl="2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710579" lvl="3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138223" lvl="4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565868" lvl="5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2993512" lvl="6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421157" lvl="7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3848802" lvl="8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ftr" idx="11"/>
          </p:nvPr>
        </p:nvSpPr>
        <p:spPr>
          <a:xfrm>
            <a:off x="4145280" y="6377942"/>
            <a:ext cx="390144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609600" y="6377942"/>
            <a:ext cx="280416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18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675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609601" y="274322"/>
            <a:ext cx="1097280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ftr" idx="11"/>
          </p:nvPr>
        </p:nvSpPr>
        <p:spPr>
          <a:xfrm>
            <a:off x="4145280" y="6377942"/>
            <a:ext cx="390144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dt" idx="10"/>
          </p:nvPr>
        </p:nvSpPr>
        <p:spPr>
          <a:xfrm>
            <a:off x="609600" y="6377942"/>
            <a:ext cx="280416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18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6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549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197"/>
            </a:lvl1pPr>
            <a:lvl2pPr marL="418488" indent="0" algn="ctr">
              <a:buNone/>
              <a:defRPr sz="1831"/>
            </a:lvl2pPr>
            <a:lvl3pPr marL="836977" indent="0" algn="ctr">
              <a:buNone/>
              <a:defRPr sz="1647"/>
            </a:lvl3pPr>
            <a:lvl4pPr marL="1255464" indent="0" algn="ctr">
              <a:buNone/>
              <a:defRPr sz="1464"/>
            </a:lvl4pPr>
            <a:lvl5pPr marL="1673953" indent="0" algn="ctr">
              <a:buNone/>
              <a:defRPr sz="1464"/>
            </a:lvl5pPr>
            <a:lvl6pPr marL="2092441" indent="0" algn="ctr">
              <a:buNone/>
              <a:defRPr sz="1464"/>
            </a:lvl6pPr>
            <a:lvl7pPr marL="2510929" indent="0" algn="ctr">
              <a:buNone/>
              <a:defRPr sz="1464"/>
            </a:lvl7pPr>
            <a:lvl8pPr marL="2929417" indent="0" algn="ctr">
              <a:buNone/>
              <a:defRPr sz="1464"/>
            </a:lvl8pPr>
            <a:lvl9pPr marL="3347905" indent="0" algn="ctr">
              <a:buNone/>
              <a:defRPr sz="146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4286F-3B79-47DD-B4AB-CF9262BA2746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728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B5B0-D7EF-4AF8-9324-0F8294FC8D04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282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549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197">
                <a:solidFill>
                  <a:schemeClr val="tx1">
                    <a:tint val="75000"/>
                  </a:schemeClr>
                </a:solidFill>
              </a:defRPr>
            </a:lvl1pPr>
            <a:lvl2pPr marL="418488" indent="0">
              <a:buNone/>
              <a:defRPr sz="1831">
                <a:solidFill>
                  <a:schemeClr val="tx1">
                    <a:tint val="75000"/>
                  </a:schemeClr>
                </a:solidFill>
              </a:defRPr>
            </a:lvl2pPr>
            <a:lvl3pPr marL="836977" indent="0">
              <a:buNone/>
              <a:defRPr sz="1647">
                <a:solidFill>
                  <a:schemeClr val="tx1">
                    <a:tint val="75000"/>
                  </a:schemeClr>
                </a:solidFill>
              </a:defRPr>
            </a:lvl3pPr>
            <a:lvl4pPr marL="1255464" indent="0">
              <a:buNone/>
              <a:defRPr sz="1464">
                <a:solidFill>
                  <a:schemeClr val="tx1">
                    <a:tint val="75000"/>
                  </a:schemeClr>
                </a:solidFill>
              </a:defRPr>
            </a:lvl4pPr>
            <a:lvl5pPr marL="1673953" indent="0">
              <a:buNone/>
              <a:defRPr sz="1464">
                <a:solidFill>
                  <a:schemeClr val="tx1">
                    <a:tint val="75000"/>
                  </a:schemeClr>
                </a:solidFill>
              </a:defRPr>
            </a:lvl5pPr>
            <a:lvl6pPr marL="2092441" indent="0">
              <a:buNone/>
              <a:defRPr sz="1464">
                <a:solidFill>
                  <a:schemeClr val="tx1">
                    <a:tint val="75000"/>
                  </a:schemeClr>
                </a:solidFill>
              </a:defRPr>
            </a:lvl6pPr>
            <a:lvl7pPr marL="2510929" indent="0">
              <a:buNone/>
              <a:defRPr sz="1464">
                <a:solidFill>
                  <a:schemeClr val="tx1">
                    <a:tint val="75000"/>
                  </a:schemeClr>
                </a:solidFill>
              </a:defRPr>
            </a:lvl7pPr>
            <a:lvl8pPr marL="2929417" indent="0">
              <a:buNone/>
              <a:defRPr sz="1464">
                <a:solidFill>
                  <a:schemeClr val="tx1">
                    <a:tint val="75000"/>
                  </a:schemeClr>
                </a:solidFill>
              </a:defRPr>
            </a:lvl8pPr>
            <a:lvl9pPr marL="3347905" indent="0">
              <a:buNone/>
              <a:defRPr sz="14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DD11-8D78-4E28-AF17-2BCD8FF8AF90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090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B370-002C-42C2-AF9D-76AFF8B714EF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524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8" cy="823912"/>
          </a:xfrm>
        </p:spPr>
        <p:txBody>
          <a:bodyPr anchor="b"/>
          <a:lstStyle>
            <a:lvl1pPr marL="0" indent="0">
              <a:buNone/>
              <a:defRPr sz="2197" b="1"/>
            </a:lvl1pPr>
            <a:lvl2pPr marL="418488" indent="0">
              <a:buNone/>
              <a:defRPr sz="1831" b="1"/>
            </a:lvl2pPr>
            <a:lvl3pPr marL="836977" indent="0">
              <a:buNone/>
              <a:defRPr sz="1647" b="1"/>
            </a:lvl3pPr>
            <a:lvl4pPr marL="1255464" indent="0">
              <a:buNone/>
              <a:defRPr sz="1464" b="1"/>
            </a:lvl4pPr>
            <a:lvl5pPr marL="1673953" indent="0">
              <a:buNone/>
              <a:defRPr sz="1464" b="1"/>
            </a:lvl5pPr>
            <a:lvl6pPr marL="2092441" indent="0">
              <a:buNone/>
              <a:defRPr sz="1464" b="1"/>
            </a:lvl6pPr>
            <a:lvl7pPr marL="2510929" indent="0">
              <a:buNone/>
              <a:defRPr sz="1464" b="1"/>
            </a:lvl7pPr>
            <a:lvl8pPr marL="2929417" indent="0">
              <a:buNone/>
              <a:defRPr sz="1464" b="1"/>
            </a:lvl8pPr>
            <a:lvl9pPr marL="3347905" indent="0">
              <a:buNone/>
              <a:defRPr sz="14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197" b="1"/>
            </a:lvl1pPr>
            <a:lvl2pPr marL="418488" indent="0">
              <a:buNone/>
              <a:defRPr sz="1831" b="1"/>
            </a:lvl2pPr>
            <a:lvl3pPr marL="836977" indent="0">
              <a:buNone/>
              <a:defRPr sz="1647" b="1"/>
            </a:lvl3pPr>
            <a:lvl4pPr marL="1255464" indent="0">
              <a:buNone/>
              <a:defRPr sz="1464" b="1"/>
            </a:lvl4pPr>
            <a:lvl5pPr marL="1673953" indent="0">
              <a:buNone/>
              <a:defRPr sz="1464" b="1"/>
            </a:lvl5pPr>
            <a:lvl6pPr marL="2092441" indent="0">
              <a:buNone/>
              <a:defRPr sz="1464" b="1"/>
            </a:lvl6pPr>
            <a:lvl7pPr marL="2510929" indent="0">
              <a:buNone/>
              <a:defRPr sz="1464" b="1"/>
            </a:lvl7pPr>
            <a:lvl8pPr marL="2929417" indent="0">
              <a:buNone/>
              <a:defRPr sz="1464" b="1"/>
            </a:lvl8pPr>
            <a:lvl9pPr marL="3347905" indent="0">
              <a:buNone/>
              <a:defRPr sz="14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CD98-D908-42A0-BD26-9F4BB6DD8D66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514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575154"/>
          </a:xfrm>
        </p:spPr>
        <p:txBody>
          <a:bodyPr>
            <a:normAutofit/>
          </a:bodyPr>
          <a:lstStyle>
            <a:lvl1pPr>
              <a:defRPr sz="256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DB8CF-264A-4D1E-B609-80DC3D6276E3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837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93028-83A9-494C-856E-9F9B50E18A56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137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293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>
              <a:defRPr sz="2930"/>
            </a:lvl1pPr>
            <a:lvl2pPr>
              <a:defRPr sz="2563"/>
            </a:lvl2pPr>
            <a:lvl3pPr>
              <a:defRPr sz="2197"/>
            </a:lvl3pPr>
            <a:lvl4pPr>
              <a:defRPr sz="1831"/>
            </a:lvl4pPr>
            <a:lvl5pPr>
              <a:defRPr sz="1831"/>
            </a:lvl5pPr>
            <a:lvl6pPr>
              <a:defRPr sz="1831"/>
            </a:lvl6pPr>
            <a:lvl7pPr>
              <a:defRPr sz="1831"/>
            </a:lvl7pPr>
            <a:lvl8pPr>
              <a:defRPr sz="1831"/>
            </a:lvl8pPr>
            <a:lvl9pPr>
              <a:defRPr sz="183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464"/>
            </a:lvl1pPr>
            <a:lvl2pPr marL="418488" indent="0">
              <a:buNone/>
              <a:defRPr sz="1281"/>
            </a:lvl2pPr>
            <a:lvl3pPr marL="836977" indent="0">
              <a:buNone/>
              <a:defRPr sz="1098"/>
            </a:lvl3pPr>
            <a:lvl4pPr marL="1255464" indent="0">
              <a:buNone/>
              <a:defRPr sz="916"/>
            </a:lvl4pPr>
            <a:lvl5pPr marL="1673953" indent="0">
              <a:buNone/>
              <a:defRPr sz="916"/>
            </a:lvl5pPr>
            <a:lvl6pPr marL="2092441" indent="0">
              <a:buNone/>
              <a:defRPr sz="916"/>
            </a:lvl6pPr>
            <a:lvl7pPr marL="2510929" indent="0">
              <a:buNone/>
              <a:defRPr sz="916"/>
            </a:lvl7pPr>
            <a:lvl8pPr marL="2929417" indent="0">
              <a:buNone/>
              <a:defRPr sz="916"/>
            </a:lvl8pPr>
            <a:lvl9pPr marL="3347905" indent="0">
              <a:buNone/>
              <a:defRPr sz="9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20F6-D3C8-4ABF-840E-A0A6B712D63D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910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293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 marL="0" indent="0">
              <a:buNone/>
              <a:defRPr sz="2930"/>
            </a:lvl1pPr>
            <a:lvl2pPr marL="418488" indent="0">
              <a:buNone/>
              <a:defRPr sz="2563"/>
            </a:lvl2pPr>
            <a:lvl3pPr marL="836977" indent="0">
              <a:buNone/>
              <a:defRPr sz="2197"/>
            </a:lvl3pPr>
            <a:lvl4pPr marL="1255464" indent="0">
              <a:buNone/>
              <a:defRPr sz="1831"/>
            </a:lvl4pPr>
            <a:lvl5pPr marL="1673953" indent="0">
              <a:buNone/>
              <a:defRPr sz="1831"/>
            </a:lvl5pPr>
            <a:lvl6pPr marL="2092441" indent="0">
              <a:buNone/>
              <a:defRPr sz="1831"/>
            </a:lvl6pPr>
            <a:lvl7pPr marL="2510929" indent="0">
              <a:buNone/>
              <a:defRPr sz="1831"/>
            </a:lvl7pPr>
            <a:lvl8pPr marL="2929417" indent="0">
              <a:buNone/>
              <a:defRPr sz="1831"/>
            </a:lvl8pPr>
            <a:lvl9pPr marL="3347905" indent="0">
              <a:buNone/>
              <a:defRPr sz="1831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464"/>
            </a:lvl1pPr>
            <a:lvl2pPr marL="418488" indent="0">
              <a:buNone/>
              <a:defRPr sz="1281"/>
            </a:lvl2pPr>
            <a:lvl3pPr marL="836977" indent="0">
              <a:buNone/>
              <a:defRPr sz="1098"/>
            </a:lvl3pPr>
            <a:lvl4pPr marL="1255464" indent="0">
              <a:buNone/>
              <a:defRPr sz="916"/>
            </a:lvl4pPr>
            <a:lvl5pPr marL="1673953" indent="0">
              <a:buNone/>
              <a:defRPr sz="916"/>
            </a:lvl5pPr>
            <a:lvl6pPr marL="2092441" indent="0">
              <a:buNone/>
              <a:defRPr sz="916"/>
            </a:lvl6pPr>
            <a:lvl7pPr marL="2510929" indent="0">
              <a:buNone/>
              <a:defRPr sz="916"/>
            </a:lvl7pPr>
            <a:lvl8pPr marL="2929417" indent="0">
              <a:buNone/>
              <a:defRPr sz="916"/>
            </a:lvl8pPr>
            <a:lvl9pPr marL="3347905" indent="0">
              <a:buNone/>
              <a:defRPr sz="9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4A061-A3A4-4F28-BFBF-DB68608CD089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6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69262-F7F1-4587-9AC7-1347EB649FC8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3391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01F4-5C53-4625-AC21-0FD87364DF29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429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17" Type="http://schemas.openxmlformats.org/officeDocument/2006/relationships/image" Target="../media/image2.e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609601" y="274322"/>
            <a:ext cx="1097280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609601" y="1577342"/>
            <a:ext cx="1097280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ftr" idx="11"/>
          </p:nvPr>
        </p:nvSpPr>
        <p:spPr>
          <a:xfrm>
            <a:off x="4145280" y="6377942"/>
            <a:ext cx="390144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dt" idx="10"/>
          </p:nvPr>
        </p:nvSpPr>
        <p:spPr>
          <a:xfrm>
            <a:off x="609600" y="6377942"/>
            <a:ext cx="280416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18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1092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13A4401-5792-45FD-9D47-40440E88AF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3277089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395" imgH="394" progId="TCLayout.ActiveDocument.1">
                  <p:embed/>
                </p:oleObj>
              </mc:Choice>
              <mc:Fallback>
                <p:oleObj name="think-cell Slide" r:id="rId16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13A4401-5792-45FD-9D47-40440E88AF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81283630-E18F-48B7-8612-E4E88DD394A1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1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028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0B7F5-CCF6-4093-989D-75F2192D8F70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181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hdr="0" ftr="0" dt="0"/>
  <p:txStyles>
    <p:titleStyle>
      <a:lvl1pPr algn="l" defTabSz="836977" rtl="0" eaLnBrk="1" latinLnBrk="0" hangingPunct="1">
        <a:lnSpc>
          <a:spcPct val="90000"/>
        </a:lnSpc>
        <a:spcBef>
          <a:spcPct val="0"/>
        </a:spcBef>
        <a:buNone/>
        <a:defRPr sz="40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9244" indent="-209244" algn="l" defTabSz="836977" rtl="0" eaLnBrk="1" latinLnBrk="0" hangingPunct="1">
        <a:lnSpc>
          <a:spcPct val="90000"/>
        </a:lnSpc>
        <a:spcBef>
          <a:spcPts val="916"/>
        </a:spcBef>
        <a:buFont typeface="Arial" panose="020B0604020202020204" pitchFamily="34" charset="0"/>
        <a:buChar char="•"/>
        <a:defRPr sz="2563" kern="1200">
          <a:solidFill>
            <a:schemeClr val="tx1"/>
          </a:solidFill>
          <a:latin typeface="+mn-lt"/>
          <a:ea typeface="+mn-ea"/>
          <a:cs typeface="+mn-cs"/>
        </a:defRPr>
      </a:lvl1pPr>
      <a:lvl2pPr marL="627733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2197" kern="1200">
          <a:solidFill>
            <a:schemeClr val="tx1"/>
          </a:solidFill>
          <a:latin typeface="+mn-lt"/>
          <a:ea typeface="+mn-ea"/>
          <a:cs typeface="+mn-cs"/>
        </a:defRPr>
      </a:lvl2pPr>
      <a:lvl3pPr marL="1046220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831" kern="1200">
          <a:solidFill>
            <a:schemeClr val="tx1"/>
          </a:solidFill>
          <a:latin typeface="+mn-lt"/>
          <a:ea typeface="+mn-ea"/>
          <a:cs typeface="+mn-cs"/>
        </a:defRPr>
      </a:lvl3pPr>
      <a:lvl4pPr marL="1464708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4pPr>
      <a:lvl5pPr marL="1883197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5pPr>
      <a:lvl6pPr marL="2301685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6pPr>
      <a:lvl7pPr marL="2720173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7pPr>
      <a:lvl8pPr marL="3138661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8pPr>
      <a:lvl9pPr marL="3557149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1pPr>
      <a:lvl2pPr marL="418488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2pPr>
      <a:lvl3pPr marL="836977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3pPr>
      <a:lvl4pPr marL="1255464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4pPr>
      <a:lvl5pPr marL="1673953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5pPr>
      <a:lvl6pPr marL="2092441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6pPr>
      <a:lvl7pPr marL="2510929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7pPr>
      <a:lvl8pPr marL="2929417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8pPr>
      <a:lvl9pPr marL="3347905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/>
          <p:nvPr/>
        </p:nvSpPr>
        <p:spPr>
          <a:xfrm>
            <a:off x="1274842" y="1091409"/>
            <a:ext cx="9384961" cy="66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10" tIns="42743" rIns="85510" bIns="42743" anchor="t" anchorCtr="0">
            <a:spAutoFit/>
          </a:bodyPr>
          <a:lstStyle/>
          <a:p>
            <a:pPr marL="0" marR="0" lvl="0" indent="0" algn="l" defTabSz="855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678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College of Engineering and Computer Science</a:t>
            </a:r>
            <a:endParaRPr kumimoji="0" sz="1124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1402110" y="3816800"/>
            <a:ext cx="2211449" cy="615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10" tIns="42743" rIns="85510" bIns="42743" anchor="t" anchorCtr="0">
            <a:spAutoFit/>
          </a:bodyPr>
          <a:lstStyle/>
          <a:p>
            <a:pPr marL="0" marR="0" lvl="0" indent="0" algn="l" defTabSz="855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367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AY 25 - 26 </a:t>
            </a:r>
            <a:endParaRPr kumimoji="0" sz="131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1402110" y="2158446"/>
            <a:ext cx="4866488" cy="1601558"/>
          </a:xfrm>
          <a:prstGeom prst="rect">
            <a:avLst/>
          </a:prstGeom>
          <a:solidFill>
            <a:srgbClr val="C6202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85510" tIns="42743" rIns="85510" bIns="42743" anchor="ctr" anchorCtr="0">
            <a:noAutofit/>
          </a:bodyPr>
          <a:lstStyle/>
          <a:p>
            <a:pPr marL="0" marR="0" lvl="0" indent="0" algn="ctr" defTabSz="855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68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1402110" y="2158446"/>
            <a:ext cx="5764810" cy="1637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10" tIns="42743" rIns="85510" bIns="42743" anchor="t" anchorCtr="0">
            <a:spAutoFit/>
          </a:bodyPr>
          <a:lstStyle/>
          <a:p>
            <a:pPr marL="0" marR="0" lvl="0" indent="0" algn="l" defTabSz="8369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Advanced Software Engineering</a:t>
            </a:r>
          </a:p>
          <a:p>
            <a:pPr marL="0" marR="0" lvl="0" indent="0" algn="l" defTabSz="8369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Week: xxx</a:t>
            </a:r>
          </a:p>
          <a:p>
            <a:pPr marL="0" marR="0" lvl="0" indent="0" algn="l" defTabSz="8369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xxx</a:t>
            </a:r>
          </a:p>
          <a:p>
            <a:pPr marL="0" marR="0" lvl="0" indent="0" algn="l" defTabSz="8369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Team: xxx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1402110" y="3857670"/>
            <a:ext cx="2373731" cy="518085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85510" tIns="42743" rIns="85510" bIns="42743" anchor="ctr" anchorCtr="0">
            <a:noAutofit/>
          </a:bodyPr>
          <a:lstStyle/>
          <a:p>
            <a:pPr marL="0" marR="0" lvl="0" indent="0" algn="ctr" defTabSz="855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68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F4CD2-8144-7CC8-F591-0AD4F10E2A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Tutorial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15B1FB-8F90-12C4-E860-CF2B49D503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Eliciting requirements from 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F40D7-1531-5C24-CB5B-1F058C54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906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63C2A-4D61-73B4-6953-9C60D8084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264FB-33CF-678F-8090-4F2216902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1651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Core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E4178-F3F2-2510-B26B-9745D0C4A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39851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sz="1800" b="1" dirty="0"/>
              <a:t>1. Specify</a:t>
            </a:r>
            <a:br>
              <a:rPr lang="en-US" sz="1800" dirty="0"/>
            </a:br>
            <a:r>
              <a:rPr lang="en-US" sz="1800" dirty="0"/>
              <a:t>Define the problem precisely: requirements, acceptance criteria, constraints.</a:t>
            </a:r>
          </a:p>
          <a:p>
            <a:r>
              <a:rPr lang="en-US" sz="1800" b="1" dirty="0"/>
              <a:t>2. Generate</a:t>
            </a:r>
            <a:br>
              <a:rPr lang="en-US" sz="1800" dirty="0"/>
            </a:br>
            <a:r>
              <a:rPr lang="en-US" sz="1800" dirty="0"/>
              <a:t>Delegate to an AI agent with the right context and tools.</a:t>
            </a:r>
          </a:p>
          <a:p>
            <a:r>
              <a:rPr lang="en-US" sz="1800" b="1" dirty="0"/>
              <a:t>3. Verify</a:t>
            </a:r>
            <a:br>
              <a:rPr lang="en-US" sz="1800" dirty="0"/>
            </a:br>
            <a:r>
              <a:rPr lang="en-US" sz="1800" dirty="0"/>
              <a:t>Check systematically: tests, review, security scans, your judgment.</a:t>
            </a:r>
          </a:p>
          <a:p>
            <a:r>
              <a:rPr lang="en-US" sz="1800" b="1" dirty="0"/>
              <a:t>4. Refine</a:t>
            </a:r>
            <a:br>
              <a:rPr lang="en-US" sz="1800" dirty="0"/>
            </a:br>
            <a:r>
              <a:rPr lang="en-US" sz="1800" dirty="0"/>
              <a:t>Fix the specification, not just the code. Then run the loop again.</a:t>
            </a:r>
          </a:p>
          <a:p>
            <a:endParaRPr lang="en-US" sz="1800" dirty="0"/>
          </a:p>
          <a:p>
            <a:r>
              <a:rPr lang="en-US" sz="1800" b="1" dirty="0"/>
              <a:t>Using AI Agents Effectively: Specify → Generate → Verify → Refine</a:t>
            </a:r>
            <a:endParaRPr lang="en-US" sz="1800" dirty="0"/>
          </a:p>
          <a:p>
            <a:pPr lvl="0"/>
            <a:r>
              <a:rPr lang="en-US" sz="1800" b="1" dirty="0"/>
              <a:t>Specify.</a:t>
            </a:r>
            <a:r>
              <a:rPr lang="en-US" sz="1800" dirty="0"/>
              <a:t> Give the agent context (system, stakeholder, project stage) and real evidence, such as interview notes and observations. Define the output precisely: format, count, and required sections. For example, ask for 8–10 questions with probes, or personas with an evidence tag on every claim.</a:t>
            </a:r>
          </a:p>
          <a:p>
            <a:pPr lvl="0"/>
            <a:r>
              <a:rPr lang="en-US" sz="1800" b="1" dirty="0"/>
              <a:t>Generate.</a:t>
            </a:r>
            <a:r>
              <a:rPr lang="en-US" sz="1800" dirty="0"/>
              <a:t> Ask the agent to find gaps: edge cases, exceptions, failure scenarios, contradictions, and unsupported claims. Turn each gap into a question or a fix.</a:t>
            </a:r>
          </a:p>
          <a:p>
            <a:pPr lvl="0"/>
            <a:r>
              <a:rPr lang="en-US" sz="1800" b="1" dirty="0"/>
              <a:t>Verify.</a:t>
            </a:r>
            <a:r>
              <a:rPr lang="en-US" sz="1800" dirty="0"/>
              <a:t> Review critically. The agent sounds confident even when its domain assumptions are wrong, and it will invent plausible details. Anything that can’t be traced back to research is an assumption.</a:t>
            </a:r>
          </a:p>
          <a:p>
            <a:pPr lvl="0"/>
            <a:r>
              <a:rPr lang="en-US" sz="1800" b="1" dirty="0"/>
              <a:t>Refine.</a:t>
            </a:r>
            <a:r>
              <a:rPr lang="en-US" sz="1800" dirty="0"/>
              <a:t> Iterate with targeted follow-ups, such as “make Q3 less leading” or “merge personas 2 and 3.” Fix the specification, not just the output, then run the loop again.</a:t>
            </a:r>
          </a:p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D34EB-0D9B-86E0-9B77-5D0201FFF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592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FDBBA-66EF-8917-EF01-C283CB99B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778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Use AI to create Eliciting Requirements Interview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FC68B-26BF-7E55-A7E5-B7D2B6206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0789"/>
            <a:ext cx="10515600" cy="5318124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sz="2500" b="1" dirty="0"/>
              <a:t>Eliciting Requirements Interview</a:t>
            </a:r>
          </a:p>
          <a:p>
            <a:pPr lvl="1"/>
            <a:r>
              <a:rPr lang="en-US" sz="2134" dirty="0"/>
              <a:t>They are constructed through dialogue with stakeholders. </a:t>
            </a:r>
          </a:p>
          <a:p>
            <a:pPr lvl="1"/>
            <a:r>
              <a:rPr lang="en-US" sz="2134" dirty="0"/>
              <a:t>They let you probe individual perspectives in depth, ask follow-ups, and read non-verbal cues.</a:t>
            </a:r>
          </a:p>
          <a:p>
            <a:pPr lvl="1"/>
            <a:r>
              <a:rPr lang="en-US" sz="2134" dirty="0"/>
              <a:t>Stakeholders include users, clients, domain experts, regulators, and developers/operators.</a:t>
            </a:r>
          </a:p>
          <a:p>
            <a:r>
              <a:rPr lang="en-US" sz="2500" b="1" dirty="0"/>
              <a:t>Benefits of using an AI agent to prepare</a:t>
            </a:r>
            <a:endParaRPr lang="en-US" sz="2500" dirty="0"/>
          </a:p>
          <a:p>
            <a:pPr lvl="1"/>
            <a:r>
              <a:rPr lang="en-US" sz="2134" dirty="0"/>
              <a:t>Faster drafting of interview guides</a:t>
            </a:r>
          </a:p>
          <a:p>
            <a:pPr lvl="1"/>
            <a:r>
              <a:rPr lang="en-US" sz="2134" dirty="0"/>
              <a:t>Tailored questions for each stakeholder type</a:t>
            </a:r>
          </a:p>
          <a:p>
            <a:pPr lvl="1"/>
            <a:r>
              <a:rPr lang="en-US" sz="2134" dirty="0"/>
              <a:t>Better coverage: surfaces edge cases and questions you might miss</a:t>
            </a:r>
          </a:p>
          <a:p>
            <a:pPr lvl="0"/>
            <a:r>
              <a:rPr lang="en-US" sz="2500" b="1" dirty="0"/>
              <a:t>How to Use an AI Agent Effectively</a:t>
            </a:r>
          </a:p>
          <a:p>
            <a:pPr lvl="1"/>
            <a:r>
              <a:rPr lang="en-US" sz="2200" b="1" dirty="0"/>
              <a:t>Give it context.</a:t>
            </a:r>
            <a:r>
              <a:rPr lang="en-US" sz="2200" dirty="0"/>
              <a:t> State the system, the stakeholder, and the project stage. </a:t>
            </a:r>
          </a:p>
          <a:p>
            <a:pPr lvl="1"/>
            <a:r>
              <a:rPr lang="en-US" sz="2134" b="1" dirty="0"/>
              <a:t>Specify the output.</a:t>
            </a:r>
            <a:r>
              <a:rPr lang="en-US" sz="2134" dirty="0"/>
              <a:t> Ask for a format (semi-structured guide), a count (8 to 10 questions), and follow-up probes for each question.</a:t>
            </a:r>
          </a:p>
          <a:p>
            <a:pPr lvl="1"/>
            <a:r>
              <a:rPr lang="en-US" sz="2134" b="1" dirty="0"/>
              <a:t>Ask it to find gaps.</a:t>
            </a:r>
            <a:r>
              <a:rPr lang="en-US" sz="2134" dirty="0"/>
              <a:t> Have it list edge cases, exceptions, and failure scenarios, then turn each into a question.</a:t>
            </a:r>
          </a:p>
          <a:p>
            <a:pPr lvl="1"/>
            <a:r>
              <a:rPr lang="en-US" sz="2134" b="1" dirty="0"/>
              <a:t>Iterate.</a:t>
            </a:r>
            <a:r>
              <a:rPr lang="en-US" sz="2134" dirty="0"/>
              <a:t> Follow up with “make Q3 less leading,” “shorten this to a 30-minute interview,” or “add questions about the current workaround.”</a:t>
            </a:r>
          </a:p>
          <a:p>
            <a:pPr lvl="1"/>
            <a:r>
              <a:rPr lang="en-US" sz="2134" b="1" dirty="0"/>
              <a:t>Review critically.</a:t>
            </a:r>
            <a:r>
              <a:rPr lang="en-US" sz="2134" dirty="0"/>
              <a:t> The AI can sound confident while making wrong domain assumptions.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14C33-990C-1431-A758-32C7D3F3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499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5B096-3ABC-9BD9-8659-793042F6F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09FD5-74A3-E57E-5695-54A146379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76350"/>
            <a:ext cx="10515600" cy="1325563"/>
          </a:xfrm>
        </p:spPr>
        <p:txBody>
          <a:bodyPr>
            <a:normAutofit lnSpcReduction="10000"/>
          </a:bodyPr>
          <a:lstStyle/>
          <a:p>
            <a:r>
              <a:rPr lang="en-US" sz="2100" b="1" dirty="0"/>
              <a:t>Example System: A Food Delivery System</a:t>
            </a:r>
          </a:p>
          <a:p>
            <a:pPr lvl="1"/>
            <a:r>
              <a:rPr lang="en-US" sz="1900" dirty="0"/>
              <a:t>Stakeholders: Customers order from local restaurants, restaurants manage orders on a tablet, and independent riders pick up and deliver.</a:t>
            </a:r>
          </a:p>
          <a:p>
            <a:r>
              <a:rPr lang="en-US" sz="2100" b="1" dirty="0"/>
              <a:t>Example Prompts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8E83C-829B-6D02-1067-0267855C1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944419F-9377-757A-06B3-853330378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778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Use AI to create Eliciting Requirements Interview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2D58AF-BBEA-47E8-8E49-CD3FEBE49453}"/>
              </a:ext>
            </a:extLst>
          </p:cNvPr>
          <p:cNvSpPr txBox="1"/>
          <p:nvPr/>
        </p:nvSpPr>
        <p:spPr>
          <a:xfrm>
            <a:off x="266700" y="2709199"/>
            <a:ext cx="5327099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Interview guide</a:t>
            </a:r>
          </a:p>
          <a:p>
            <a:endParaRPr lang="en-US" sz="1100" b="1" dirty="0"/>
          </a:p>
          <a:p>
            <a:r>
              <a:rPr lang="en-US" sz="1100" dirty="0"/>
              <a:t>Context:</a:t>
            </a:r>
          </a:p>
          <a:p>
            <a:r>
              <a:rPr lang="en-US" sz="1100" dirty="0"/>
              <a:t>I'm a business analyst eliciting requirements for a new food delivery system.</a:t>
            </a:r>
          </a:p>
          <a:p>
            <a:r>
              <a:rPr lang="en-US" sz="1100" dirty="0"/>
              <a:t>- System: Customers order from local restaurants through a mobile app. Restaurants</a:t>
            </a:r>
          </a:p>
          <a:p>
            <a:r>
              <a:rPr lang="en-US" sz="1100" dirty="0"/>
              <a:t>  receive and manage orders on a tablet. Independent riders pick up and deliver.</a:t>
            </a:r>
          </a:p>
          <a:p>
            <a:r>
              <a:rPr lang="en-US" sz="1100" dirty="0"/>
              <a:t>- Stakeholder: A restaurant manager. They run day-to-day operations during service:</a:t>
            </a:r>
          </a:p>
          <a:p>
            <a:r>
              <a:rPr lang="en-US" sz="1100" dirty="0"/>
              <a:t>  accepting orders, coordinating the kitchen, handing food to riders, and handling</a:t>
            </a:r>
          </a:p>
          <a:p>
            <a:r>
              <a:rPr lang="en-US" sz="1100" dirty="0"/>
              <a:t>  complaints. They are not the owner and don't set pricing or sign contracts.</a:t>
            </a:r>
          </a:p>
          <a:p>
            <a:r>
              <a:rPr lang="en-US" sz="1100" dirty="0"/>
              <a:t>- Project stage: Early discovery. No design decisions have been made. The goal is</a:t>
            </a:r>
          </a:p>
          <a:p>
            <a:r>
              <a:rPr lang="en-US" sz="1100" dirty="0"/>
              <a:t>  to understand current workflows, pain points, and needs, not to validate features.</a:t>
            </a:r>
          </a:p>
          <a:p>
            <a:endParaRPr lang="en-US" sz="1100" dirty="0"/>
          </a:p>
          <a:p>
            <a:r>
              <a:rPr lang="en-US" sz="1100" dirty="0"/>
              <a:t>Task:</a:t>
            </a:r>
          </a:p>
          <a:p>
            <a:r>
              <a:rPr lang="en-US" sz="1100" dirty="0"/>
              <a:t>Create a semi-structured interview guide for a 45–60 minute interview with this manager.</a:t>
            </a:r>
          </a:p>
          <a:p>
            <a:endParaRPr lang="en-US" sz="1100" dirty="0"/>
          </a:p>
          <a:p>
            <a:r>
              <a:rPr lang="en-US" sz="1100" dirty="0"/>
              <a:t>Output format:</a:t>
            </a:r>
          </a:p>
          <a:p>
            <a:r>
              <a:rPr lang="en-US" sz="1100" dirty="0"/>
              <a:t>- Sections: Warm-up, Current workflow, Pain points, Coordination with riders and</a:t>
            </a:r>
          </a:p>
          <a:p>
            <a:r>
              <a:rPr lang="en-US" sz="1100" dirty="0"/>
              <a:t>  customers, Success and priorities, Wrap-up</a:t>
            </a:r>
          </a:p>
          <a:p>
            <a:r>
              <a:rPr lang="en-US" sz="1100" dirty="0"/>
              <a:t>- 8 to 10 open-ended questions total, ordered from warm-up to wrap-up</a:t>
            </a:r>
          </a:p>
          <a:p>
            <a:r>
              <a:rPr lang="en-US" sz="1100" dirty="0"/>
              <a:t>- 1 to 2 follow-up probes per question</a:t>
            </a:r>
          </a:p>
          <a:p>
            <a:r>
              <a:rPr lang="en-US" sz="1100" dirty="0"/>
              <a:t>- Avoid yes/no questions and questions that assume a specific feature or solution</a:t>
            </a:r>
          </a:p>
          <a:p>
            <a:r>
              <a:rPr lang="en-US" sz="1100" dirty="0"/>
              <a:t>- End with a short note on which questions to cut first if time runs short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396B89-8175-9450-4568-4B78FB514630}"/>
              </a:ext>
            </a:extLst>
          </p:cNvPr>
          <p:cNvSpPr txBox="1"/>
          <p:nvPr/>
        </p:nvSpPr>
        <p:spPr>
          <a:xfrm>
            <a:off x="6026700" y="2655556"/>
            <a:ext cx="5166799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Ask to find gaps</a:t>
            </a:r>
          </a:p>
          <a:p>
            <a:endParaRPr lang="en-US" sz="1100" dirty="0"/>
          </a:p>
          <a:p>
            <a:r>
              <a:rPr lang="en-US" sz="1100" dirty="0"/>
              <a:t>For the same food delivery system, list 10 edge cases, exceptions, or failure</a:t>
            </a:r>
          </a:p>
          <a:p>
            <a:r>
              <a:rPr lang="en-US" sz="1100" dirty="0"/>
              <a:t>scenarios a restaurant manager is likely to face during service. Cover at least:</a:t>
            </a:r>
          </a:p>
          <a:p>
            <a:r>
              <a:rPr lang="en-US" sz="1100" dirty="0"/>
              <a:t>- operational issues (an item runs out mid-order, the kitchen is overloaded)</a:t>
            </a:r>
          </a:p>
          <a:p>
            <a:r>
              <a:rPr lang="en-US" sz="1100" dirty="0"/>
              <a:t>- rider issues (no rider arrives, the wrong rider collects the order)</a:t>
            </a:r>
          </a:p>
          <a:p>
            <a:r>
              <a:rPr lang="en-US" sz="1100" dirty="0"/>
              <a:t>- customer issues (a cancellation after cooking starts, a complaint about a missing item)</a:t>
            </a:r>
          </a:p>
          <a:p>
            <a:r>
              <a:rPr lang="en-US" sz="1100" dirty="0"/>
              <a:t>- technology issues (the tablet goes offline, a duplicate order arrives)</a:t>
            </a:r>
          </a:p>
          <a:p>
            <a:endParaRPr lang="en-US" sz="1100" dirty="0"/>
          </a:p>
          <a:p>
            <a:r>
              <a:rPr lang="en-US" sz="1100" dirty="0"/>
              <a:t>Format it as a table with these columns:</a:t>
            </a:r>
          </a:p>
          <a:p>
            <a:r>
              <a:rPr lang="en-US" sz="1100" dirty="0"/>
              <a:t>Edge case | Why it matters | Interview question | Follow-up probe</a:t>
            </a:r>
          </a:p>
          <a:p>
            <a:endParaRPr lang="en-US" sz="1100" dirty="0"/>
          </a:p>
          <a:p>
            <a:r>
              <a:rPr lang="en-US" sz="1100" dirty="0"/>
              <a:t>Write each interview question so it asks how they handle it today, not how they</a:t>
            </a:r>
          </a:p>
          <a:p>
            <a:r>
              <a:rPr lang="en-US" sz="1100" dirty="0"/>
              <a:t>would like the new system to handle it.</a:t>
            </a:r>
          </a:p>
        </p:txBody>
      </p:sp>
    </p:spTree>
    <p:extLst>
      <p:ext uri="{BB962C8B-B14F-4D97-AF65-F5344CB8AC3E}">
        <p14:creationId xmlns:p14="http://schemas.microsoft.com/office/powerpoint/2010/main" val="615006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0871B-BEE0-620D-BD73-9F695674F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5C3D0-B3B6-A47C-28A9-819D632C1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7635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Example results</a:t>
            </a:r>
          </a:p>
          <a:p>
            <a:pPr lvl="1"/>
            <a:r>
              <a:rPr lang="en-US" dirty="0"/>
              <a:t>Gemini 3.1 Pro: https://share.gemini.google/8feXTF2EgxAb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E047F-E45B-9D3A-9574-0F0A8040A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877E32A-BEEF-8234-5CA8-E08E6DCAE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778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Use AI to create Eliciting Requirements Interview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BE1140-3D68-22EB-93EB-2DE589299FAE}"/>
              </a:ext>
            </a:extLst>
          </p:cNvPr>
          <p:cNvSpPr txBox="1"/>
          <p:nvPr/>
        </p:nvSpPr>
        <p:spPr>
          <a:xfrm>
            <a:off x="266700" y="2709199"/>
            <a:ext cx="6238875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/>
              <a:t>Warm-up</a:t>
            </a:r>
          </a:p>
          <a:p>
            <a:pPr algn="just"/>
            <a:r>
              <a:rPr lang="en-US" sz="1100" b="1" dirty="0"/>
              <a:t>1. Could you describe a typical shift for you, focusing on how you juggle your daily responsibilities?</a:t>
            </a:r>
            <a:endParaRPr lang="en-US" sz="1100" dirty="0"/>
          </a:p>
          <a:p>
            <a:pPr lvl="0" algn="just"/>
            <a:r>
              <a:rPr lang="en-US" sz="1100" dirty="0"/>
              <a:t>What tasks consume the largest portion of your attention during peak dining hours?</a:t>
            </a:r>
          </a:p>
          <a:p>
            <a:pPr lvl="0" algn="just"/>
            <a:r>
              <a:rPr lang="en-US" sz="1100" dirty="0"/>
              <a:t>How does managing delivery orders fit into your overall routine?</a:t>
            </a:r>
          </a:p>
          <a:p>
            <a:pPr algn="just"/>
            <a:r>
              <a:rPr lang="en-US" sz="1100" b="1" dirty="0"/>
              <a:t>Current Workflow</a:t>
            </a:r>
          </a:p>
          <a:p>
            <a:pPr algn="just"/>
            <a:r>
              <a:rPr lang="en-US" sz="1100" b="1" dirty="0"/>
              <a:t>2. Walk me through exactly what happens in your restaurant from the moment a delivery order comes in to the moment it leaves the kitchen.</a:t>
            </a:r>
            <a:endParaRPr lang="en-US" sz="1100" dirty="0"/>
          </a:p>
          <a:p>
            <a:pPr lvl="0" algn="just"/>
            <a:r>
              <a:rPr lang="en-US" sz="1100" dirty="0"/>
              <a:t>How do you communicate the specific details and modifications to the kitchen staff?</a:t>
            </a:r>
          </a:p>
          <a:p>
            <a:pPr lvl="0" algn="just"/>
            <a:r>
              <a:rPr lang="en-US" sz="1100" dirty="0"/>
              <a:t>How do you balance the priority between walk-in customers and incoming delivery tickets?</a:t>
            </a:r>
          </a:p>
          <a:p>
            <a:pPr algn="just"/>
            <a:r>
              <a:rPr lang="en-US" sz="1100" b="1" dirty="0"/>
              <a:t>3. How do you track the progress of a delivery order once the kitchen starts preparing it?</a:t>
            </a:r>
            <a:endParaRPr lang="en-US" sz="1100" dirty="0"/>
          </a:p>
          <a:p>
            <a:pPr lvl="0" algn="just"/>
            <a:r>
              <a:rPr lang="en-US" sz="1100" dirty="0"/>
              <a:t>What steps do you take if a dish is taking longer than expected to prepare?</a:t>
            </a:r>
          </a:p>
          <a:p>
            <a:pPr lvl="0" algn="just"/>
            <a:r>
              <a:rPr lang="en-US" sz="1100" dirty="0"/>
              <a:t>How do you handle situations where an item runs out after an order has already been accepted?</a:t>
            </a:r>
          </a:p>
          <a:p>
            <a:pPr algn="just"/>
            <a:r>
              <a:rPr lang="en-US" sz="1100" b="1" dirty="0"/>
              <a:t>Pain Points</a:t>
            </a:r>
          </a:p>
          <a:p>
            <a:pPr algn="just"/>
            <a:r>
              <a:rPr lang="en-US" sz="1100" b="1" dirty="0"/>
              <a:t>4. Thinking about your busiest shifts, what are the most frustrating challenges your team faces with delivery operations?</a:t>
            </a:r>
            <a:endParaRPr lang="en-US" sz="1100" dirty="0"/>
          </a:p>
          <a:p>
            <a:pPr lvl="0" algn="just"/>
            <a:r>
              <a:rPr lang="en-US" sz="1100" dirty="0"/>
              <a:t>Can you walk me through a recent instance where a delivery order went wrong and how it impacted the kitchen?</a:t>
            </a:r>
          </a:p>
          <a:p>
            <a:pPr lvl="0" algn="just"/>
            <a:r>
              <a:rPr lang="en-US" sz="1100" dirty="0"/>
              <a:t>At what specific point in the order lifecycle do you feel you lose the most time or effort?</a:t>
            </a:r>
          </a:p>
          <a:p>
            <a:pPr algn="just"/>
            <a:r>
              <a:rPr lang="en-US" sz="1100" b="1" dirty="0"/>
              <a:t>5. How do you currently handle situations where the restaurant is overwhelmed with orders?</a:t>
            </a:r>
            <a:endParaRPr lang="en-US" sz="1100" dirty="0"/>
          </a:p>
          <a:p>
            <a:pPr lvl="0" algn="just"/>
            <a:r>
              <a:rPr lang="en-US" sz="1100" dirty="0"/>
              <a:t>What strategies do you use to regulate the flow of incoming delivery requests?</a:t>
            </a:r>
          </a:p>
          <a:p>
            <a:pPr lvl="0" algn="just"/>
            <a:r>
              <a:rPr lang="en-US" sz="1100" dirty="0"/>
              <a:t>How does a rush impact your staff's ability to maintain accuracy?</a:t>
            </a:r>
          </a:p>
          <a:p>
            <a:pPr lvl="0" algn="just"/>
            <a:endParaRPr lang="en-US" sz="1100" dirty="0">
              <a:effectLst/>
            </a:endParaRPr>
          </a:p>
          <a:p>
            <a:pPr lvl="0" algn="just"/>
            <a:r>
              <a:rPr lang="en-US" sz="1100" dirty="0">
                <a:effectLst/>
              </a:rPr>
              <a:t>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63CF54-524A-ACA4-1022-58ACFAF7B723}"/>
              </a:ext>
            </a:extLst>
          </p:cNvPr>
          <p:cNvSpPr txBox="1"/>
          <p:nvPr/>
        </p:nvSpPr>
        <p:spPr>
          <a:xfrm>
            <a:off x="6686551" y="2709199"/>
            <a:ext cx="5067300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/>
              <a:t>Iterate</a:t>
            </a:r>
          </a:p>
          <a:p>
            <a:pPr algn="just"/>
            <a:r>
              <a:rPr lang="en-US" sz="1100" dirty="0"/>
              <a:t>Several questions assume a negative experience or a specific behavior:</a:t>
            </a:r>
          </a:p>
          <a:p>
            <a:pPr algn="just"/>
            <a:r>
              <a:rPr lang="en-US" sz="1100" dirty="0"/>
              <a:t>- Q1 "juggle" assumes the manager feels stretched.</a:t>
            </a:r>
          </a:p>
          <a:p>
            <a:pPr algn="just"/>
            <a:r>
              <a:rPr lang="en-US" sz="1100" dirty="0"/>
              <a:t>- Q4 "most frustrating challenges" pushes them to complain.</a:t>
            </a:r>
          </a:p>
          <a:p>
            <a:pPr algn="just"/>
            <a:r>
              <a:rPr lang="en-US" sz="1100" dirty="0"/>
              <a:t>Rewrite these in neutral wording that lets the manager describe their own</a:t>
            </a:r>
          </a:p>
          <a:p>
            <a:pPr algn="just"/>
            <a:r>
              <a:rPr lang="en-US" sz="1100" dirty="0"/>
              <a:t>experience, positive or negative.</a:t>
            </a:r>
          </a:p>
          <a:p>
            <a:pPr algn="just"/>
            <a:endParaRPr lang="en-US" sz="1100" dirty="0">
              <a:effectLst/>
            </a:endParaRPr>
          </a:p>
          <a:p>
            <a:pPr algn="just"/>
            <a:r>
              <a:rPr lang="en-US" sz="1100" b="1" dirty="0"/>
              <a:t>Results</a:t>
            </a:r>
          </a:p>
          <a:p>
            <a:r>
              <a:rPr lang="en-US" sz="1100" b="1" dirty="0"/>
              <a:t>1. Could you describe a typical shift for you, focusing on how you manage your daily responsibilities?</a:t>
            </a:r>
            <a:endParaRPr lang="en-US" sz="1100" dirty="0"/>
          </a:p>
          <a:p>
            <a:pPr lvl="0"/>
            <a:r>
              <a:rPr lang="en-US" sz="1100" dirty="0"/>
              <a:t>How do you allocate your time across different tasks during peak dining hours?</a:t>
            </a:r>
          </a:p>
          <a:p>
            <a:pPr lvl="0"/>
            <a:r>
              <a:rPr lang="en-US" sz="1100" dirty="0"/>
              <a:t>Where does managing delivery orders fit into your overall routine?</a:t>
            </a:r>
          </a:p>
          <a:p>
            <a:r>
              <a:rPr lang="en-US" sz="1100" b="1" dirty="0"/>
              <a:t>4. Thinking about your busiest shifts, how do delivery operations impact the overall flow of the restaurant?</a:t>
            </a:r>
            <a:endParaRPr lang="en-US" sz="1100" dirty="0"/>
          </a:p>
          <a:p>
            <a:pPr lvl="0"/>
            <a:r>
              <a:rPr lang="en-US" sz="1100" dirty="0"/>
              <a:t>Can you walk me through a recent instance that required you to directly intervene in a delivery order?</a:t>
            </a:r>
          </a:p>
          <a:p>
            <a:pPr lvl="0"/>
            <a:r>
              <a:rPr lang="en-US" sz="1100" dirty="0"/>
              <a:t>Which steps in the delivery lifecycle require the most attention or effort from your team?</a:t>
            </a:r>
          </a:p>
          <a:p>
            <a:pPr algn="just"/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104954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D3EB2-BC8B-3AED-8600-AF7F68C38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9EC6A-0398-B29F-F46E-F00A2888A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825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Create Personas based on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D0E44-E13F-3B4F-D4E6-4D0FFBAB9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28725"/>
            <a:ext cx="10515600" cy="5219700"/>
          </a:xfrm>
        </p:spPr>
        <p:txBody>
          <a:bodyPr>
            <a:normAutofit/>
          </a:bodyPr>
          <a:lstStyle/>
          <a:p>
            <a:r>
              <a:rPr lang="en-US" b="1" dirty="0" err="1"/>
              <a:t>Synthesising</a:t>
            </a:r>
            <a:r>
              <a:rPr lang="en-US" b="1" dirty="0"/>
              <a:t> Requirements: Personas</a:t>
            </a:r>
            <a:endParaRPr lang="en-US" dirty="0"/>
          </a:p>
          <a:p>
            <a:pPr lvl="1"/>
            <a:r>
              <a:rPr lang="en-US" dirty="0"/>
              <a:t>Personas are fictitious but research-grounded archetypes of distinct user groups. They are built from what you gathered in interviews, workshops, and observation.</a:t>
            </a:r>
          </a:p>
          <a:p>
            <a:pPr lvl="1"/>
            <a:r>
              <a:rPr lang="en-US" dirty="0"/>
              <a:t>A persona is a </a:t>
            </a:r>
            <a:r>
              <a:rPr lang="en-US" dirty="0" err="1"/>
              <a:t>behavioural</a:t>
            </a:r>
            <a:r>
              <a:rPr lang="en-US" dirty="0"/>
              <a:t> model, not a demographic profile. It captures:</a:t>
            </a:r>
          </a:p>
          <a:p>
            <a:pPr lvl="2"/>
            <a:r>
              <a:rPr lang="en-US" b="1" dirty="0"/>
              <a:t>Goals:</a:t>
            </a:r>
            <a:r>
              <a:rPr lang="en-US" dirty="0"/>
              <a:t> what the user is trying to achieve (end goals, not task goals)</a:t>
            </a:r>
          </a:p>
          <a:p>
            <a:pPr lvl="2"/>
            <a:r>
              <a:rPr lang="en-US" b="1" dirty="0" err="1"/>
              <a:t>Behaviours</a:t>
            </a:r>
            <a:r>
              <a:rPr lang="en-US" b="1" dirty="0"/>
              <a:t>:</a:t>
            </a:r>
            <a:r>
              <a:rPr lang="en-US" dirty="0"/>
              <a:t> how they work today, including workarounds and habits</a:t>
            </a:r>
          </a:p>
          <a:p>
            <a:pPr lvl="2"/>
            <a:r>
              <a:rPr lang="en-US" b="1" dirty="0"/>
              <a:t>Pain points:</a:t>
            </a:r>
            <a:r>
              <a:rPr lang="en-US" dirty="0"/>
              <a:t> where existing systems or processes fail them</a:t>
            </a:r>
          </a:p>
          <a:p>
            <a:pPr lvl="2"/>
            <a:r>
              <a:rPr lang="en-US" b="1" dirty="0"/>
              <a:t>Context:</a:t>
            </a:r>
            <a:r>
              <a:rPr lang="en-US" dirty="0"/>
              <a:t> environment, skill level, and constraints (time pressure, device, connectivity)</a:t>
            </a:r>
          </a:p>
          <a:p>
            <a:pPr lvl="1"/>
            <a:r>
              <a:rPr lang="en-US" dirty="0"/>
              <a:t>Personas have two uses: a reality check during elicitation and an anchor for user stories.</a:t>
            </a:r>
          </a:p>
          <a:p>
            <a:r>
              <a:rPr lang="en-US" b="1" dirty="0"/>
              <a:t>Benefits of using an AI agent to </a:t>
            </a:r>
            <a:r>
              <a:rPr lang="en-US" b="1" dirty="0" err="1"/>
              <a:t>synthesise</a:t>
            </a:r>
            <a:endParaRPr lang="en-US" dirty="0"/>
          </a:p>
          <a:p>
            <a:pPr lvl="1"/>
            <a:r>
              <a:rPr lang="en-US" dirty="0"/>
              <a:t>Faster turnaround from raw interview notes to draft personas</a:t>
            </a:r>
          </a:p>
          <a:p>
            <a:pPr lvl="1"/>
            <a:r>
              <a:rPr lang="en-US" dirty="0"/>
              <a:t>Spots recurring patterns across many transcripts and groups them into distinct users</a:t>
            </a:r>
          </a:p>
          <a:p>
            <a:pPr lvl="1"/>
            <a:r>
              <a:rPr lang="en-US" dirty="0"/>
              <a:t>Consistent coverage: every persona gets goals, </a:t>
            </a:r>
            <a:r>
              <a:rPr lang="en-US" dirty="0" err="1"/>
              <a:t>behaviours</a:t>
            </a:r>
            <a:r>
              <a:rPr lang="en-US" dirty="0"/>
              <a:t>, pain points, and context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F9A6D-AB3A-117A-DC7D-A3C566CE0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707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E55E6-A850-7A55-4BCC-96643E863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6499C-9013-3868-88CF-EAA0A5556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825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Create Personas based on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699E4-4948-A46B-5F69-A653D8468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28725"/>
            <a:ext cx="10515600" cy="1514475"/>
          </a:xfrm>
        </p:spPr>
        <p:txBody>
          <a:bodyPr/>
          <a:lstStyle/>
          <a:p>
            <a:r>
              <a:rPr lang="en-US" sz="2100" b="1" dirty="0"/>
              <a:t>Example System: A Food Delivery System</a:t>
            </a:r>
          </a:p>
          <a:p>
            <a:pPr lvl="1"/>
            <a:r>
              <a:rPr lang="en-US" sz="1900" dirty="0"/>
              <a:t>Stakeholders: Customers order from local restaurants, restaurants manage orders on a tablet, and independent riders pick up and deliver.</a:t>
            </a:r>
          </a:p>
          <a:p>
            <a:r>
              <a:rPr lang="en-US" sz="2100" b="1" dirty="0"/>
              <a:t>Example Prompts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DF2D5-A4C1-05D4-7F7E-375B124DE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4FDA3-8156-3809-F8A6-DCE796B95539}"/>
              </a:ext>
            </a:extLst>
          </p:cNvPr>
          <p:cNvSpPr txBox="1"/>
          <p:nvPr/>
        </p:nvSpPr>
        <p:spPr>
          <a:xfrm>
            <a:off x="285751" y="2531637"/>
            <a:ext cx="523875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Context:</a:t>
            </a:r>
          </a:p>
          <a:p>
            <a:r>
              <a:rPr lang="en-US" sz="1000" dirty="0"/>
              <a:t>I'm a business analyst synthesizing discovery research for a new food delivery system.</a:t>
            </a:r>
          </a:p>
          <a:p>
            <a:r>
              <a:rPr lang="en-US" sz="1000" dirty="0"/>
              <a:t>- System: Customers order from local restaurants through a mobile app. Restaurants</a:t>
            </a:r>
          </a:p>
          <a:p>
            <a:r>
              <a:rPr lang="en-US" sz="1000" dirty="0"/>
              <a:t>  receive and manage orders on a tablet. Independent riders pick up and deliver.</a:t>
            </a:r>
          </a:p>
          <a:p>
            <a:r>
              <a:rPr lang="en-US" sz="1000" dirty="0"/>
              <a:t>- User group: Restaurant managers. They run day-to-day operations during service:</a:t>
            </a:r>
          </a:p>
          <a:p>
            <a:r>
              <a:rPr lang="en-US" sz="1000" dirty="0"/>
              <a:t>  accepting orders, coordinating the kitchen, handing food to riders, and handling</a:t>
            </a:r>
          </a:p>
          <a:p>
            <a:r>
              <a:rPr lang="en-US" sz="1000" dirty="0"/>
              <a:t>  complaints.</a:t>
            </a:r>
          </a:p>
          <a:p>
            <a:r>
              <a:rPr lang="en-US" sz="1000" dirty="0"/>
              <a:t>- Research: Notes from 8 semi-structured interviews (I1–I8) and 2 observation</a:t>
            </a:r>
          </a:p>
          <a:p>
            <a:r>
              <a:rPr lang="en-US" sz="1000" dirty="0"/>
              <a:t>  sessions during dinner service (O1–O2), pasted below.</a:t>
            </a:r>
          </a:p>
          <a:p>
            <a:r>
              <a:rPr lang="en-US" sz="1000" dirty="0"/>
              <a:t>- Project stage: Early discovery, after interviews. The goal is a shared</a:t>
            </a:r>
          </a:p>
          <a:p>
            <a:r>
              <a:rPr lang="en-US" sz="1000" dirty="0"/>
              <a:t>  understanding of who these managers are, not feature design.</a:t>
            </a:r>
          </a:p>
          <a:p>
            <a:endParaRPr lang="en-US" sz="1000" dirty="0"/>
          </a:p>
          <a:p>
            <a:r>
              <a:rPr lang="en-US" sz="1000" dirty="0"/>
              <a:t>Task:</a:t>
            </a:r>
          </a:p>
          <a:p>
            <a:r>
              <a:rPr lang="en-US" sz="1000" dirty="0" err="1"/>
              <a:t>Synthesise</a:t>
            </a:r>
            <a:r>
              <a:rPr lang="en-US" sz="1000" dirty="0"/>
              <a:t> the notes into 2 to 3 distinct personas for </a:t>
            </a:r>
            <a:r>
              <a:rPr lang="en-US" sz="1000" b="1" dirty="0"/>
              <a:t>restaurant managers.</a:t>
            </a:r>
          </a:p>
          <a:p>
            <a:endParaRPr lang="en-US" sz="1000" dirty="0"/>
          </a:p>
          <a:p>
            <a:r>
              <a:rPr lang="en-US" sz="1000" dirty="0"/>
              <a:t>Output format:</a:t>
            </a:r>
          </a:p>
          <a:p>
            <a:r>
              <a:rPr lang="en-US" sz="1000" dirty="0"/>
              <a:t>- For each persona: a name and descriptive title (e.g., "Sam, the Short-Staffed</a:t>
            </a:r>
          </a:p>
          <a:p>
            <a:r>
              <a:rPr lang="en-US" sz="1000" dirty="0"/>
              <a:t>  Night Manager") and a 2–3 sentence summary</a:t>
            </a:r>
          </a:p>
          <a:p>
            <a:r>
              <a:rPr lang="en-US" sz="1000" dirty="0"/>
              <a:t>- Sections: Goals, </a:t>
            </a:r>
            <a:r>
              <a:rPr lang="en-US" sz="1000" dirty="0" err="1"/>
              <a:t>Behaviours</a:t>
            </a:r>
            <a:r>
              <a:rPr lang="en-US" sz="1000" dirty="0"/>
              <a:t>, Pain points, Context</a:t>
            </a:r>
          </a:p>
          <a:p>
            <a:r>
              <a:rPr lang="en-US" sz="1000" dirty="0"/>
              <a:t>- 3 to 5 bullets per section</a:t>
            </a:r>
          </a:p>
          <a:p>
            <a:r>
              <a:rPr lang="en-US" sz="1000" dirty="0"/>
              <a:t>- Write goals as end goals, not tasks</a:t>
            </a:r>
          </a:p>
          <a:p>
            <a:r>
              <a:rPr lang="en-US" sz="1000" dirty="0"/>
              <a:t>- Tag every bullet with the sources that support it, e.g., [I3, O1]</a:t>
            </a:r>
          </a:p>
          <a:p>
            <a:r>
              <a:rPr lang="en-US" sz="1000" dirty="0"/>
              <a:t>- Leave out demographic details (age, hobbies) unless they affect </a:t>
            </a:r>
            <a:r>
              <a:rPr lang="en-US" sz="1000" dirty="0" err="1"/>
              <a:t>behaviour</a:t>
            </a:r>
            <a:endParaRPr lang="en-US" sz="1000" dirty="0"/>
          </a:p>
          <a:p>
            <a:r>
              <a:rPr lang="en-US" sz="1000" dirty="0"/>
              <a:t>- End with a short note on what makes each persona distinct from the others</a:t>
            </a:r>
          </a:p>
          <a:p>
            <a:endParaRPr lang="en-US" sz="1000" dirty="0"/>
          </a:p>
          <a:p>
            <a:r>
              <a:rPr lang="en-US" sz="1000" dirty="0"/>
              <a:t>[Paste interview and notes here]</a:t>
            </a:r>
          </a:p>
        </p:txBody>
      </p:sp>
    </p:spTree>
    <p:extLst>
      <p:ext uri="{BB962C8B-B14F-4D97-AF65-F5344CB8AC3E}">
        <p14:creationId xmlns:p14="http://schemas.microsoft.com/office/powerpoint/2010/main" val="453912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F515F-137D-BC17-9DAC-AF734D707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553EC-647A-4A04-D860-3D2F1A1DE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825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Create Personas based on 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A00DB-009C-5A3C-D311-E708B9197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F9F2A5F-30D9-E53A-E5DA-30A1D80C1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725"/>
            <a:ext cx="10515600" cy="5219700"/>
          </a:xfrm>
        </p:spPr>
        <p:txBody>
          <a:bodyPr>
            <a:normAutofit/>
          </a:bodyPr>
          <a:lstStyle/>
          <a:p>
            <a:r>
              <a:rPr lang="en-US" dirty="0"/>
              <a:t>Example results</a:t>
            </a:r>
          </a:p>
          <a:p>
            <a:pPr lvl="1"/>
            <a:r>
              <a:rPr lang="en-US" dirty="0"/>
              <a:t>Gemini 3.1 Pro: https://share.gemini.google/7BmNDyZ9yUIn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60F14-9612-0FA2-0743-C6E0E758DAAF}"/>
              </a:ext>
            </a:extLst>
          </p:cNvPr>
          <p:cNvSpPr txBox="1"/>
          <p:nvPr/>
        </p:nvSpPr>
        <p:spPr>
          <a:xfrm>
            <a:off x="838199" y="2058661"/>
            <a:ext cx="6238875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Mateo, the Floor-First Manager</a:t>
            </a:r>
          </a:p>
          <a:p>
            <a:r>
              <a:rPr lang="en-US" sz="1100" dirty="0"/>
              <a:t>Mateo prioritizes the dine-in customer experience above all else. He views delivery orders as a necessary but disruptive revenue stream and resents when delivery logistics interfere with the dining room's ambiance. His primary focus is shielding his floor staff and seated guests from delivery-related chaos.</a:t>
            </a:r>
          </a:p>
          <a:p>
            <a:r>
              <a:rPr lang="en-US" sz="1100" b="1" dirty="0"/>
              <a:t>Goals</a:t>
            </a:r>
            <a:endParaRPr lang="en-US" sz="1100" dirty="0"/>
          </a:p>
          <a:p>
            <a:pPr lvl="0"/>
            <a:r>
              <a:rPr lang="en-US" sz="1100" dirty="0"/>
              <a:t>Maintain a seamless, premium, and uninterrupted dining experience for in-house guests. [I1, I4, O1]</a:t>
            </a:r>
          </a:p>
          <a:p>
            <a:pPr lvl="0"/>
            <a:r>
              <a:rPr lang="en-US" sz="1100" dirty="0"/>
              <a:t>Ensure kitchen pacing remains predictable and manageable for the back-of-house staff. [I2, I4, O2]</a:t>
            </a:r>
          </a:p>
          <a:p>
            <a:pPr lvl="0"/>
            <a:r>
              <a:rPr lang="en-US" sz="1100" dirty="0"/>
              <a:t>Protect the brand's reputation for quality, which he feels is often compromised by long delivery transit times. [I7, I8]</a:t>
            </a:r>
          </a:p>
          <a:p>
            <a:r>
              <a:rPr lang="en-US" sz="1100" b="1" dirty="0" err="1"/>
              <a:t>Behaviours</a:t>
            </a:r>
            <a:endParaRPr lang="en-US" sz="1100" dirty="0"/>
          </a:p>
          <a:p>
            <a:pPr lvl="0"/>
            <a:r>
              <a:rPr lang="en-US" sz="1100" dirty="0"/>
              <a:t>Routinely turns off the delivery tablet or artificially extends prep times during dinner rushes to throttle order volume. [I1, I4, O1]</a:t>
            </a:r>
          </a:p>
          <a:p>
            <a:pPr lvl="0"/>
            <a:r>
              <a:rPr lang="en-US" sz="1100" dirty="0"/>
              <a:t>Instructs front-of-house staff to prioritize walk-in customers and seated guests over waiting delivery riders. [I2, O1, O2]</a:t>
            </a:r>
          </a:p>
          <a:p>
            <a:pPr lvl="0"/>
            <a:r>
              <a:rPr lang="en-US" sz="1100" dirty="0"/>
              <a:t>Directs delivery riders to wait outside or in a hidden corner to keep them away from the main host stand. [I6, O1]</a:t>
            </a:r>
          </a:p>
          <a:p>
            <a:r>
              <a:rPr lang="en-US" sz="1100" b="1" dirty="0"/>
              <a:t>Pain points</a:t>
            </a:r>
            <a:endParaRPr lang="en-US" sz="1100" dirty="0"/>
          </a:p>
          <a:p>
            <a:pPr lvl="0"/>
            <a:r>
              <a:rPr lang="en-US" sz="1100" dirty="0"/>
              <a:t>Riders crowding the entrance and creating a chaotic, stressful atmosphere for arriving dine-in guests. [I2, I6, O1, O2]</a:t>
            </a:r>
          </a:p>
          <a:p>
            <a:pPr lvl="0"/>
            <a:r>
              <a:rPr lang="en-US" sz="1100" dirty="0"/>
              <a:t>Tablet alerts pinging loudly and distracting the front-of-house staff during service. [I4, O1]</a:t>
            </a:r>
          </a:p>
          <a:p>
            <a:pPr lvl="0"/>
            <a:r>
              <a:rPr lang="en-US" sz="1100" dirty="0"/>
              <a:t>Having to spend time investigating complaints for cold food when he knows the rider was late picking it up. [I7, I8]</a:t>
            </a:r>
          </a:p>
          <a:p>
            <a:r>
              <a:rPr lang="en-US" sz="1100" b="1" dirty="0"/>
              <a:t>Context</a:t>
            </a:r>
            <a:endParaRPr lang="en-US" sz="1100" dirty="0"/>
          </a:p>
          <a:p>
            <a:pPr lvl="0"/>
            <a:r>
              <a:rPr lang="en-US" sz="1100" dirty="0"/>
              <a:t>Works in a mid-tier to upscale sit-down restaurant with high daily foot traffic. [I1, I2, I4]</a:t>
            </a:r>
          </a:p>
          <a:p>
            <a:pPr lvl="0"/>
            <a:r>
              <a:rPr lang="en-US" sz="1100" dirty="0"/>
              <a:t>The restaurant's physical layout lacks a dedicated staging or waiting area for delivery orders. [O1, O2]</a:t>
            </a:r>
          </a:p>
          <a:p>
            <a:pPr lvl="0"/>
            <a:r>
              <a:rPr lang="en-US" sz="1100" dirty="0"/>
              <a:t>Evaluated by ownership primarily on dine-in sales and Yelp/Google reviews rather than delivery volume. [I8]</a:t>
            </a:r>
          </a:p>
        </p:txBody>
      </p:sp>
    </p:spTree>
    <p:extLst>
      <p:ext uri="{BB962C8B-B14F-4D97-AF65-F5344CB8AC3E}">
        <p14:creationId xmlns:p14="http://schemas.microsoft.com/office/powerpoint/2010/main" val="2995463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5425E-01B1-C91D-1209-FF500C3A1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19576-B523-41B7-52AA-CD718B01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Create a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446B3-24E7-5613-2D8F-9662CB0C4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190625"/>
            <a:ext cx="10515600" cy="5649121"/>
          </a:xfrm>
        </p:spPr>
        <p:txBody>
          <a:bodyPr>
            <a:normAutofit fontScale="85000" lnSpcReduction="20000"/>
          </a:bodyPr>
          <a:lstStyle/>
          <a:p>
            <a:r>
              <a:rPr lang="en-US" sz="2100" b="1" dirty="0"/>
              <a:t>Validating Requirements: Prototyping</a:t>
            </a:r>
            <a:endParaRPr lang="en-US" sz="2100" dirty="0"/>
          </a:p>
          <a:p>
            <a:pPr lvl="1"/>
            <a:r>
              <a:rPr lang="en-US" sz="1900" dirty="0"/>
              <a:t>Prototypes are low-fidelity representations of the system, such as wireframes, paper mockups, or a clickable UI mockup.</a:t>
            </a:r>
          </a:p>
          <a:p>
            <a:pPr lvl="1"/>
            <a:r>
              <a:rPr lang="en-US" sz="1900" dirty="0"/>
              <a:t>Showing stakeholders a prototype is often more effective than describing a system in words.</a:t>
            </a:r>
          </a:p>
          <a:p>
            <a:pPr lvl="1"/>
            <a:r>
              <a:rPr lang="en-US" sz="1900" dirty="0"/>
              <a:t>Prototypes make abstract requirements concrete and reveal misunderstandings that would otherwise persist until late in development.</a:t>
            </a:r>
          </a:p>
          <a:p>
            <a:r>
              <a:rPr lang="en-US" sz="2100" b="1" dirty="0"/>
              <a:t>Benefits of using an AI agent to prototype</a:t>
            </a:r>
            <a:endParaRPr lang="en-US" sz="2100" dirty="0"/>
          </a:p>
          <a:p>
            <a:pPr lvl="1"/>
            <a:r>
              <a:rPr lang="en-US" sz="1900" dirty="0"/>
              <a:t>Faster: a clickable mockup in minutes instead of days</a:t>
            </a:r>
          </a:p>
          <a:p>
            <a:pPr lvl="1"/>
            <a:r>
              <a:rPr lang="en-US" sz="1900" dirty="0"/>
              <a:t>Cheap variations: compare several layouts or flows side by side</a:t>
            </a:r>
          </a:p>
          <a:p>
            <a:pPr lvl="1"/>
            <a:r>
              <a:rPr lang="en-US" sz="1900" dirty="0"/>
              <a:t>Earlier feedback: stakeholders react to something real during discovery, not after design is locked in</a:t>
            </a:r>
          </a:p>
          <a:p>
            <a:r>
              <a:rPr lang="en-US" sz="2100" b="1" dirty="0"/>
              <a:t>How to Use an AI Agent Effectively</a:t>
            </a:r>
            <a:endParaRPr lang="en-US" sz="2100" dirty="0"/>
          </a:p>
          <a:p>
            <a:pPr lvl="1"/>
            <a:r>
              <a:rPr lang="en-US" sz="1900" b="1" dirty="0"/>
              <a:t>Give it context.</a:t>
            </a:r>
            <a:r>
              <a:rPr lang="en-US" sz="1900" dirty="0"/>
              <a:t> Share the persona, the requirements or user stories, and the device the user works on.</a:t>
            </a:r>
          </a:p>
          <a:p>
            <a:pPr lvl="1"/>
            <a:r>
              <a:rPr lang="en-US" sz="1900" b="1" dirty="0"/>
              <a:t>Specify the fidelity.</a:t>
            </a:r>
            <a:r>
              <a:rPr lang="en-US" sz="1900" dirty="0"/>
              <a:t> Ask for greyscale boxes, placeholder text, and no branding. Low fidelity keeps feedback on the flow, not on </a:t>
            </a:r>
            <a:r>
              <a:rPr lang="en-US" sz="1900" dirty="0" err="1"/>
              <a:t>colours</a:t>
            </a:r>
            <a:r>
              <a:rPr lang="en-US" sz="1900" dirty="0"/>
              <a:t> and fonts.</a:t>
            </a:r>
          </a:p>
          <a:p>
            <a:pPr lvl="1"/>
            <a:r>
              <a:rPr lang="en-US" sz="1900" b="1" dirty="0"/>
              <a:t>Scope it tightly.</a:t>
            </a:r>
            <a:r>
              <a:rPr lang="en-US" sz="1900" dirty="0"/>
              <a:t> Prototype one flow or task at a time, not the whole system.</a:t>
            </a:r>
          </a:p>
          <a:p>
            <a:pPr lvl="1"/>
            <a:r>
              <a:rPr lang="en-US" sz="1900" b="1" dirty="0"/>
              <a:t>Ask for variants.</a:t>
            </a:r>
            <a:r>
              <a:rPr lang="en-US" sz="1900" dirty="0"/>
              <a:t> Request 2 to 3 alternative layouts so stakeholders compare options instead of approving the first one.</a:t>
            </a:r>
          </a:p>
          <a:p>
            <a:pPr lvl="1"/>
            <a:r>
              <a:rPr lang="en-US" sz="1900" b="1" dirty="0"/>
              <a:t>Make assumptions visible.</a:t>
            </a:r>
            <a:r>
              <a:rPr lang="en-US" sz="1900" dirty="0"/>
              <a:t> Have it list every decision it made that the requirements didn’t specify. Each one is a question for stakeholders.</a:t>
            </a:r>
          </a:p>
          <a:p>
            <a:pPr lvl="1"/>
            <a:r>
              <a:rPr lang="en-US" sz="1900" b="1" dirty="0"/>
              <a:t>Iterate.</a:t>
            </a:r>
            <a:r>
              <a:rPr lang="en-US" sz="1900" dirty="0"/>
              <a:t> Follow up with “make the sold-out action one tap,” “show the tablet offline state,” or “remove the analytics panel.”</a:t>
            </a:r>
          </a:p>
          <a:p>
            <a:pPr lvl="1"/>
            <a:r>
              <a:rPr lang="en-US" sz="1900" b="1" dirty="0"/>
              <a:t>Review critically.</a:t>
            </a:r>
            <a:r>
              <a:rPr lang="en-US" sz="1900" dirty="0"/>
              <a:t> The AI fills gaps with plausible but invented </a:t>
            </a:r>
            <a:r>
              <a:rPr lang="en-US" sz="1900" dirty="0" err="1"/>
              <a:t>behaviour</a:t>
            </a:r>
            <a:r>
              <a:rPr lang="en-US" sz="1900" dirty="0"/>
              <a:t>. Treat the prototype as a conversation starter to throw away, not a design to build from.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4F691-FFEF-6131-B211-71195DA0A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689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AB9E2-14E5-8870-C256-986560B97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D22FF-B6EA-193B-BC6D-1686F2C3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Create a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B682E-FADD-8C91-8198-CCCF2792F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190625"/>
            <a:ext cx="10515600" cy="5649121"/>
          </a:xfrm>
        </p:spPr>
        <p:txBody>
          <a:bodyPr>
            <a:normAutofit/>
          </a:bodyPr>
          <a:lstStyle/>
          <a:p>
            <a:r>
              <a:rPr lang="en-US" sz="2100" b="1" dirty="0"/>
              <a:t>Example System: A Food Delivery System</a:t>
            </a:r>
          </a:p>
          <a:p>
            <a:pPr lvl="1"/>
            <a:r>
              <a:rPr lang="en-US" sz="1900" dirty="0"/>
              <a:t>Stakeholders: Customers order from local restaurants, restaurants manage orders on a tablet, and independent riders pick up and deliver.</a:t>
            </a:r>
          </a:p>
          <a:p>
            <a:r>
              <a:rPr lang="en-US" sz="2100" b="1" dirty="0"/>
              <a:t>Example Prompts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B433C-4596-F618-8058-9A319DF6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439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0195E-80DF-67C3-8CAD-CC43085E5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B6E20-76BE-AC6E-681A-F77F6C783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825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CB7A5-030C-434B-4239-D279BCF9C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181101"/>
            <a:ext cx="10515600" cy="5438774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Specifying Requirements: Functional Requirements</a:t>
            </a:r>
            <a:endParaRPr lang="en-US" dirty="0"/>
          </a:p>
          <a:p>
            <a:pPr lvl="1"/>
            <a:r>
              <a:rPr lang="en-US" dirty="0"/>
              <a:t>Functional requirements describe what the system must do: specific </a:t>
            </a:r>
            <a:r>
              <a:rPr lang="en-US" dirty="0" err="1"/>
              <a:t>behaviours</a:t>
            </a:r>
            <a:r>
              <a:rPr lang="en-US" dirty="0"/>
              <a:t>, functions, or features.</a:t>
            </a:r>
          </a:p>
          <a:p>
            <a:pPr lvl="1"/>
            <a:r>
              <a:rPr lang="en-US" dirty="0"/>
              <a:t>They define the interactions between the system and its environment.</a:t>
            </a:r>
          </a:p>
          <a:p>
            <a:pPr lvl="1"/>
            <a:r>
              <a:rPr lang="en-US" b="1" dirty="0"/>
              <a:t>Format:</a:t>
            </a:r>
            <a:r>
              <a:rPr lang="en-US" dirty="0"/>
              <a:t> The system shall [action] [object] [condition/qualifier].</a:t>
            </a:r>
          </a:p>
          <a:p>
            <a:pPr lvl="2"/>
            <a:r>
              <a:rPr lang="en-US" i="1" dirty="0"/>
              <a:t>Example (task management system):</a:t>
            </a:r>
            <a:r>
              <a:rPr lang="en-US" dirty="0"/>
              <a:t> The system shall send an email notification to an assignee within 5 minutes of being assigned a task.</a:t>
            </a:r>
          </a:p>
          <a:p>
            <a:r>
              <a:rPr lang="en-US" b="1" dirty="0"/>
              <a:t>Benefits of using an AI agent to write requirements</a:t>
            </a:r>
            <a:endParaRPr lang="en-US" dirty="0"/>
          </a:p>
          <a:p>
            <a:pPr lvl="1"/>
            <a:r>
              <a:rPr lang="en-US" dirty="0"/>
              <a:t>Faster drafting from interview notes, user stories, and prototype feedback</a:t>
            </a:r>
          </a:p>
          <a:p>
            <a:pPr lvl="1"/>
            <a:r>
              <a:rPr lang="en-US" dirty="0"/>
              <a:t>Consistent format: every requirement follows the same “shall” structure</a:t>
            </a:r>
          </a:p>
          <a:p>
            <a:pPr lvl="1"/>
            <a:r>
              <a:rPr lang="en-US" dirty="0"/>
              <a:t>Better coverage: surfaces missing </a:t>
            </a:r>
            <a:r>
              <a:rPr lang="en-US" dirty="0" err="1"/>
              <a:t>behaviours</a:t>
            </a:r>
            <a:r>
              <a:rPr lang="en-US" dirty="0"/>
              <a:t> such as error handling, permissions, and edge cases</a:t>
            </a:r>
          </a:p>
          <a:p>
            <a:r>
              <a:rPr lang="en-US" b="1" dirty="0"/>
              <a:t>How to Use an AI Agent Effectively</a:t>
            </a:r>
            <a:endParaRPr lang="en-US" dirty="0"/>
          </a:p>
          <a:p>
            <a:pPr lvl="1"/>
            <a:r>
              <a:rPr lang="en-US" b="1" dirty="0"/>
              <a:t>Give it the sources.</a:t>
            </a:r>
            <a:r>
              <a:rPr lang="en-US" dirty="0"/>
              <a:t> Paste user stories, interview findings, and prototype walkthrough notes, not just a feature list.</a:t>
            </a:r>
          </a:p>
          <a:p>
            <a:pPr lvl="1"/>
            <a:r>
              <a:rPr lang="en-US" b="1" dirty="0"/>
              <a:t>Specify the format.</a:t>
            </a:r>
            <a:r>
              <a:rPr lang="en-US" dirty="0"/>
              <a:t> Ask for “shall” statements, a unique ID, a named actor, and a link back to the source for each requirement.</a:t>
            </a:r>
          </a:p>
          <a:p>
            <a:pPr lvl="1"/>
            <a:r>
              <a:rPr lang="en-US" b="1" dirty="0"/>
              <a:t>Keep it to </a:t>
            </a:r>
            <a:r>
              <a:rPr lang="en-US" b="1" i="1" dirty="0"/>
              <a:t>what</a:t>
            </a:r>
            <a:r>
              <a:rPr lang="en-US" b="1" dirty="0"/>
              <a:t>, not </a:t>
            </a:r>
            <a:r>
              <a:rPr lang="en-US" b="1" i="1" dirty="0"/>
              <a:t>how</a:t>
            </a:r>
            <a:r>
              <a:rPr lang="en-US" b="1" dirty="0"/>
              <a:t>.</a:t>
            </a:r>
            <a:r>
              <a:rPr lang="en-US" dirty="0"/>
              <a:t> Tell it to leave out UI details and technology choices (“a red button,” “using </a:t>
            </a:r>
            <a:r>
              <a:rPr lang="en-US" dirty="0" err="1"/>
              <a:t>WebSockets</a:t>
            </a:r>
            <a:r>
              <a:rPr lang="en-US" dirty="0"/>
              <a:t>”).</a:t>
            </a:r>
          </a:p>
          <a:p>
            <a:pPr lvl="1"/>
            <a:r>
              <a:rPr lang="en-US" b="1" dirty="0"/>
              <a:t>Ask it to find gaps.</a:t>
            </a:r>
            <a:r>
              <a:rPr lang="en-US" dirty="0"/>
              <a:t> Have it flag vague wording, untestable statements, conflicts, and missing failure </a:t>
            </a:r>
            <a:r>
              <a:rPr lang="en-US" dirty="0" err="1"/>
              <a:t>behaviour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Iterate.</a:t>
            </a:r>
            <a:r>
              <a:rPr lang="en-US" dirty="0"/>
              <a:t> Follow up with “split FR-04 into two requirements,” “add a condition to FR-07,” or “group these by user role.”</a:t>
            </a:r>
          </a:p>
          <a:p>
            <a:pPr lvl="1"/>
            <a:r>
              <a:rPr lang="en-US" b="1" dirty="0"/>
              <a:t>Review critically.</a:t>
            </a:r>
            <a:r>
              <a:rPr lang="en-US" dirty="0"/>
              <a:t> The AI will invent precise-looking values such as “within 5 minutes.” Every number and rule must come from a stakeholder, not the model.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541E6-69C2-06FF-66C0-944BFAD8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04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7B244-7660-E212-7950-B7C209BAE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1C1E1-4AF6-2326-BC11-B0617DA41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825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4717E-4618-4A4C-2924-F96C22C46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181101"/>
            <a:ext cx="10515600" cy="1685924"/>
          </a:xfrm>
        </p:spPr>
        <p:txBody>
          <a:bodyPr>
            <a:normAutofit/>
          </a:bodyPr>
          <a:lstStyle/>
          <a:p>
            <a:r>
              <a:rPr lang="en-US" sz="2100" b="1" dirty="0"/>
              <a:t>Example System: A Food Delivery System</a:t>
            </a:r>
          </a:p>
          <a:p>
            <a:pPr lvl="1"/>
            <a:r>
              <a:rPr lang="en-US" sz="1900" dirty="0"/>
              <a:t>Stakeholders: Customers order from local restaurants, restaurants manage orders on a tablet, and independent riders pick up and deliver.</a:t>
            </a:r>
          </a:p>
          <a:p>
            <a:r>
              <a:rPr lang="en-US" sz="2100" b="1" dirty="0"/>
              <a:t>Example Prompts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4C735-E13A-0E24-8237-FA91C2DD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120655-F9A6-3D49-07BD-E1ECF9745391}"/>
              </a:ext>
            </a:extLst>
          </p:cNvPr>
          <p:cNvSpPr txBox="1"/>
          <p:nvPr/>
        </p:nvSpPr>
        <p:spPr>
          <a:xfrm>
            <a:off x="285751" y="2531637"/>
            <a:ext cx="52387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Context:</a:t>
            </a:r>
          </a:p>
          <a:p>
            <a:r>
              <a:rPr lang="en-US" sz="1000" dirty="0"/>
              <a:t>I'm a business analyst specifying requirements for a new food delivery system.</a:t>
            </a:r>
          </a:p>
          <a:p>
            <a:r>
              <a:rPr lang="en-US" sz="1000" dirty="0"/>
              <a:t>- System: Customers order from local restaurants through a mobile app. Restaurants</a:t>
            </a:r>
          </a:p>
          <a:p>
            <a:r>
              <a:rPr lang="en-US" sz="1000" dirty="0"/>
              <a:t>  receive and manage orders on a tablet. Independent riders pick up and deliver.</a:t>
            </a:r>
          </a:p>
          <a:p>
            <a:r>
              <a:rPr lang="en-US" sz="1000" dirty="0"/>
              <a:t>- Scope: The restaurant tablet only.</a:t>
            </a:r>
          </a:p>
          <a:p>
            <a:r>
              <a:rPr lang="en-US" sz="1000" dirty="0"/>
              <a:t>- Sources (pasted below): user stories for Sam, the Short-Staffed Night Manager,</a:t>
            </a:r>
          </a:p>
          <a:p>
            <a:r>
              <a:rPr lang="en-US" sz="1000" dirty="0"/>
              <a:t>  and notes from prototype walkthroughs with 4 restaurant managers (W1–W4).</a:t>
            </a:r>
          </a:p>
          <a:p>
            <a:r>
              <a:rPr lang="en-US" sz="1000" dirty="0"/>
              <a:t>- Project stage: Requirements specification, after prototype validation.</a:t>
            </a:r>
          </a:p>
          <a:p>
            <a:endParaRPr lang="en-US" sz="1000" dirty="0"/>
          </a:p>
          <a:p>
            <a:r>
              <a:rPr lang="en-US" sz="1000" dirty="0"/>
              <a:t>Task:</a:t>
            </a:r>
          </a:p>
          <a:p>
            <a:r>
              <a:rPr lang="en-US" sz="1000" dirty="0"/>
              <a:t>Write the functional requirements for the restaurant tablet.</a:t>
            </a:r>
          </a:p>
          <a:p>
            <a:endParaRPr lang="en-US" sz="1000" dirty="0"/>
          </a:p>
          <a:p>
            <a:r>
              <a:rPr lang="en-US" sz="1000" dirty="0"/>
              <a:t>Output format:</a:t>
            </a:r>
          </a:p>
          <a:p>
            <a:r>
              <a:rPr lang="en-US" sz="1000" dirty="0"/>
              <a:t>- Group them under: Order intake, Menu availability, Kitchen progress,</a:t>
            </a:r>
          </a:p>
          <a:p>
            <a:r>
              <a:rPr lang="en-US" sz="1000" dirty="0"/>
              <a:t>  Rider handover, Issue handling</a:t>
            </a:r>
          </a:p>
          <a:p>
            <a:r>
              <a:rPr lang="en-US" sz="1000" dirty="0"/>
              <a:t>- Format it as a table with these columns:</a:t>
            </a:r>
          </a:p>
          <a:p>
            <a:r>
              <a:rPr lang="en-US" sz="1000" dirty="0"/>
              <a:t>  ID | Requirement | Actor | Source</a:t>
            </a:r>
          </a:p>
          <a:p>
            <a:r>
              <a:rPr lang="en-US" sz="1000" dirty="0"/>
              <a:t>- Write each requirement as "The system shall [action] [object]</a:t>
            </a:r>
          </a:p>
          <a:p>
            <a:r>
              <a:rPr lang="en-US" sz="1000" dirty="0"/>
              <a:t>  [condition/qualifier]"</a:t>
            </a:r>
          </a:p>
          <a:p>
            <a:r>
              <a:rPr lang="en-US" sz="1000" dirty="0"/>
              <a:t>- One </a:t>
            </a:r>
            <a:r>
              <a:rPr lang="en-US" sz="1000" dirty="0" err="1"/>
              <a:t>behaviour</a:t>
            </a:r>
            <a:r>
              <a:rPr lang="en-US" sz="1000" dirty="0"/>
              <a:t> per requirement (no "and" joining two features)</a:t>
            </a:r>
          </a:p>
          <a:p>
            <a:r>
              <a:rPr lang="en-US" sz="1000" dirty="0"/>
              <a:t>- Describe what the system does, not the UI or technology</a:t>
            </a:r>
          </a:p>
          <a:p>
            <a:r>
              <a:rPr lang="en-US" sz="1000" dirty="0"/>
              <a:t>- If a value or rule isn't in the sources, write [TBC] instead of inventing one</a:t>
            </a:r>
          </a:p>
          <a:p>
            <a:endParaRPr lang="en-US" sz="1000" dirty="0"/>
          </a:p>
          <a:p>
            <a:r>
              <a:rPr lang="en-US" sz="1000" dirty="0"/>
              <a:t>[Paste user stories and walkthrough notes here]</a:t>
            </a:r>
          </a:p>
        </p:txBody>
      </p:sp>
    </p:spTree>
    <p:extLst>
      <p:ext uri="{BB962C8B-B14F-4D97-AF65-F5344CB8AC3E}">
        <p14:creationId xmlns:p14="http://schemas.microsoft.com/office/powerpoint/2010/main" val="254668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97AEF-37EC-AF93-5E64-B8AD569A5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9F5C8-D6E9-2BCA-B45C-DE1C75755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825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7FC39-97C6-CE1E-2F0E-266153A9B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181101"/>
            <a:ext cx="10515600" cy="1685924"/>
          </a:xfrm>
        </p:spPr>
        <p:txBody>
          <a:bodyPr>
            <a:normAutofit/>
          </a:bodyPr>
          <a:lstStyle/>
          <a:p>
            <a:r>
              <a:rPr lang="en-US" dirty="0"/>
              <a:t>Example results</a:t>
            </a:r>
          </a:p>
          <a:p>
            <a:pPr lvl="1"/>
            <a:r>
              <a:rPr lang="en-US" dirty="0"/>
              <a:t>Gemini 3.1 Pro: https://share.gemini.google/7BmNDyZ9yUIn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97BA6-B433-82F4-9022-E9C1E5FCB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B5A9F3-7CFF-8AF2-5603-88A543B2AB1C}"/>
              </a:ext>
            </a:extLst>
          </p:cNvPr>
          <p:cNvSpPr txBox="1"/>
          <p:nvPr/>
        </p:nvSpPr>
        <p:spPr>
          <a:xfrm>
            <a:off x="285751" y="2531637"/>
            <a:ext cx="5238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Context:</a:t>
            </a:r>
          </a:p>
          <a:p>
            <a:r>
              <a:rPr lang="en-US" sz="1000" dirty="0"/>
              <a:t>I'm a business analyst specifying requirements for a new food delivery system.</a:t>
            </a:r>
          </a:p>
        </p:txBody>
      </p:sp>
    </p:spTree>
    <p:extLst>
      <p:ext uri="{BB962C8B-B14F-4D97-AF65-F5344CB8AC3E}">
        <p14:creationId xmlns:p14="http://schemas.microsoft.com/office/powerpoint/2010/main" val="1139090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E552A-3966-732D-0B0D-A705448D1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6A00-31B9-CABB-A517-EEAD1AD0D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825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Non 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80129-FED7-86D2-D461-0B229B378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162050"/>
            <a:ext cx="10515600" cy="569595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Specifying Requirements: Non-Functional Requirements</a:t>
            </a:r>
            <a:endParaRPr lang="en-US" dirty="0"/>
          </a:p>
          <a:p>
            <a:pPr lvl="1"/>
            <a:r>
              <a:rPr lang="en-US" dirty="0"/>
              <a:t>Non-functional requirements (NFRs) describe how the system must behave. They are quality attributes that constrain the system’s operation.</a:t>
            </a:r>
          </a:p>
          <a:p>
            <a:pPr lvl="1"/>
            <a:r>
              <a:rPr lang="en-US" dirty="0"/>
              <a:t>NFRs are consistently under-specified and disproportionately responsible for system failures. Those failures often stay invisible until they appear as outages, breaches, or regulatory penalties.</a:t>
            </a:r>
          </a:p>
          <a:p>
            <a:pPr lvl="1"/>
            <a:r>
              <a:rPr lang="en-US" b="1" dirty="0"/>
              <a:t>NFRs must be measurable:</a:t>
            </a:r>
            <a:endParaRPr lang="en-US" dirty="0"/>
          </a:p>
          <a:p>
            <a:r>
              <a:rPr lang="en-US" b="1" dirty="0"/>
              <a:t>Benefits of using an AI agent to write NFRs</a:t>
            </a:r>
            <a:endParaRPr lang="en-US" dirty="0"/>
          </a:p>
          <a:p>
            <a:pPr lvl="1"/>
            <a:r>
              <a:rPr lang="en-US" dirty="0"/>
              <a:t>Better coverage: works through every quality category so none get forgotten</a:t>
            </a:r>
          </a:p>
          <a:p>
            <a:pPr lvl="1"/>
            <a:r>
              <a:rPr lang="en-US" dirty="0"/>
              <a:t>Turns vague wishes into measurable statements with a metric, threshold, and conditions</a:t>
            </a:r>
          </a:p>
          <a:p>
            <a:pPr lvl="1"/>
            <a:r>
              <a:rPr lang="en-US" dirty="0"/>
              <a:t>Surfaces trade-offs between qualities, such as security versus usability or cost versus uptime</a:t>
            </a:r>
          </a:p>
          <a:p>
            <a:r>
              <a:rPr lang="en-US" b="1" dirty="0"/>
              <a:t>How to Use an AI Agent Effectively</a:t>
            </a:r>
            <a:endParaRPr lang="en-US" dirty="0"/>
          </a:p>
          <a:p>
            <a:pPr lvl="1"/>
            <a:r>
              <a:rPr lang="en-US" b="1" dirty="0"/>
              <a:t>Give it context.</a:t>
            </a:r>
            <a:r>
              <a:rPr lang="en-US" dirty="0"/>
              <a:t> State expected load, peak times, user environment, devices, connectivity, and the regulations that apply.</a:t>
            </a:r>
          </a:p>
          <a:p>
            <a:pPr lvl="1"/>
            <a:r>
              <a:rPr lang="en-US" b="1" dirty="0"/>
              <a:t>Specify the format.</a:t>
            </a:r>
            <a:r>
              <a:rPr lang="en-US" dirty="0"/>
              <a:t> Ask for a category, a measurable requirement, the conditions it holds under, and how it will be tested.</a:t>
            </a:r>
          </a:p>
          <a:p>
            <a:pPr lvl="1"/>
            <a:r>
              <a:rPr lang="en-US" b="1" dirty="0"/>
              <a:t>Ask it to find gaps.</a:t>
            </a:r>
            <a:r>
              <a:rPr lang="en-US" dirty="0"/>
              <a:t> Have it flag vague wording, missing categories, conflicts between NFRs, and requirements with no way to measure them.</a:t>
            </a:r>
          </a:p>
          <a:p>
            <a:pPr lvl="1"/>
            <a:r>
              <a:rPr lang="en-US" b="1" dirty="0"/>
              <a:t>Iterate.</a:t>
            </a:r>
            <a:r>
              <a:rPr lang="en-US" dirty="0"/>
              <a:t> Follow up with “make NFR-03 measurable,” “add the conditions for peak load,” or “what does 99.9% uptime cost compared to 99%?”</a:t>
            </a:r>
          </a:p>
          <a:p>
            <a:pPr lvl="1"/>
            <a:r>
              <a:rPr lang="en-US" b="1" dirty="0"/>
              <a:t>Review critically.</a:t>
            </a:r>
            <a:r>
              <a:rPr lang="en-US" dirty="0"/>
              <a:t> The AI will produce confident numbers like “99.9%” or “200ms” that aren’t based on your system. Targets must be agreed with stakeholders, and compliance requirements need legal review.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B6CA8-B73E-6144-694E-36C24C76A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320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33978-7FAF-947A-2785-AF17117CB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40BCF-5DF0-1D63-5544-F41983CE5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825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Non 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0FC29-5A90-C562-E531-6EFAF31DC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162050"/>
            <a:ext cx="10515600" cy="1704975"/>
          </a:xfrm>
        </p:spPr>
        <p:txBody>
          <a:bodyPr>
            <a:normAutofit/>
          </a:bodyPr>
          <a:lstStyle/>
          <a:p>
            <a:r>
              <a:rPr lang="en-US" sz="2100" b="1" dirty="0"/>
              <a:t>Example System: A Food Delivery System</a:t>
            </a:r>
          </a:p>
          <a:p>
            <a:pPr lvl="1"/>
            <a:r>
              <a:rPr lang="en-US" sz="1900" dirty="0"/>
              <a:t>Stakeholders: Customers order from local restaurants, restaurants manage orders on a tablet, and independent riders pick up and deliver.</a:t>
            </a:r>
          </a:p>
          <a:p>
            <a:r>
              <a:rPr lang="en-US" sz="2100" b="1" dirty="0"/>
              <a:t>Example Prompts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66BA3-CE8B-2973-8DA9-37C9726E9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B4D3F8-CF49-8831-31B2-5F889B742EDE}"/>
              </a:ext>
            </a:extLst>
          </p:cNvPr>
          <p:cNvSpPr txBox="1"/>
          <p:nvPr/>
        </p:nvSpPr>
        <p:spPr>
          <a:xfrm>
            <a:off x="276226" y="2474159"/>
            <a:ext cx="52387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Context:</a:t>
            </a:r>
          </a:p>
          <a:p>
            <a:r>
              <a:rPr lang="en-US" sz="1000" dirty="0"/>
              <a:t>I'm a business analyst specifying requirements for a new food delivery system.</a:t>
            </a:r>
          </a:p>
          <a:p>
            <a:r>
              <a:rPr lang="en-US" sz="1000" dirty="0"/>
              <a:t>- System: Customers order from local restaurants through a mobile app. Restaurants</a:t>
            </a:r>
          </a:p>
          <a:p>
            <a:r>
              <a:rPr lang="en-US" sz="1000" dirty="0"/>
              <a:t>  receive and manage orders on a tablet. Independent riders pick up and deliver.</a:t>
            </a:r>
          </a:p>
          <a:p>
            <a:r>
              <a:rPr lang="en-US" sz="1000" dirty="0"/>
              <a:t>- Scope: The restaurant tablet and the order service behind it.</a:t>
            </a:r>
          </a:p>
          <a:p>
            <a:r>
              <a:rPr lang="en-US" sz="1000" dirty="0"/>
              <a:t>- Known constraints from stakeholders:</a:t>
            </a:r>
          </a:p>
          <a:p>
            <a:r>
              <a:rPr lang="en-US" sz="1000" dirty="0"/>
              <a:t>  - Peak load is dinner service, 6–9pm, when most orders arrive</a:t>
            </a:r>
          </a:p>
          <a:p>
            <a:r>
              <a:rPr lang="en-US" sz="1000" dirty="0"/>
              <a:t>  - Restaurants use shared Wi-Fi that sometimes drops out</a:t>
            </a:r>
          </a:p>
          <a:p>
            <a:r>
              <a:rPr lang="en-US" sz="1000" dirty="0"/>
              <a:t>  - Managers glance at the tablet while standing at a busy counter</a:t>
            </a:r>
          </a:p>
          <a:p>
            <a:r>
              <a:rPr lang="en-US" sz="1000" dirty="0"/>
              <a:t>  - Customers are in the EU, so GDPR applies to their personal data</a:t>
            </a:r>
          </a:p>
          <a:p>
            <a:r>
              <a:rPr lang="en-US" sz="1000" dirty="0"/>
              <a:t>  - Payment card data is handled by a third-party provider</a:t>
            </a:r>
          </a:p>
          <a:p>
            <a:r>
              <a:rPr lang="en-US" sz="1000" dirty="0"/>
              <a:t>- Functional requirements: pasted below (FR-01 to FR-24).</a:t>
            </a:r>
          </a:p>
          <a:p>
            <a:r>
              <a:rPr lang="en-US" sz="1000" dirty="0"/>
              <a:t>- Project stage: Requirements specification.</a:t>
            </a:r>
          </a:p>
          <a:p>
            <a:endParaRPr lang="en-US" sz="1000" dirty="0"/>
          </a:p>
          <a:p>
            <a:r>
              <a:rPr lang="en-US" sz="1000" dirty="0"/>
              <a:t>Task:</a:t>
            </a:r>
          </a:p>
          <a:p>
            <a:r>
              <a:rPr lang="en-US" sz="1000" dirty="0"/>
              <a:t>Write the non-functional requirements for this scope.</a:t>
            </a:r>
          </a:p>
          <a:p>
            <a:endParaRPr lang="en-US" sz="1000" dirty="0"/>
          </a:p>
          <a:p>
            <a:r>
              <a:rPr lang="en-US" sz="1000" dirty="0"/>
              <a:t>Output format:</a:t>
            </a:r>
          </a:p>
          <a:p>
            <a:r>
              <a:rPr lang="en-US" sz="1000" dirty="0"/>
              <a:t>- Cover these categories: Performance, Reliability, Security, Scalability,</a:t>
            </a:r>
          </a:p>
          <a:p>
            <a:r>
              <a:rPr lang="en-US" sz="1000" dirty="0"/>
              <a:t>  Usability, Maintainability, Portability, Compliance</a:t>
            </a:r>
          </a:p>
          <a:p>
            <a:r>
              <a:rPr lang="en-US" sz="1000" dirty="0"/>
              <a:t>- Format it as a table with these columns:</a:t>
            </a:r>
          </a:p>
          <a:p>
            <a:r>
              <a:rPr lang="en-US" sz="1000" dirty="0"/>
              <a:t>  ID | Category | Requirement | Conditions | How to test it | Related FRs</a:t>
            </a:r>
          </a:p>
          <a:p>
            <a:r>
              <a:rPr lang="en-US" sz="1000" dirty="0"/>
              <a:t>- Every requirement must include a metric and a threshold</a:t>
            </a:r>
          </a:p>
          <a:p>
            <a:r>
              <a:rPr lang="en-US" sz="1000" dirty="0"/>
              <a:t>- If a threshold isn't in the constraints, write [TBC] and suggest a question</a:t>
            </a:r>
          </a:p>
          <a:p>
            <a:r>
              <a:rPr lang="en-US" sz="1000" dirty="0"/>
              <a:t>  to ask stakeholders instead of inventing a number</a:t>
            </a:r>
          </a:p>
          <a:p>
            <a:endParaRPr lang="en-US" sz="1000" dirty="0"/>
          </a:p>
          <a:p>
            <a:r>
              <a:rPr lang="en-US" sz="1000" dirty="0"/>
              <a:t>[Paste functional requirements here]</a:t>
            </a:r>
          </a:p>
        </p:txBody>
      </p:sp>
    </p:spTree>
    <p:extLst>
      <p:ext uri="{BB962C8B-B14F-4D97-AF65-F5344CB8AC3E}">
        <p14:creationId xmlns:p14="http://schemas.microsoft.com/office/powerpoint/2010/main" val="2698328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9B116-91BC-FFE2-806B-689DD3D81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BF84D-4455-8CD7-40F2-6D8A317FA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825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Non 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B8A93-644A-8D18-393A-2ABE293B7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162050"/>
            <a:ext cx="10515600" cy="1704975"/>
          </a:xfrm>
        </p:spPr>
        <p:txBody>
          <a:bodyPr>
            <a:normAutofit/>
          </a:bodyPr>
          <a:lstStyle/>
          <a:p>
            <a:r>
              <a:rPr lang="en-US" dirty="0"/>
              <a:t>Example results</a:t>
            </a:r>
          </a:p>
          <a:p>
            <a:pPr lvl="1"/>
            <a:r>
              <a:rPr lang="en-US" dirty="0"/>
              <a:t>Gemini 3.1 Pro: https://share.gemini.google/7BmNDyZ9yUIn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94052-9FEB-97DD-7D02-47B9A09F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061F5-0DC6-DF4C-D2B6-B1D039A14EAD}"/>
              </a:ext>
            </a:extLst>
          </p:cNvPr>
          <p:cNvSpPr txBox="1"/>
          <p:nvPr/>
        </p:nvSpPr>
        <p:spPr>
          <a:xfrm>
            <a:off x="276226" y="2474159"/>
            <a:ext cx="52387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Context:</a:t>
            </a:r>
          </a:p>
          <a:p>
            <a:r>
              <a:rPr lang="en-US" sz="1000" dirty="0"/>
              <a:t>I'm a business analyst specifying requirements for a new food delivery system.</a:t>
            </a:r>
          </a:p>
          <a:p>
            <a:r>
              <a:rPr lang="en-US" sz="1000" dirty="0"/>
              <a:t>- System: Customers order from local restaurants through a mobile app. Restaurants</a:t>
            </a:r>
          </a:p>
        </p:txBody>
      </p:sp>
    </p:spTree>
    <p:extLst>
      <p:ext uri="{BB962C8B-B14F-4D97-AF65-F5344CB8AC3E}">
        <p14:creationId xmlns:p14="http://schemas.microsoft.com/office/powerpoint/2010/main" val="3029651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206D9-466A-C6BA-ED51-1D849ADC4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4A778-DD2A-CE5B-1B7B-1484ADB67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825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Compilation of epic, feature, user story and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8338F-FBD1-1E2D-C4B8-84076AD04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158875"/>
            <a:ext cx="10515600" cy="5441949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err="1"/>
              <a:t>Organising</a:t>
            </a:r>
            <a:r>
              <a:rPr lang="en-US" b="1" dirty="0"/>
              <a:t> Requirements: Epics, User Stories, and Work Items</a:t>
            </a:r>
            <a:endParaRPr lang="en-US" dirty="0"/>
          </a:p>
          <a:p>
            <a:pPr lvl="1"/>
            <a:r>
              <a:rPr lang="en-US" dirty="0"/>
              <a:t>In Agile teams, requirements are captured as a hierarchy of work items:</a:t>
            </a:r>
          </a:p>
          <a:p>
            <a:pPr lvl="1"/>
            <a:r>
              <a:rPr lang="en-US" b="1" dirty="0"/>
              <a:t>Epic:</a:t>
            </a:r>
            <a:r>
              <a:rPr lang="en-US" dirty="0"/>
              <a:t> a large body of work, too big for a single sprint (e.g., Notifications and Alerts)</a:t>
            </a:r>
          </a:p>
          <a:p>
            <a:pPr lvl="1"/>
            <a:r>
              <a:rPr lang="en-US" b="1" dirty="0"/>
              <a:t>User story:</a:t>
            </a:r>
            <a:r>
              <a:rPr lang="en-US" dirty="0"/>
              <a:t> a small, independently deliverable increment of value. </a:t>
            </a:r>
            <a:r>
              <a:rPr lang="en-US" i="1" dirty="0"/>
              <a:t>As a [user], I want [goal] so that [benefit].</a:t>
            </a:r>
            <a:endParaRPr lang="en-US" dirty="0"/>
          </a:p>
          <a:p>
            <a:pPr lvl="1"/>
            <a:r>
              <a:rPr lang="en-US" b="1" dirty="0"/>
              <a:t>Task:</a:t>
            </a:r>
            <a:r>
              <a:rPr lang="en-US" dirty="0"/>
              <a:t> a technical sub-step that implements a story and isn’t visible to users (e.g., write integration tests for the assignment endpoint)</a:t>
            </a:r>
          </a:p>
          <a:p>
            <a:pPr lvl="1"/>
            <a:r>
              <a:rPr lang="en-US" b="1" dirty="0"/>
              <a:t>Story points:</a:t>
            </a:r>
            <a:r>
              <a:rPr lang="en-US" dirty="0"/>
              <a:t> relative effort on a modified Fibonacci scale (1, 2, 3, 5, 8, 13, 21), estimated by the team with Planning Poker. Points completed per sprint give the team’s velocity.</a:t>
            </a:r>
          </a:p>
          <a:p>
            <a:r>
              <a:rPr lang="en-US" b="1" dirty="0"/>
              <a:t>Benefits of using an AI agent to build the backlog</a:t>
            </a:r>
            <a:endParaRPr lang="en-US" dirty="0"/>
          </a:p>
          <a:p>
            <a:pPr lvl="1"/>
            <a:r>
              <a:rPr lang="en-US" dirty="0"/>
              <a:t>Faster decomposition of requirements into epics, features, and stories</a:t>
            </a:r>
          </a:p>
          <a:p>
            <a:pPr lvl="1"/>
            <a:r>
              <a:rPr lang="en-US" dirty="0"/>
              <a:t>Consistent story format with acceptance criteria and links back to requirements</a:t>
            </a:r>
          </a:p>
          <a:p>
            <a:pPr lvl="1"/>
            <a:r>
              <a:rPr lang="en-US" dirty="0"/>
              <a:t>Better coverage: spots requirements no story covers and stories too big for one sprint</a:t>
            </a:r>
          </a:p>
          <a:p>
            <a:r>
              <a:rPr lang="en-US" b="1" dirty="0"/>
              <a:t>How to Use an AI Agent Effectively</a:t>
            </a:r>
            <a:endParaRPr lang="en-US" dirty="0"/>
          </a:p>
          <a:p>
            <a:pPr lvl="1"/>
            <a:r>
              <a:rPr lang="en-US" b="1" dirty="0"/>
              <a:t>Give it the sources.</a:t>
            </a:r>
            <a:r>
              <a:rPr lang="en-US" dirty="0"/>
              <a:t> Paste the personas, functional requirements, and NFRs, plus the team’s tech stack when breaking stories into tasks.</a:t>
            </a:r>
          </a:p>
          <a:p>
            <a:pPr lvl="1"/>
            <a:r>
              <a:rPr lang="en-US" b="1" dirty="0"/>
              <a:t>Specify the format.</a:t>
            </a:r>
            <a:r>
              <a:rPr lang="en-US" dirty="0"/>
              <a:t> Ask for the full hierarchy, IDs, the “As a… I want… so that…” form, acceptance criteria, and the requirement IDs each story covers.</a:t>
            </a:r>
          </a:p>
          <a:p>
            <a:pPr lvl="1"/>
            <a:r>
              <a:rPr lang="en-US" b="1" dirty="0"/>
              <a:t>Ask for vertical slices.</a:t>
            </a:r>
            <a:r>
              <a:rPr lang="en-US" dirty="0"/>
              <a:t> Each story should deliver something a user can see end to end, not “build the database layer.”</a:t>
            </a:r>
          </a:p>
          <a:p>
            <a:pPr lvl="1"/>
            <a:r>
              <a:rPr lang="en-US" b="1" dirty="0"/>
              <a:t>Ask it to find gaps.</a:t>
            </a:r>
            <a:r>
              <a:rPr lang="en-US" dirty="0"/>
              <a:t> Have it list uncovered requirements, oversized stories, and missing NFR work such as testing, monitoring, and security.</a:t>
            </a:r>
          </a:p>
          <a:p>
            <a:pPr lvl="1"/>
            <a:r>
              <a:rPr lang="en-US" b="1" dirty="0"/>
              <a:t>Iterate.</a:t>
            </a:r>
            <a:r>
              <a:rPr lang="en-US" dirty="0"/>
              <a:t> Follow up with “split US-07 into smaller stories,” “write US-03 from Sam’s perspective,” or “move offline handling into its own epic.”</a:t>
            </a:r>
          </a:p>
          <a:p>
            <a:pPr lvl="1"/>
            <a:r>
              <a:rPr lang="en-US" b="1" dirty="0"/>
              <a:t>Review critically.</a:t>
            </a:r>
            <a:r>
              <a:rPr lang="en-US" dirty="0"/>
              <a:t> The AI doesn’t know your team, codebase, or velocity. Use it to prepare for estimation, but let the team set story points.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75C52-0A7F-69E6-769A-3A625F3B6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292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011F1-2318-6309-D747-02FD3E535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52FF1-15C2-6842-83C8-A2AFBAFDF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deal with memory window if prompt too big (with interviews, observations notes, functional and non functional requirements, </a:t>
            </a:r>
            <a:r>
              <a:rPr lang="en-US" dirty="0" err="1"/>
              <a:t>etc</a:t>
            </a:r>
            <a:r>
              <a:rPr lang="en-US" dirty="0"/>
              <a:t>)?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427C0-358E-71E0-35C5-5343B109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2553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FgmIN8Y7RrBznfXjvB9pw"/>
</p:tagLst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nUni_Presentation Template_Lanscape.pptx" id="{E1F4CCD0-938C-42AC-B7A5-662DF48ED140}" vid="{0F33D316-B7EA-414D-A0D5-064D0F69E1A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4044</Words>
  <Application>Microsoft Office PowerPoint</Application>
  <PresentationFormat>Widescreen</PresentationFormat>
  <Paragraphs>336</Paragraphs>
  <Slides>19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</vt:lpstr>
      <vt:lpstr>Calibri</vt:lpstr>
      <vt:lpstr>Calibri Light</vt:lpstr>
      <vt:lpstr>1_Office Theme</vt:lpstr>
      <vt:lpstr>7_Office Theme</vt:lpstr>
      <vt:lpstr>think-cell Slide</vt:lpstr>
      <vt:lpstr>PowerPoint Presentation</vt:lpstr>
      <vt:lpstr>Tutorial</vt:lpstr>
      <vt:lpstr>Core Idea</vt:lpstr>
      <vt:lpstr>Use AI to create Eliciting Requirements Interview</vt:lpstr>
      <vt:lpstr>Use AI to create Eliciting Requirements Interview</vt:lpstr>
      <vt:lpstr>Use AI to create Eliciting Requirements Interview</vt:lpstr>
      <vt:lpstr>Create Personas based on questions</vt:lpstr>
      <vt:lpstr>Create Personas based on questions</vt:lpstr>
      <vt:lpstr>Create Personas based on questions</vt:lpstr>
      <vt:lpstr>Create a prototype</vt:lpstr>
      <vt:lpstr>Create a prototype</vt:lpstr>
      <vt:lpstr>Functional requirements</vt:lpstr>
      <vt:lpstr>Functional requirements</vt:lpstr>
      <vt:lpstr>Functional requirements</vt:lpstr>
      <vt:lpstr>Non functional requirements</vt:lpstr>
      <vt:lpstr>Non functional requirements</vt:lpstr>
      <vt:lpstr>Non functional requirements</vt:lpstr>
      <vt:lpstr>Compilation of epic, feature, user story and tasks</vt:lpstr>
      <vt:lpstr>Potential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Lê Duy Dũng</dc:creator>
  <cp:lastModifiedBy>Hoàng Đỗ Hữu Huy</cp:lastModifiedBy>
  <cp:revision>7</cp:revision>
  <dcterms:created xsi:type="dcterms:W3CDTF">2026-07-23T07:23:44Z</dcterms:created>
  <dcterms:modified xsi:type="dcterms:W3CDTF">2026-10-24T13:48:31Z</dcterms:modified>
</cp:coreProperties>
</file>